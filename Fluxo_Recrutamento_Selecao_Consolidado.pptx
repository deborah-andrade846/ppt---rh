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0" y="-1371600"/>
            <a:ext cx="2743200" cy="2743200"/>
          </a:xfrm>
          <a:prstGeom prst="ellipse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5394959"/>
            <a:ext cx="2194560" cy="2194560"/>
          </a:xfrm>
          <a:prstGeom prst="ellipse">
            <a:avLst/>
          </a:prstGeom>
          <a:solidFill>
            <a:srgbClr val="2E6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5B301"/>
                </a:solidFill>
                <a:latin typeface="Calibri"/>
              </a:rPr>
              <a:t>RECURSOS HUMANOS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280160" y="2240280"/>
            <a:ext cx="1005840" cy="100584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2240280"/>
            <a:ext cx="1005840" cy="100584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37360" y="2240280"/>
            <a:ext cx="548640" cy="201168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2240280"/>
            <a:ext cx="548640" cy="201168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3246120"/>
            <a:ext cx="2011680" cy="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80160" y="3246120"/>
            <a:ext cx="457200" cy="100584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80160" y="3246120"/>
            <a:ext cx="1554480" cy="100584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37360" y="3246120"/>
            <a:ext cx="1554480" cy="100584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246120"/>
            <a:ext cx="457200" cy="100584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37360" y="4251960"/>
            <a:ext cx="1097280" cy="0"/>
          </a:xfrm>
          <a:prstGeom prst="line">
            <a:avLst/>
          </a:prstGeom>
          <a:ln w="13970">
            <a:solidFill>
              <a:srgbClr val="3E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130552" y="2084832"/>
            <a:ext cx="310896" cy="3108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6716" y="312267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68396" y="312267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04772" y="4119372"/>
            <a:ext cx="265176" cy="265176"/>
          </a:xfrm>
          <a:prstGeom prst="ellipse">
            <a:avLst/>
          </a:prstGeom>
          <a:solidFill>
            <a:srgbClr val="2E6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1196" y="412851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006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DCE7F7"/>
                </a:solidFill>
                <a:latin typeface="Calibri"/>
              </a:rPr>
              <a:t>5 unidades · 3 países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737360"/>
            <a:ext cx="6766560" cy="2011680"/>
          </a:xfrm>
          <a:prstGeom prst="rect">
            <a:avLst/>
          </a:prstGeom>
          <a:noFill/>
        </p:spPr>
        <p:txBody>
          <a:bodyPr wrap="square" anchor="b" lIns="45720" rIns="45720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3300" b="1" i="0">
                <a:solidFill>
                  <a:srgbClr val="16305C"/>
                </a:solidFill>
                <a:latin typeface="Calibri"/>
              </a:rPr>
              <a:t>Processo de Recrutamento,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3300" b="1" i="0">
                <a:solidFill>
                  <a:srgbClr val="1F4E9B"/>
                </a:solidFill>
                <a:latin typeface="Calibri"/>
              </a:rPr>
              <a:t>Seleção e Onboarding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3840480"/>
            <a:ext cx="1554480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023360"/>
            <a:ext cx="6675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A414C"/>
                </a:solidFill>
                <a:latin typeface="Calibri"/>
              </a:rPr>
              <a:t>Consolidação institucional multiunidades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00"/>
              </a:spcAft>
            </a:pPr>
            <a:r>
              <a:rPr sz="1250" b="0" i="0">
                <a:solidFill>
                  <a:srgbClr val="6B7480"/>
                </a:solidFill>
                <a:latin typeface="Calibri"/>
              </a:rPr>
              <a:t>Processo padrão · particularidades por unidade · divergências · lacunas · oportunidades de padronização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126480"/>
            <a:ext cx="6675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6B7480"/>
                </a:solidFill>
                <a:latin typeface="Calibri"/>
              </a:rPr>
              <a:t>Documento executivo  ·  Base: apresentações AS IS das unidades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Contexto, Objetivo e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3703320" cy="201168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3429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09928"/>
            <a:ext cx="3374136" cy="17190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Cada unidade documentou o mesmo processo de R&amp;S e Onboarding em sua própria apresentação AS 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As unidades operam o mesmo processo institucional, mas com particularidades locais, exceções e regras próprias.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As versões apresentavam redundâncias, divergências e lacunas.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143000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0F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99032"/>
            <a:ext cx="3703320" cy="201168"/>
          </a:xfrm>
          <a:prstGeom prst="rect">
            <a:avLst/>
          </a:prstGeom>
          <a:solidFill>
            <a:srgbClr val="0F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43000"/>
            <a:ext cx="3429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709928"/>
            <a:ext cx="3374136" cy="17190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Consolidar tudo em uma única apresentação fiel ao processo institucional.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Separar o PADRÃO organizacional das EXCEÇÕES locais.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Preservar todas as informações relevantes, sem perdas.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Evidenciar divergências e lacunas para decisão.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430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99032"/>
            <a:ext cx="3703320" cy="201168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143000"/>
            <a:ext cx="3429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1709928"/>
            <a:ext cx="3374136" cy="17190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Leitura integral das apresentações de todas as unidades.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Identificação do fluxo comum (processo padrão).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Mapeamento de particularidades com rastreabilidade da origem.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14C"/>
                </a:solidFill>
                <a:latin typeface="Calibri"/>
              </a:rPr>
              <a:t>•  Registro de conflitos, inconsistências e lacunas.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94760"/>
            <a:ext cx="1145743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109728" cy="2331720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13632"/>
            <a:ext cx="10972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305C"/>
                </a:solidFill>
                <a:latin typeface="Calibri"/>
              </a:rPr>
              <a:t>Escopo consolidado — 7 apresentações analisadas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" y="4370832"/>
          <a:ext cx="10972800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920240"/>
                <a:gridCol w="1463040"/>
                <a:gridCol w="466344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Apresentação (arquivo)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Unidade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País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Conteúdo coberto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305C"/>
                          </a:solidFill>
                          <a:latin typeface="Calibri"/>
                        </a:rPr>
                        <a:t>Fluxo Original / Fluxo_Recrutamento_Selecao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Aura Apoena (base)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R&amp;S (8 etapas) + Onboarding (10 etapas) — modelo de referência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305C"/>
                          </a:solidFill>
                          <a:latin typeface="Calibri"/>
                        </a:rPr>
                        <a:t>Almas Fluxo_Recrutamento_Selecao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Aura Apoena (Almas)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R&amp;S + Onboarding, com Conflito de Interesses e Kit Boas-vindas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305C"/>
                          </a:solidFill>
                          <a:latin typeface="Calibri"/>
                        </a:rPr>
                        <a:t>BBR_Fluxo_Recrutamento_Selecao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Aura Borborema (BBR)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R&amp;S + Onboarding, com Background Check e admissão via Vexia/Pipefy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305C"/>
                          </a:solidFill>
                          <a:latin typeface="Calibri"/>
                        </a:rPr>
                        <a:t>Serra Grande - Crixas_Fluxo...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Aura Serra Grande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R&amp;S + Onboarding, com Avaliação Comportamental e DP/FPW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305C"/>
                          </a:solidFill>
                          <a:latin typeface="Calibri"/>
                        </a:rPr>
                        <a:t>Honduras - Crixas_Fluxo...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Aura Minosa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Honduras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R&amp;S em 3 rotas + Incorporación (10 etapas) — modelo LATAM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305C"/>
                          </a:solidFill>
                          <a:latin typeface="Calibri"/>
                        </a:rPr>
                        <a:t>Reclutamiento y Selección - Guatemala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Aura Guatemala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Guatemala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A414C"/>
                          </a:solidFill>
                          <a:latin typeface="Calibri"/>
                        </a:rPr>
                        <a:t>Inducción documentada; R&amp;S em imagens (lacuna de texto)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Como Ler Esta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Convenções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Quatro camadas de leitura mantêm o padrão institucional separado das exceções locais e das pendências.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28016" cy="1078992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9344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PADRÃO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481328"/>
            <a:ext cx="2743200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305C"/>
                </a:solidFill>
                <a:latin typeface="Calibri"/>
              </a:rPr>
              <a:t>Processo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12064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3A414C"/>
                </a:solidFill>
                <a:latin typeface="Calibri"/>
              </a:rPr>
              <a:t>Fluxo comum a todas as unidades. Representa o “como deveria ser” institucional, válido para todas as operações.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78608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78608"/>
            <a:ext cx="128016" cy="1078992"/>
          </a:xfrm>
          <a:prstGeom prst="rect">
            <a:avLst/>
          </a:prstGeom>
          <a:solidFill>
            <a:srgbClr val="0F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16352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0F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PARTICULARIDADE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88336"/>
            <a:ext cx="2743200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305C"/>
                </a:solidFill>
                <a:latin typeface="Calibri"/>
              </a:rPr>
              <a:t>Exceção / regra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0048"/>
            <a:ext cx="512064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3A414C"/>
                </a:solidFill>
                <a:latin typeface="Calibri"/>
              </a:rPr>
              <a:t>Adição, exceção ou regra específica de uma unidade. Sempre acompanhada do selo da unidade de origem (rastreabilidade).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85616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85616"/>
            <a:ext cx="128016" cy="1078992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DIVERGÊNCIA / CONFLITO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895344"/>
            <a:ext cx="2743200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305C"/>
                </a:solidFill>
                <a:latin typeface="Calibri"/>
              </a:rPr>
              <a:t>Inconsistência entre versões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77056"/>
            <a:ext cx="512064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3A414C"/>
                </a:solidFill>
                <a:latin typeface="Calibri"/>
              </a:rPr>
              <a:t>Mesma etapa descrita de forma diferente ou conflitante entre unidades (ou dentro da mesma unidade). Exige decisão.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92624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92624"/>
            <a:ext cx="128016" cy="1078992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230368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LACUNA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102352"/>
            <a:ext cx="2743200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305C"/>
                </a:solidFill>
                <a:latin typeface="Calibri"/>
              </a:rPr>
              <a:t>Informação faltante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84064"/>
            <a:ext cx="512064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3A414C"/>
                </a:solidFill>
                <a:latin typeface="Calibri"/>
              </a:rPr>
              <a:t>Ponto do processo não documentado, incompleto ou “em revisão”. Precisa ser levantado para completar o padrão.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Processo Padrão — Fluxo de Recrutamento e Seleção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PADRÃO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Fluxo comum às unidades do Brasil (Apoena, Borborema e Serra Grande). Particularidades e o modelo LATAM são tratados à parte.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91440" cy="7315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472184"/>
            <a:ext cx="402336" cy="402336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99032"/>
            <a:ext cx="2057400" cy="676656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Requisição de Vaga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Gestor solicita a abertura da vaga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Cargo · Centro de custo · Escopo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31136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231136"/>
            <a:ext cx="91440" cy="7315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331720"/>
            <a:ext cx="402336" cy="402336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58568"/>
            <a:ext cx="2057400" cy="676656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Publicação da Vaga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Publicação após requisição aprovada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Divulgação em painel e canais internos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90672"/>
            <a:ext cx="278892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090672"/>
            <a:ext cx="91440" cy="676656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191256"/>
            <a:ext cx="402336" cy="402336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18103"/>
            <a:ext cx="2057400" cy="621792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Triagem de Currículos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Avaliação técnica dos currículos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Seleção de candidatos aderentes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95344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895344"/>
            <a:ext cx="91440" cy="7315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3995928"/>
            <a:ext cx="402336" cy="402336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22776"/>
            <a:ext cx="2057400" cy="676656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Entrevista RH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Avaliação comportamental · histórico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Motivação · fit cultural · pretensão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05939" y="2103120"/>
            <a:ext cx="0" cy="128016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05939" y="2962656"/>
            <a:ext cx="0" cy="128016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05939" y="3767328"/>
            <a:ext cx="0" cy="128016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05939" y="4626864"/>
            <a:ext cx="0" cy="338328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1120139" y="4974336"/>
            <a:ext cx="1371600" cy="749808"/>
          </a:xfrm>
          <a:prstGeom prst="diamond">
            <a:avLst/>
          </a:prstGeom>
          <a:solidFill>
            <a:srgbClr val="F5B301"/>
          </a:solidFill>
          <a:ln w="12700">
            <a:solidFill>
              <a:srgbClr val="D99400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6305C"/>
                </a:solidFill>
                <a:latin typeface="Calibri"/>
              </a:rPr>
              <a:t>Aprovado?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5038344"/>
            <a:ext cx="502920" cy="21945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C0504D"/>
                </a:solidFill>
                <a:latin typeface="Calibri"/>
              </a:rPr>
              <a:t>Não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40080" y="5349240"/>
            <a:ext cx="480059" cy="0"/>
          </a:xfrm>
          <a:prstGeom prst="line">
            <a:avLst/>
          </a:prstGeom>
          <a:ln w="19050">
            <a:solidFill>
              <a:srgbClr val="C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37160" y="5623559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F4DAD8"/>
          </a:solidFill>
          <a:ln w="12700">
            <a:solidFill>
              <a:srgbClr val="C0504D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C0504D"/>
                </a:solidFill>
                <a:latin typeface="Calibri"/>
              </a:rPr>
              <a:t>Reprovado · feedback ao candidato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89988" y="5330952"/>
            <a:ext cx="502920" cy="21945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1371600"/>
            <a:ext cx="1874519" cy="402336"/>
          </a:xfrm>
          <a:prstGeom prst="roundRect">
            <a:avLst>
              <a:gd name="adj" fmla="val 22000"/>
            </a:avLst>
          </a:prstGeom>
          <a:solidFill>
            <a:srgbClr val="F5B301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305C"/>
                </a:solidFill>
                <a:latin typeface="Calibri"/>
              </a:rPr>
              <a:t>Triagem Patrimonial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1783080"/>
            <a:ext cx="1874519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1">
                <a:solidFill>
                  <a:srgbClr val="6B7480"/>
                </a:solidFill>
                <a:latin typeface="Calibri"/>
              </a:rPr>
              <a:t>fluxo paralelo · background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2084832"/>
            <a:ext cx="1874519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3A414C"/>
                </a:solidFill>
                <a:latin typeface="Calibri"/>
              </a:rPr>
              <a:t>Envio de formulário(s)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2596896"/>
            <a:ext cx="1874519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3A414C"/>
                </a:solidFill>
                <a:latin typeface="Calibri"/>
              </a:rPr>
              <a:t>Preenchimento pelo candidato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11880" y="3108960"/>
            <a:ext cx="1874519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3A414C"/>
                </a:solidFill>
                <a:latin typeface="Calibri"/>
              </a:rPr>
              <a:t>Pesquisa patrimonial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49140" y="2029967"/>
            <a:ext cx="0" cy="54864"/>
          </a:xfrm>
          <a:prstGeom prst="line">
            <a:avLst/>
          </a:prstGeom>
          <a:ln w="19050">
            <a:solidFill>
              <a:srgbClr val="D99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49140" y="2542032"/>
            <a:ext cx="0" cy="54864"/>
          </a:xfrm>
          <a:prstGeom prst="line">
            <a:avLst/>
          </a:prstGeom>
          <a:ln w="19050">
            <a:solidFill>
              <a:srgbClr val="D99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49140" y="3054096"/>
            <a:ext cx="0" cy="54864"/>
          </a:xfrm>
          <a:prstGeom prst="line">
            <a:avLst/>
          </a:prstGeom>
          <a:ln w="19050">
            <a:solidFill>
              <a:srgbClr val="D99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49140" y="3511296"/>
            <a:ext cx="0" cy="374904"/>
          </a:xfrm>
          <a:prstGeom prst="line">
            <a:avLst/>
          </a:prstGeom>
          <a:ln w="19050">
            <a:solidFill>
              <a:srgbClr val="D99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3863339" y="3886200"/>
            <a:ext cx="1371600" cy="731520"/>
          </a:xfrm>
          <a:prstGeom prst="diamond">
            <a:avLst/>
          </a:prstGeom>
          <a:solidFill>
            <a:srgbClr val="DCE7F7"/>
          </a:solidFill>
          <a:ln w="12700">
            <a:solidFill>
              <a:srgbClr val="2E6CC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6305C"/>
                </a:solidFill>
                <a:latin typeface="Calibri"/>
              </a:rPr>
              <a:t>Aprovado?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1939" y="4617720"/>
            <a:ext cx="502920" cy="21945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C0504D"/>
                </a:solidFill>
                <a:latin typeface="Calibri"/>
              </a:rPr>
              <a:t>Não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49140" y="4617720"/>
            <a:ext cx="0" cy="164592"/>
          </a:xfrm>
          <a:prstGeom prst="line">
            <a:avLst/>
          </a:prstGeom>
          <a:ln w="17780">
            <a:solidFill>
              <a:srgbClr val="C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11880" y="4782312"/>
            <a:ext cx="1874519" cy="384048"/>
          </a:xfrm>
          <a:prstGeom prst="roundRect">
            <a:avLst>
              <a:gd name="adj" fmla="val 28000"/>
            </a:avLst>
          </a:prstGeom>
          <a:solidFill>
            <a:srgbClr val="F4DAD8"/>
          </a:solidFill>
          <a:ln w="12700">
            <a:solidFill>
              <a:srgbClr val="C0504D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C0504D"/>
                </a:solidFill>
                <a:latin typeface="Calibri"/>
              </a:rPr>
              <a:t>Restrição · processo encerrado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9492" y="3977640"/>
            <a:ext cx="502920" cy="21945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491739" y="5349240"/>
            <a:ext cx="909829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401568" y="1572768"/>
            <a:ext cx="0" cy="3776472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401568" y="1572768"/>
            <a:ext cx="210312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806440" y="137160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06440" y="1371600"/>
            <a:ext cx="91440" cy="7315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89320" y="1472184"/>
            <a:ext cx="402336" cy="402336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1399032"/>
            <a:ext cx="2057400" cy="676656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Entrevista com Gestor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Conhecimento técnico · experiência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Competências · fit com a equipe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234940" y="4251960"/>
            <a:ext cx="361188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596128" y="1737360"/>
            <a:ext cx="0" cy="251460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96128" y="1737360"/>
            <a:ext cx="210312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200900" y="2103120"/>
            <a:ext cx="0" cy="320040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/>
          <p:cNvSpPr/>
          <p:nvPr/>
        </p:nvSpPr>
        <p:spPr>
          <a:xfrm>
            <a:off x="6423660" y="2423160"/>
            <a:ext cx="1554480" cy="731520"/>
          </a:xfrm>
          <a:prstGeom prst="diamond">
            <a:avLst/>
          </a:prstGeom>
          <a:solidFill>
            <a:srgbClr val="F5B301"/>
          </a:solidFill>
          <a:ln w="12700">
            <a:solidFill>
              <a:srgbClr val="D99400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6305C"/>
                </a:solidFill>
                <a:latin typeface="Calibri"/>
              </a:rPr>
              <a:t>Candidato
Finalista?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8212" y="2770632"/>
            <a:ext cx="502920" cy="21945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C0504D"/>
                </a:solidFill>
                <a:latin typeface="Calibri"/>
              </a:rPr>
              <a:t>Não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5742432" y="2788920"/>
            <a:ext cx="681228" cy="0"/>
          </a:xfrm>
          <a:prstGeom prst="line">
            <a:avLst/>
          </a:prstGeom>
          <a:ln w="1778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742432" y="2788920"/>
            <a:ext cx="0" cy="3474720"/>
          </a:xfrm>
          <a:prstGeom prst="line">
            <a:avLst/>
          </a:prstGeom>
          <a:ln w="1778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742432" y="6263640"/>
            <a:ext cx="310896" cy="0"/>
          </a:xfrm>
          <a:prstGeom prst="line">
            <a:avLst/>
          </a:prstGeom>
          <a:ln w="17780">
            <a:solidFill>
              <a:srgbClr val="C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053328" y="6053328"/>
            <a:ext cx="2542032" cy="457200"/>
          </a:xfrm>
          <a:prstGeom prst="roundRect">
            <a:avLst>
              <a:gd name="adj" fmla="val 16000"/>
            </a:avLst>
          </a:prstGeom>
          <a:solidFill>
            <a:srgbClr val="F4DAD8"/>
          </a:solidFill>
          <a:ln w="12700">
            <a:solidFill>
              <a:srgbClr val="C0504D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C0504D"/>
                </a:solidFill>
                <a:latin typeface="Calibri"/>
              </a:rPr>
              <a:t>Não finalista → nova triagem / nova publicação · feedback ao candidato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92340" y="3154679"/>
            <a:ext cx="502920" cy="21945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Sim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3474720"/>
            <a:ext cx="278892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06440" y="3474720"/>
            <a:ext cx="91440" cy="676656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989320" y="3575303"/>
            <a:ext cx="402336" cy="402336"/>
          </a:xfrm>
          <a:prstGeom prst="ellipse">
            <a:avLst/>
          </a:prstGeom>
          <a:solidFill>
            <a:srgbClr val="D99400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3502151"/>
            <a:ext cx="2057400" cy="621792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Carta Proposta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Aprovação RH Custos · Aprovação Gestor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Formalização da oferta ao candidato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200900" y="3154679"/>
            <a:ext cx="0" cy="320041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806440" y="4279392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06440" y="4279392"/>
            <a:ext cx="91440" cy="7315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89320" y="4379976"/>
            <a:ext cx="402336" cy="402336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6520" y="4306824"/>
            <a:ext cx="2057400" cy="676656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05C"/>
                </a:solidFill>
                <a:latin typeface="Calibri"/>
              </a:rPr>
              <a:t>Formalização &amp; Assinatura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Envio da proposta por e-mail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Assinatura eletrônica · aceite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200900" y="4151376"/>
            <a:ext cx="0" cy="128016"/>
          </a:xfrm>
          <a:prstGeom prst="line">
            <a:avLst/>
          </a:prstGeom>
          <a:ln w="22860">
            <a:solidFill>
              <a:srgbClr val="2E6C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806440" y="5138928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806440" y="5138928"/>
            <a:ext cx="91440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989320" y="523951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5166360"/>
            <a:ext cx="2057400" cy="676656"/>
          </a:xfrm>
          <a:prstGeom prst="rect">
            <a:avLst/>
          </a:prstGeom>
          <a:noFill/>
        </p:spPr>
        <p:txBody>
          <a:bodyPr wrap="square" anchor="ctr" lIns="18288" rIns="36576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5E20"/>
                </a:solidFill>
                <a:latin typeface="Calibri"/>
              </a:rPr>
              <a:t>Seleção Concluída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Onboarding do novo colaborador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B7480"/>
                </a:solidFill>
                <a:latin typeface="Calibri"/>
              </a:rPr>
              <a:t>Integração à equipe e à empresa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200900" y="5010912"/>
            <a:ext cx="0" cy="128016"/>
          </a:xfrm>
          <a:prstGeom prst="line">
            <a:avLst/>
          </a:prstGeom>
          <a:ln w="2286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8887968" y="1371600"/>
            <a:ext cx="2926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887968" y="137160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87968" y="1554480"/>
            <a:ext cx="2926080" cy="164592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887968" y="1371600"/>
            <a:ext cx="73152" cy="34747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33688" y="1371600"/>
            <a:ext cx="2834640" cy="34747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SISTEMAS (comuns / variáveis)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15984" y="1773936"/>
            <a:ext cx="2706624" cy="11155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Pandapé (gestão de vagas)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Outlook · Teams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Assinatura eletrônica (GOV.BR / DocuSign)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Formulários (Forms) · canais internos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887968" y="3072384"/>
            <a:ext cx="292608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887968" y="3072384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887968" y="3255264"/>
            <a:ext cx="2926080" cy="164592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87968" y="3072384"/>
            <a:ext cx="73152" cy="34747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33688" y="3072384"/>
            <a:ext cx="2834640" cy="34747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PONTOS DE DECISÃO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15984" y="3474720"/>
            <a:ext cx="2706624" cy="10607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Aprovação da Requisição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Aprovação RH Custos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Aprovação Entrevista RH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Aprovação Triagem Patrimonial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Aprovação Gestor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Aceite da Proposta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887968" y="4718304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887968" y="4718304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87968" y="4901184"/>
            <a:ext cx="2926080" cy="164592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87968" y="4718304"/>
            <a:ext cx="73152" cy="34747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33688" y="4718304"/>
            <a:ext cx="2834640" cy="34747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POSSÍVEIS ENCERRAMENTOS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15984" y="5120640"/>
            <a:ext cx="2706624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Reprovação na Entrevista RH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Restrição na Triagem Patrimonial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Reprovação pelo Gestor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Recusa da Proposta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</a:pPr>
            <a:r>
              <a:rPr sz="800" b="0" i="0">
                <a:solidFill>
                  <a:srgbClr val="3A414C"/>
                </a:solidFill>
                <a:latin typeface="Calibri"/>
              </a:rPr>
              <a:t>•  Reabertura da vaga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Processo Padrão — Visão Executiva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Linha do tempo · 8 etapas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355848"/>
            <a:ext cx="10469880" cy="54864"/>
          </a:xfrm>
          <a:prstGeom prst="rect">
            <a:avLst/>
          </a:prstGeom>
          <a:solidFill>
            <a:srgbClr val="D7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68680" y="2880360"/>
            <a:ext cx="0" cy="210312"/>
          </a:xfrm>
          <a:prstGeom prst="line">
            <a:avLst/>
          </a:prstGeom>
          <a:ln w="17780">
            <a:solidFill>
              <a:srgbClr val="1F4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" y="1709928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" y="1709928"/>
            <a:ext cx="1298448" cy="82296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37944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Requisição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Abertura da vaga pelo gestor</a:t>
            </a:r>
          </a:p>
        </p:txBody>
      </p:sp>
      <p:sp>
        <p:nvSpPr>
          <p:cNvPr id="12" name="Oval 11"/>
          <p:cNvSpPr/>
          <p:nvPr/>
        </p:nvSpPr>
        <p:spPr>
          <a:xfrm>
            <a:off x="612647" y="3127248"/>
            <a:ext cx="512064" cy="512064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64377" y="3675888"/>
            <a:ext cx="0" cy="210312"/>
          </a:xfrm>
          <a:prstGeom prst="line">
            <a:avLst/>
          </a:prstGeom>
          <a:ln w="17780">
            <a:solidFill>
              <a:srgbClr val="D99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715153" y="3886200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5153" y="3886200"/>
            <a:ext cx="1298448" cy="82296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0017" y="4014215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Divulgação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Publicação da vaga (Pandapé)</a:t>
            </a:r>
          </a:p>
        </p:txBody>
      </p:sp>
      <p:sp>
        <p:nvSpPr>
          <p:cNvPr id="17" name="Oval 16"/>
          <p:cNvSpPr/>
          <p:nvPr/>
        </p:nvSpPr>
        <p:spPr>
          <a:xfrm>
            <a:off x="2108345" y="3127248"/>
            <a:ext cx="512064" cy="512064"/>
          </a:xfrm>
          <a:prstGeom prst="ellipse">
            <a:avLst/>
          </a:prstGeom>
          <a:solidFill>
            <a:srgbClr val="D99400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60074" y="2880360"/>
            <a:ext cx="0" cy="210312"/>
          </a:xfrm>
          <a:prstGeom prst="line">
            <a:avLst/>
          </a:prstGeom>
          <a:ln w="17780">
            <a:solidFill>
              <a:srgbClr val="1F4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10850" y="1709928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10850" y="1709928"/>
            <a:ext cx="1298448" cy="82296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5714" y="1837944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Triagem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Análise de currículos</a:t>
            </a:r>
          </a:p>
        </p:txBody>
      </p:sp>
      <p:sp>
        <p:nvSpPr>
          <p:cNvPr id="22" name="Oval 21"/>
          <p:cNvSpPr/>
          <p:nvPr/>
        </p:nvSpPr>
        <p:spPr>
          <a:xfrm>
            <a:off x="3604042" y="3127248"/>
            <a:ext cx="512064" cy="512064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55771" y="3675888"/>
            <a:ext cx="0" cy="210312"/>
          </a:xfrm>
          <a:prstGeom prst="line">
            <a:avLst/>
          </a:prstGeom>
          <a:ln w="17780">
            <a:solidFill>
              <a:srgbClr val="D99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706547" y="3886200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6547" y="3886200"/>
            <a:ext cx="1298448" cy="82296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1411" y="4014215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Entrevistas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RH e gestor + triagem patrimonial</a:t>
            </a:r>
          </a:p>
        </p:txBody>
      </p:sp>
      <p:sp>
        <p:nvSpPr>
          <p:cNvPr id="27" name="Oval 26"/>
          <p:cNvSpPr/>
          <p:nvPr/>
        </p:nvSpPr>
        <p:spPr>
          <a:xfrm>
            <a:off x="5099739" y="3127248"/>
            <a:ext cx="512064" cy="512064"/>
          </a:xfrm>
          <a:prstGeom prst="ellipse">
            <a:avLst/>
          </a:prstGeom>
          <a:solidFill>
            <a:srgbClr val="D99400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851468" y="2880360"/>
            <a:ext cx="0" cy="210312"/>
          </a:xfrm>
          <a:prstGeom prst="line">
            <a:avLst/>
          </a:prstGeom>
          <a:ln w="17780">
            <a:solidFill>
              <a:srgbClr val="1F4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02244" y="1709928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2244" y="1709928"/>
            <a:ext cx="1298448" cy="82296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7108" y="1837944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Aprovação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Decisões e validações</a:t>
            </a:r>
          </a:p>
        </p:txBody>
      </p:sp>
      <p:sp>
        <p:nvSpPr>
          <p:cNvPr id="32" name="Oval 31"/>
          <p:cNvSpPr/>
          <p:nvPr/>
        </p:nvSpPr>
        <p:spPr>
          <a:xfrm>
            <a:off x="6595436" y="3127248"/>
            <a:ext cx="512064" cy="512064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47165" y="3675888"/>
            <a:ext cx="0" cy="210312"/>
          </a:xfrm>
          <a:prstGeom prst="line">
            <a:avLst/>
          </a:prstGeom>
          <a:ln w="17780">
            <a:solidFill>
              <a:srgbClr val="D99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97941" y="3886200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97941" y="3886200"/>
            <a:ext cx="1298448" cy="82296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2805" y="4014215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Proposta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Carta e negociação</a:t>
            </a:r>
          </a:p>
        </p:txBody>
      </p:sp>
      <p:sp>
        <p:nvSpPr>
          <p:cNvPr id="37" name="Oval 36"/>
          <p:cNvSpPr/>
          <p:nvPr/>
        </p:nvSpPr>
        <p:spPr>
          <a:xfrm>
            <a:off x="8091133" y="3127248"/>
            <a:ext cx="512064" cy="512064"/>
          </a:xfrm>
          <a:prstGeom prst="ellipse">
            <a:avLst/>
          </a:prstGeom>
          <a:solidFill>
            <a:srgbClr val="D99400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842862" y="2880360"/>
            <a:ext cx="0" cy="210312"/>
          </a:xfrm>
          <a:prstGeom prst="line">
            <a:avLst/>
          </a:prstGeom>
          <a:ln w="17780">
            <a:solidFill>
              <a:srgbClr val="1F4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93638" y="1709928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93638" y="1709928"/>
            <a:ext cx="1298448" cy="82296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48502" y="1837944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Admissão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Assinatura eletrônica</a:t>
            </a:r>
          </a:p>
        </p:txBody>
      </p:sp>
      <p:sp>
        <p:nvSpPr>
          <p:cNvPr id="42" name="Oval 41"/>
          <p:cNvSpPr/>
          <p:nvPr/>
        </p:nvSpPr>
        <p:spPr>
          <a:xfrm>
            <a:off x="9586830" y="3127248"/>
            <a:ext cx="512064" cy="512064"/>
          </a:xfrm>
          <a:prstGeom prst="ellipse">
            <a:avLst/>
          </a:prstGeom>
          <a:solidFill>
            <a:srgbClr val="1F4E9B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338560" y="3675888"/>
            <a:ext cx="0" cy="210312"/>
          </a:xfrm>
          <a:prstGeom prst="line">
            <a:avLst/>
          </a:prstGeom>
          <a:ln w="17780">
            <a:solidFill>
              <a:srgbClr val="D99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689336" y="3886200"/>
            <a:ext cx="12984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4"/>
            </a:solidFill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89336" y="3886200"/>
            <a:ext cx="1298448" cy="82296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44200" y="4014215"/>
            <a:ext cx="1188719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305C"/>
                </a:solidFill>
                <a:latin typeface="Calibri"/>
              </a:rPr>
              <a:t>Onboarding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>
                <a:solidFill>
                  <a:srgbClr val="6B7480"/>
                </a:solidFill>
                <a:latin typeface="Calibri"/>
              </a:rPr>
              <a:t>Integração do colaborador</a:t>
            </a:r>
          </a:p>
        </p:txBody>
      </p:sp>
      <p:sp>
        <p:nvSpPr>
          <p:cNvPr id="47" name="Oval 46"/>
          <p:cNvSpPr/>
          <p:nvPr/>
        </p:nvSpPr>
        <p:spPr>
          <a:xfrm>
            <a:off x="11082528" y="3127248"/>
            <a:ext cx="512064" cy="512064"/>
          </a:xfrm>
          <a:prstGeom prst="ellipse">
            <a:avLst/>
          </a:prstGeom>
          <a:solidFill>
            <a:srgbClr val="D99400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1">
                <a:solidFill>
                  <a:srgbClr val="6B7480"/>
                </a:solidFill>
                <a:latin typeface="Calibri"/>
              </a:rPr>
              <a:t>Do pedido à integração — um fluxo estruturado, auditável e orientado a decisões, comum a todas as unidades.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3507" y="5669280"/>
            <a:ext cx="2606040" cy="713232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3507" y="5669280"/>
            <a:ext cx="91440" cy="713232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8099" y="5669280"/>
            <a:ext cx="77724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F4E9B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6195" y="5669280"/>
            <a:ext cx="1600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A414C"/>
                </a:solidFill>
                <a:latin typeface="Calibri"/>
              </a:rPr>
              <a:t>etapas principais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3054" y="5669280"/>
            <a:ext cx="2606040" cy="713232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13054" y="5669280"/>
            <a:ext cx="91440" cy="713232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7646" y="5669280"/>
            <a:ext cx="77724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D99400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5742" y="5669280"/>
            <a:ext cx="1600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A414C"/>
                </a:solidFill>
                <a:latin typeface="Calibri"/>
              </a:rPr>
              <a:t>pontos de decisão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2601" y="5669280"/>
            <a:ext cx="2606040" cy="713232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72601" y="5669280"/>
            <a:ext cx="91440" cy="713232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7193" y="5669280"/>
            <a:ext cx="77724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C0504D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5289" y="5669280"/>
            <a:ext cx="1600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A414C"/>
                </a:solidFill>
                <a:latin typeface="Calibri"/>
              </a:rPr>
              <a:t>possíveis encerramentos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2148" y="5669280"/>
            <a:ext cx="2606040" cy="713232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2148" y="5669280"/>
            <a:ext cx="91440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6740" y="5669280"/>
            <a:ext cx="77724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2E7D32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64836" y="5669280"/>
            <a:ext cx="1600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A414C"/>
                </a:solidFill>
                <a:latin typeface="Calibri"/>
              </a:rPr>
              <a:t>unidades consolidadas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Processo Padrão — Onboarding / Admissão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PADRÃO · 10 etapas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Sequência de referência (modelo Brasil). Sistemas de folha e programas de acompanhamento variam por unidade — ver particularidades.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73352"/>
            <a:ext cx="2212848" cy="201168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1453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F4E9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417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Aprovação do candidato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47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F4E9B"/>
                </a:solidFill>
                <a:latin typeface="Calibri"/>
              </a:rPr>
              <a:t>RH · Pandapé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240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Movimentação para Contratação; envio do link de documentação.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417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1417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673352"/>
            <a:ext cx="2212848" cy="201168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80360" y="1453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F4E9B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417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Agendamento do ASO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1947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F4E9B"/>
                </a:solidFill>
                <a:latin typeface="Calibri"/>
              </a:rPr>
              <a:t>RH · Saúde Ocupacional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2240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Encaminhamento dos dados; exame admissional agendado.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417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1417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1673352"/>
            <a:ext cx="2212848" cy="201168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1453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F4E9B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1417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Documentação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1947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F4E9B"/>
                </a:solidFill>
                <a:latin typeface="Calibri"/>
              </a:rPr>
              <a:t>RH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2240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Conferência de documentos; organização do Book do Colaborador.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0" y="1417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0" y="1417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0" y="1673352"/>
            <a:ext cx="2212848" cy="201168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0" y="1453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F4E9B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1417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Checklist Pré-Admissional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1947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F4E9B"/>
                </a:solidFill>
                <a:latin typeface="Calibri"/>
              </a:rPr>
              <a:t>RH · conferências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2240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Documentação, ASO, sistema, uniforme, crachá, ponto, benefícios, NR-22…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1417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75520" y="1417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75520" y="1673352"/>
            <a:ext cx="2212848" cy="201168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12680" y="1453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F4E9B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42448" y="1417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Cadastro no sistema de folha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248" y="1947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F4E9B"/>
                </a:solidFill>
                <a:latin typeface="Calibri"/>
              </a:rPr>
              <a:t>RH · sistema local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8" y="2240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Pré-requisitos: documentação completa e ASO apto.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3703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5760" y="3703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3959352"/>
            <a:ext cx="2212848" cy="201168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" y="3739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99400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3703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Assinatura Contratual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4233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9400"/>
                </a:solidFill>
                <a:latin typeface="Calibri"/>
              </a:rPr>
              <a:t>RH · DocuSign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4526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Contrato de Trabalho e Ficha de Registro.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3703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743200" y="3703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0" y="3959352"/>
            <a:ext cx="2212848" cy="201168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880360" y="3739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99400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8" y="3703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Comunicação Pré-Integração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52928" y="4233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9400"/>
                </a:solidFill>
                <a:latin typeface="Calibri"/>
              </a:rPr>
              <a:t>RH · sexta anterior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4526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Guia de Integração, local/horário, rota de ônibus, NR-22, acessos.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0" y="3703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20640" y="3703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20640" y="3959352"/>
            <a:ext cx="2212848" cy="201168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257800" y="3739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99400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7568" y="3703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Primeiro dia de Integração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0368" y="4233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9400"/>
                </a:solidFill>
                <a:latin typeface="Calibri"/>
              </a:rPr>
              <a:t>RH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30368" y="4526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Uniforme; ponto, benefícios, seguro de vida, formulários obrigatórios.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98080" y="3703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498080" y="3703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98080" y="3959352"/>
            <a:ext cx="2212848" cy="201168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635240" y="3739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99400"/>
                </a:solidFill>
                <a:latin typeface="Calibri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65008" y="3703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Padrinho &amp; Jornada de Experiência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07808" y="4233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9400"/>
                </a:solidFill>
                <a:latin typeface="Calibri"/>
              </a:rPr>
              <a:t>RH · 45 dias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07808" y="4526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Acompanhamento da adaptação, treinamentos e feedbacks.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3703320"/>
            <a:ext cx="2212848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875520" y="3703320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75520" y="3959352"/>
            <a:ext cx="2212848" cy="201168"/>
          </a:xfrm>
          <a:prstGeom prst="rect">
            <a:avLst/>
          </a:prstGeom>
          <a:solidFill>
            <a:srgbClr val="D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12680" y="37398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99400"/>
                </a:solidFill>
                <a:latin typeface="Calibri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42448" y="3703320"/>
            <a:ext cx="159105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Encerramento do Onboarding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85248" y="4233672"/>
            <a:ext cx="1993391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9400"/>
                </a:solidFill>
                <a:latin typeface="Calibri"/>
              </a:rPr>
              <a:t>RH · Gestor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85248" y="4526280"/>
            <a:ext cx="1993391" cy="1170431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0" i="0">
                <a:solidFill>
                  <a:srgbClr val="3A414C"/>
                </a:solidFill>
                <a:latin typeface="Calibri"/>
              </a:rPr>
              <a:t>Reunião de acompanhamento; registro do encerramento da jornada.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Particularidades por Unidade — Recrutamento e Seleção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PARTICULARIDADES · rastreabilidade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Cada célula documenta a exceção local; o cabeçalho identifica a unidade de origem. O que não diverge segue o processo padrão.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57432" cy="4828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108960"/>
                <a:gridCol w="3108960"/>
                <a:gridCol w="3090672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Dimensão do processo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Aura Apoena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Aura Borborema (BBR)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Aura Serra Grande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Origem da requisição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Pandapé (Almas) / Portal de Serviços–HUB RH (Fluxo Original)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Pandapé — aprovação: Gestor da área + Coord. de RH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DocuSign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Publicação / divulgação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Pandapé + Painel de Vagas, Pixel Midea, Aura Comunica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Pandapé; vagas estratégicas de R&amp;S interno na CI Aura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Pandapé sob demanda (7 dias); cartaz por e-mail e WhatsApp Business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Triagem patrimonial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Triagem Patrimonial + Formulário de Conflito de Interesses (questionário)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“Background Check”: Patrimonial + Conflito de Interesses (2 formulários no Pandapé)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Solicitação à Patrimonial por e-mail; ex-colaborador: histórico ao DP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Entrevista com gestor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Cargos SR+: superior imediato e gestor da gerência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Cargos SR+: superior imediato e gestor da gerência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Cargos SR+: superior imediato e gerentes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Avaliação comportamental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Não prevista explicitamente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Não prevista explicitamente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Etapa complementar para cargos sênior/gestão/críticos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Assinatura da proposta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GOV.BR (Fluxo Original) / DocuSign (Almas)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DocuSign; RH Custos por e-mail, Gestor no Pandapé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GOV.BR ou DocuSign (carta assinada)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Sistemas específicos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Teams, Outlook, Pandapé, Forms, DocuSign, GOV.BR, Pixel Midea, Aura Comunica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Pandapé, DocuSign, Outlook (conjunto reduzido)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Gen.te Mobile, Teams, Outlook, Pandapé, DocuSign, GOV.BR, WhatsApp Business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1">
                <a:solidFill>
                  <a:srgbClr val="6B7480"/>
                </a:solidFill>
                <a:latin typeface="Calibri"/>
              </a:rPr>
              <a:t>Nota: o modelo de Honduras e Guatemala (LATAM) segue lógica distinta e é detalhado nos slides seguintes.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Particularidades por Unidade — Onboarding / Admissão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PARTICULARIDADES · rastreabilidade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Diferenças em relação ao onboarding padrão de 10 etapas. Origem indicada em cada coluna.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57432" cy="4736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108960"/>
                <a:gridCol w="3108960"/>
                <a:gridCol w="3090672"/>
              </a:tblGrid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Aura Apoena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Aura Borborema (BBR)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Aura Serra Grande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Sistema de folha (etapa 5)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Linx (executado pelo RH)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Linx via Vexia (terceirizado); chamado aberto no Pipefy (etapa 4)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FPW / Forponto (executado pelo Departamento Pessoal – DP)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Execução da admissão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RH executa internamente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Vexia executa; RH abre chamado e recebe documentação/benefícios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DP executa o cadastro; documentação enviada ao DP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Integração de mineração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NR-22 na integração do 1º dia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2º e 3º dia: Introdutório de Mineração (SSMA/Planta/Geotecnia/Patrimonial) – NR-22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NR-22 na integração; conferência no checklist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Programa de acompanhamento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Programa Padrinho &amp; Jornada de Experiência (45 dias)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Capacitação na função (NRs/on the job) + Padrinho; avaliação em Forms (45 dias, gestor)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“Programa On The Job – Área” (em revisão no momento)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Comunicação pré-integração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Guia de Boas-Vindas (mandala, rota, cronograma, horário) – quinta anterior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Guia por aplicativo de mensagem – sexta anterior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Guia por e-mail – sexta anterior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305C"/>
                          </a:solidFill>
                          <a:latin typeface="Calibri"/>
                        </a:rPr>
                        <a:t>Diferenciais registrados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Kit Boas-vindas; ASO por Saúde Ocupacional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Código de conduta no 1º dia; contrato digital</a:t>
                      </a:r>
                    </a:p>
                  </a:txBody>
                  <a:tcPr marL="54864" marR="45720" marT="18288" marB="18288" anchor="ctr">
                    <a:solidFill>
                      <a:srgbClr val="D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414C"/>
                          </a:solidFill>
                          <a:latin typeface="Calibri"/>
                        </a:rPr>
                        <a:t>ASO via planilha compartilhada; encerramento com formulário assinado por ambas as partes</a:t>
                      </a:r>
                    </a:p>
                  </a:txBody>
                  <a:tcPr marL="54864" marR="45720" marT="18288" marB="18288" anchor="ctr">
                    <a:solidFill>
                      <a:srgbClr val="FCE9B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Particularidade Estrutural — Honduras (Aura Minosa)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PARTICULARIDADE · modelo LATAM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Modelo próprio: 3 rotas de recrutamento conforme a origem do candidato. Difere do fluxo único do Brasil e é mantido separado do padrão.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81328"/>
            <a:ext cx="367588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3675887" cy="292608"/>
          </a:xfrm>
          <a:prstGeom prst="rect">
            <a:avLst/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27048"/>
            <a:ext cx="3401568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RECRUTAMENTO INTERNO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8366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8A3A3A"/>
                </a:solidFill>
                <a:latin typeface="Calibri"/>
              </a:rPr>
              <a:t>9 etapas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267712"/>
            <a:ext cx="3401568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1.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Solicitud de Personal (Fresh Service)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2.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Publicação da vaga por e-mail ao pessoal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3.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Decisão: há candidatos internos?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4.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Recepção de aplicações na RRHH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5.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Entrevistas com o líder da área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6.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Seleção com o encarregado (cuadro comparativo em Excel)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7.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Reclasificación por Fresh Service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8A3A3A"/>
                </a:solidFill>
                <a:latin typeface="Calibri"/>
              </a:rPr>
              <a:t>8.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Indução ao posto via SST (por e-mail)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481328"/>
            <a:ext cx="367588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61104" y="1481328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4" y="1847088"/>
            <a:ext cx="3675887" cy="292608"/>
          </a:xfrm>
          <a:prstGeom prst="rect">
            <a:avLst/>
          </a:prstGeom>
          <a:solidFill>
            <a:srgbClr val="A85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527048"/>
            <a:ext cx="3401568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EXTERNO EM COMUNIDADES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88366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A85A2A"/>
                </a:solidFill>
                <a:latin typeface="Calibri"/>
              </a:rPr>
              <a:t>13 etapas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267712"/>
            <a:ext cx="3401568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1.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Solicitud de Personal (Fresh Service)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2.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Compartilhar vaga com comunidades (e-mail)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3.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Recepção de perfis por comunidades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4.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Reclutamiento externo se não houver candidatos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5.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Entrevistas com o encarregado da área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6.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Avaliações psicométricas (PsicoSmart) e/ou técnicas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7.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Visto bueno de Relaciones Comunitarias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8.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Exames de saúde (clínica ocupacional) — decisão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A85A2A"/>
                </a:solidFill>
                <a:latin typeface="Calibri"/>
              </a:rPr>
              <a:t>9.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Indução e processo de contratação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481328"/>
            <a:ext cx="367588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1481328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847088"/>
            <a:ext cx="3675887" cy="292608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527048"/>
            <a:ext cx="3401568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RECRUTAMENTO EXTERNO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188366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4C9A"/>
                </a:solidFill>
                <a:latin typeface="Calibri"/>
              </a:rPr>
              <a:t>15 etapas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67712"/>
            <a:ext cx="3401568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1.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Solicitud de Personal (Fresh Service)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2.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Busca de perfis no LinkedIn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3.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Seleção de currículos e contato com candidatos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4.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Entrevistas com RH + psicométricas/técnicas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5.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Detalhe da entrevista (Excel); resumo ao líder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6.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Entrevista com o líder da área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7.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Oferta laboral por DocuSign — decisão: aceita?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8.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Documentação e exames de saúde — decisão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20"/>
              </a:spcAft>
            </a:pPr>
            <a:r>
              <a:rPr sz="860" b="1" i="0">
                <a:solidFill>
                  <a:srgbClr val="6B4C9A"/>
                </a:solidFill>
                <a:latin typeface="Calibri"/>
              </a:rPr>
              <a:t>9. </a:t>
            </a:r>
            <a:r>
              <a:rPr sz="860" b="0" i="0">
                <a:solidFill>
                  <a:srgbClr val="3A414C"/>
                </a:solidFill>
                <a:latin typeface="Calibri"/>
              </a:rPr>
              <a:t>2º candidato mais apto se reprovado/recusado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943600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16305C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5B301"/>
                </a:solidFill>
                <a:latin typeface="Calibri"/>
              </a:rPr>
              <a:t>Sistemas próprios: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Fresh Service · PsicoSmart · LinkedIn · DocuSign · Excel · Correo. </a:t>
            </a:r>
            <a:r>
              <a:rPr sz="950" b="1" i="0">
                <a:solidFill>
                  <a:srgbClr val="F5B301"/>
                </a:solidFill>
                <a:latin typeface="Calibri"/>
              </a:rPr>
              <a:t>Diferenciais: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avaliações psicométricas, visto bueno de Relaciones Comunitarias e exames de saúde como ponto de decisão.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Particularidade Estrutural — Onboarding LATAM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PARTICULARIDADE · Honduras &amp; Guatemala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Incorporación (Honduras) e Inducción (Guatemala) preservam etapas próprias não presentes no modelo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5623560" cy="4800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73352"/>
            <a:ext cx="5623560" cy="201168"/>
          </a:xfrm>
          <a:prstGeom prst="rect">
            <a:avLst/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Honduras (Minosa) — Incorporación · 10 etapas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01168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1. Confirmación de ingreso (RH)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2. Inducción General – 2 dias (RH, SSMA, Relaciones Comunitarias)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3. Firma e recepção de documentação → expediente físico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4. Creación del expediente digital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5. Asignación de recursos: uniforme, computadora, acessórios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6. Registro en plataformas institucionales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7. Inscripción en Clínica Ocupacional + seguros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8. Comunicación al líder inmediato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9. Inducción al puesto (líder; formato de inducción)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2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10. Seguimiento del período de prueba (formato de evaluación)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623560" cy="4800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41732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673352"/>
            <a:ext cx="5623560" cy="201168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17320"/>
            <a:ext cx="53035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Guatemala — Inducción de Personal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21208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Programação da Indução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Requisição de ferramentas, equipamento, transporte e alimentação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   Áreas: SSMA, Ambiente, Social, Seg. Patrimonial, Nómina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Documentação: contrato, EPP, acordos, entrega de equipamento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Inducción General e Inducción al Puesto (Forms, Outlook, Singular)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Evaluación do Programa de Inducción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Plan de Acción para cierre de brechas (quando necessário)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50"/>
              </a:spcAft>
            </a:pPr>
            <a:r>
              <a:rPr sz="919" b="0" i="0">
                <a:solidFill>
                  <a:srgbClr val="3A414C"/>
                </a:solidFill>
                <a:latin typeface="Calibri"/>
              </a:rPr>
              <a:t>•  Confirmación al puesto de trabajo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440680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ECE6F5"/>
          </a:solidFill>
          <a:ln w="1270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440680"/>
            <a:ext cx="49377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6B4C9A"/>
                </a:solidFill>
                <a:latin typeface="Calibri"/>
              </a:rPr>
              <a:t>LACUNA: </a:t>
            </a:r>
            <a:r>
              <a:rPr sz="900" b="0" i="0">
                <a:solidFill>
                  <a:srgbClr val="3A414C"/>
                </a:solidFill>
                <a:latin typeface="Calibri"/>
              </a:rPr>
              <a:t>o fluxo de R&amp;S (Procedimiento I e II) está apenas em imagens, sem texto extraível. Conteúdo não consolidável até ser fornecido.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212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6B4C9A"/>
                </a:solidFill>
                <a:latin typeface="Calibri"/>
              </a:rPr>
              <a:t>Sistemas: </a:t>
            </a:r>
            <a:r>
              <a:rPr sz="850" b="0" i="0">
                <a:solidFill>
                  <a:srgbClr val="6B7480"/>
                </a:solidFill>
                <a:latin typeface="Calibri"/>
              </a:rPr>
              <a:t>FreshService, Outlook, Forms, Singular.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Divergências, Inconsistências e Conflitos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Pontos que exigem decisão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Onde as apresentações se contradizem ou descrevem a mesma etapa de formas incompatíveis.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57432" cy="526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286000"/>
                <a:gridCol w="6309360"/>
                <a:gridCol w="2404872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45720" marT="18288" marB="18288" anchor="ctr">
                    <a:solidFill>
                      <a:srgbClr val="C050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Ponto do processo</a:t>
                      </a:r>
                    </a:p>
                  </a:txBody>
                  <a:tcPr marL="54864" marR="45720" marT="18288" marB="18288" anchor="ctr">
                    <a:solidFill>
                      <a:srgbClr val="C050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Divergência / conflito observado</a:t>
                      </a:r>
                    </a:p>
                  </a:txBody>
                  <a:tcPr marL="54864" marR="45720" marT="18288" marB="18288" anchor="ctr">
                    <a:solidFill>
                      <a:srgbClr val="C050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Unidades</a:t>
                      </a:r>
                    </a:p>
                  </a:txBody>
                  <a:tcPr marL="54864" marR="45720" marT="18288" marB="18288" anchor="ctr">
                    <a:solidFill>
                      <a:srgbClr val="C0504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Origem da requisição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Pandapé × Portal de Serviços (HUB RH) × DocuSign — inclusive divergência interna na própria Apoena (Almas usa Pandapé; Fluxo Original usa Portal).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Apoena · BBR · Serra Grande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Assinatura da proposta/contrato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GOV.BR × DocuSign × ambos — sem regra única de qual assinador é o oficial.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Apoena · BBR · Serra Grande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Triagem patrimonial vs. Conflito de Interesses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Nomenclatura “Triagem Patrimonial” × “Background Check”; Conflito de Interesses presente em Almas/BBR e ausente no Fluxo Original/base.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Apoena · BBR · Serra Grande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Sistema de folha / admissão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Linx (RH) × Linx via Vexia + Pipefy (terceirizado) × FPW/Forponto (DP) — sistemas e responsáveis diferentes para a mesma etapa.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Apoena · BBR · Serra Grande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Avaliação comportamental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Etapa formal apenas em Serra Grande (cargos sênior/críticos); ausente nas demais.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Serra Grande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Modelo de recrutamento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Fluxo único de 8 etapas (Brasil) × 3 rotas distintas por origem (Honduras) — estruturas de processo não equivalentes.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Brasil × Honduras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630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Avaliação psicométrica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Etapa obrigatória no modelo LATAM (PsicoSmart) e inexistente no Brasil.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A414C"/>
                          </a:solidFill>
                          <a:latin typeface="Calibri"/>
                        </a:rPr>
                        <a:t>Honduras × Brasil</a:t>
                      </a:r>
                    </a:p>
                  </a:txBody>
                  <a:tcPr marL="54864" marR="45720" marT="18288" marB="18288" anchor="ctr">
                    <a:solidFill>
                      <a:srgbClr val="F4DAD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Lacunas de Informação Identificadas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Pendências de levantamento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Pontos não documentados, incompletos ou “em revisão” que impedem o fechamento do padrão institucional.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128016" cy="146304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6B4C9A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2704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Guatemala — R&amp;S sem 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6596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14C"/>
                </a:solidFill>
                <a:latin typeface="Calibri"/>
              </a:rPr>
              <a:t>Procedimiento I e II estão apenas em imagens. O fluxo de R&amp;S não pôde ser consolidado; requer versão textual/editável.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41732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128016" cy="146304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554480"/>
            <a:ext cx="457200" cy="457200"/>
          </a:xfrm>
          <a:prstGeom prst="ellipse">
            <a:avLst/>
          </a:prstGeom>
          <a:solidFill>
            <a:srgbClr val="6B4C9A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52704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Serra Grande — programa em revisão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96596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14C"/>
                </a:solidFill>
                <a:latin typeface="Calibri"/>
              </a:rPr>
              <a:t>O “Programa On The Job – Área” consta como “em revisão no momento”; a etapa 9 do onboarding ainda não está estabilizada.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06324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63240"/>
            <a:ext cx="128016" cy="146304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6B4C9A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17296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Prazos / SLA não padronizados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1188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14C"/>
                </a:solidFill>
                <a:latin typeface="Calibri"/>
              </a:rPr>
              <a:t>A maioria das unidades não documenta prazos por etapa (ex.: dias de publicação, tempo de triagem, prazo de assinatura).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06324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063240"/>
            <a:ext cx="128016" cy="146304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37376" y="3200400"/>
            <a:ext cx="457200" cy="457200"/>
          </a:xfrm>
          <a:prstGeom prst="ellipse">
            <a:avLst/>
          </a:prstGeom>
          <a:solidFill>
            <a:srgbClr val="6B4C9A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317296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Pontos de decisão do modelo LATAM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61188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14C"/>
                </a:solidFill>
                <a:latin typeface="Calibri"/>
              </a:rPr>
              <a:t>Honduras/Guatemala não explicitam aprovações formais (RH Custos, Gestor) nos moldes do Brasil; papéis de aprovação pouco descritos.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70916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128016" cy="146304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846320"/>
            <a:ext cx="457200" cy="457200"/>
          </a:xfrm>
          <a:prstGeom prst="ellipse">
            <a:avLst/>
          </a:prstGeom>
          <a:solidFill>
            <a:srgbClr val="6B4C9A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1888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Papel do Pandapé não uniforme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25780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14C"/>
                </a:solidFill>
                <a:latin typeface="Calibri"/>
              </a:rPr>
              <a:t>Pandapé aparece ora como origem da requisição, ora apenas como canal de publicação — função do sistema não é consistente entre unidades.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70916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4709160"/>
            <a:ext cx="128016" cy="146304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37376" y="4846320"/>
            <a:ext cx="457200" cy="457200"/>
          </a:xfrm>
          <a:prstGeom prst="ellipse">
            <a:avLst/>
          </a:prstGeom>
          <a:solidFill>
            <a:srgbClr val="6B4C9A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81888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Conflito de Interesses incompleto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525780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14C"/>
                </a:solidFill>
                <a:latin typeface="Calibri"/>
              </a:rPr>
              <a:t>Nem todas as unidades documentam o formulário de Conflito de Interesses; onde existe, o critério de reprovação não é detalhado.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Resumo — Principais Diferenças entre 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Visão comparativa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Leitura rápida de onde cada unidade se afasta do padrão institucional.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57432" cy="449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514600"/>
                <a:gridCol w="2148840"/>
                <a:gridCol w="1691640"/>
                <a:gridCol w="2770632"/>
              </a:tblGrid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Unidade / País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Sistema de folha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Assinatura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Marca distintiva</a:t>
                      </a:r>
                    </a:p>
                  </a:txBody>
                  <a:tcPr marL="54864" marR="45720" marT="18288" marB="18288" anchor="ctr">
                    <a:solidFill>
                      <a:srgbClr val="16305C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Aura Apoena · BR</a:t>
                      </a:r>
                    </a:p>
                  </a:txBody>
                  <a:tcPr marL="54864" marR="45720" marT="18288" marB="18288" anchor="ctr">
                    <a:solidFill>
                      <a:srgbClr val="1F4E9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Fluxo padrão 8 etapas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Linx (RH)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GOV.BR / DocuSign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Conflito de Interesses; Kit e Guia de Boas-vindas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Aura Borborema · BR</a:t>
                      </a:r>
                    </a:p>
                  </a:txBody>
                  <a:tcPr marL="54864" marR="45720" marT="18288" marB="18288" anchor="ctr">
                    <a:solidFill>
                      <a:srgbClr val="0F7D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Fluxo padrão 8 etapas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Linx via Vexia + Pipefy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DocuSign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Admissão terceirizada; Introdutório de Mineração (2º/3º dia)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Aura Serra Grande · BR</a:t>
                      </a:r>
                    </a:p>
                  </a:txBody>
                  <a:tcPr marL="54864" marR="45720" marT="18288" marB="18288" anchor="ctr">
                    <a:solidFill>
                      <a:srgbClr val="D99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Fluxo padrão + av. comportamental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FPW/Forponto (DP)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GOV.BR / DocuSign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Avaliação comportamental; DP no cadastro e histórico funcional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Aura Minosa · Honduras</a:t>
                      </a:r>
                    </a:p>
                  </a:txBody>
                  <a:tcPr marL="54864" marR="45720" marT="18288" marB="18288" anchor="ctr">
                    <a:solidFill>
                      <a:srgbClr val="8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3 rotas por origem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Plataforma institucional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DocuSign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Psicométricas (PsicoSmart); visto bueno Relaciones Comunitarias</a:t>
                      </a:r>
                    </a:p>
                  </a:txBody>
                  <a:tcPr marL="54864" marR="45720" marT="18288" marB="18288" anchor="ctr">
                    <a:solidFill>
                      <a:srgbClr val="EEF3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Calibri"/>
                        </a:rPr>
                        <a:t>Aura Guatemala · Guatemala</a:t>
                      </a:r>
                    </a:p>
                  </a:txBody>
                  <a:tcPr marL="54864" marR="45720" marT="18288" marB="18288" anchor="ctr">
                    <a:solidFill>
                      <a:srgbClr val="6B4C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R&amp;S em imagens (lacuna)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Não informado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Não informado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A414C"/>
                          </a:solidFill>
                          <a:latin typeface="Calibri"/>
                        </a:rPr>
                        <a:t>Indução com cierre de brechas; sistema Singular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0" i="1">
                <a:solidFill>
                  <a:srgbClr val="6B7480"/>
                </a:solidFill>
                <a:latin typeface="Calibri"/>
              </a:rPr>
              <a:t>Os três negócios do Brasil compartilham o mesmo fluxo; as diferenças concentram-se em sistemas de folha, assinatura e programas de acompanhamento. A LATAM opera modelo próprio.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8778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Oportunidades de Padronização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0"/>
            <a:ext cx="30632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5B301"/>
                </a:solidFill>
                <a:latin typeface="Calibri"/>
              </a:rPr>
              <a:t>Recomendações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Onde a organização pode convergir para um padrão único, preservando exceções legítimas (ex.: exigências legais locais).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12801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2704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Origem única da requisição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6596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14C"/>
                </a:solidFill>
                <a:latin typeface="Calibri"/>
              </a:rPr>
              <a:t>Definir um sistema oficial de abertura de vaga (ex.: Pandapé) e o fluxo de aprovação padrão (Gestor + RH), eliminando Portal/DocuSign como origem.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41732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12801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55448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52704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Assinatura eletrônica unificada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96596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14C"/>
                </a:solidFill>
                <a:latin typeface="Calibri"/>
              </a:rPr>
              <a:t>Eleger um assinador oficial (GOV.BR ou DocuSign) e usar o outro apenas como contingência, com regra clara.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06324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63240"/>
            <a:ext cx="12801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17296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Background Check padronizado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1188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14C"/>
                </a:solidFill>
                <a:latin typeface="Calibri"/>
              </a:rPr>
              <a:t>Unificar nomenclatura e escopo: Triagem Patrimonial + Conflito de Interesses obrigatórios em todas as unidades, com critérios de reprovação.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06324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063240"/>
            <a:ext cx="12801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37376" y="32004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317296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Modelo de folha e responsáveis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61188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14C"/>
                </a:solidFill>
                <a:latin typeface="Calibri"/>
              </a:rPr>
              <a:t>Padronizar sistema de folha e definir quem executa a admissão (RH, DP ou parceiro), com SLA e checklist único.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70916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12801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8463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1888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Onboarding com base comum + módulos locais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25780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14C"/>
                </a:solidFill>
                <a:latin typeface="Calibri"/>
              </a:rPr>
              <a:t>Manter as 10 etapas como núcleo e tratar mineração/comunidades como módulos locais oficiais, não como variações informais.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70916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64008" dist="41148" dir="5400000" rotWithShape="0">
              <a:srgbClr val="1B2A4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4709160"/>
            <a:ext cx="12801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37376" y="48463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6576" dist="27432" dir="5400000" rotWithShape="0">
              <a:srgbClr val="1B2A44">
                <a:alpha val="1833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818888"/>
            <a:ext cx="47091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05C"/>
                </a:solidFill>
                <a:latin typeface="Calibri"/>
              </a:rPr>
              <a:t>Governança de prazos e documentação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5257800"/>
            <a:ext cx="4709160" cy="8046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14C"/>
                </a:solidFill>
                <a:latin typeface="Calibri"/>
              </a:rPr>
              <a:t>Definir SLA por etapa, completar o R&amp;S de Guatemala e estabilizar o programa de acompanhamento de Serra Grande.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7DCE4"/>
                </a:solidFill>
                <a:latin typeface="Calibri"/>
              </a:rPr>
              <a:t>Consolidação Institucional · R&amp;S e Onboarding · Aura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