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25196800" cy="1656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4" d="100"/>
          <a:sy n="24" d="100"/>
        </p:scale>
        <p:origin x="130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760" y="2710299"/>
            <a:ext cx="21417280" cy="5765612"/>
          </a:xfrm>
        </p:spPr>
        <p:txBody>
          <a:bodyPr anchor="b"/>
          <a:lstStyle>
            <a:lvl1pPr algn="ctr">
              <a:defRPr sz="1448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600" y="8698255"/>
            <a:ext cx="18897600" cy="3998359"/>
          </a:xfrm>
        </p:spPr>
        <p:txBody>
          <a:bodyPr/>
          <a:lstStyle>
            <a:lvl1pPr marL="0" indent="0" algn="ctr">
              <a:buNone/>
              <a:defRPr sz="5796"/>
            </a:lvl1pPr>
            <a:lvl2pPr marL="1104047" indent="0" algn="ctr">
              <a:buNone/>
              <a:defRPr sz="4830"/>
            </a:lvl2pPr>
            <a:lvl3pPr marL="2208093" indent="0" algn="ctr">
              <a:buNone/>
              <a:defRPr sz="4347"/>
            </a:lvl3pPr>
            <a:lvl4pPr marL="3312140" indent="0" algn="ctr">
              <a:buNone/>
              <a:defRPr sz="3864"/>
            </a:lvl4pPr>
            <a:lvl5pPr marL="4416186" indent="0" algn="ctr">
              <a:buNone/>
              <a:defRPr sz="3864"/>
            </a:lvl5pPr>
            <a:lvl6pPr marL="5520233" indent="0" algn="ctr">
              <a:buNone/>
              <a:defRPr sz="3864"/>
            </a:lvl6pPr>
            <a:lvl7pPr marL="6624279" indent="0" algn="ctr">
              <a:buNone/>
              <a:defRPr sz="3864"/>
            </a:lvl7pPr>
            <a:lvl8pPr marL="7728326" indent="0" algn="ctr">
              <a:buNone/>
              <a:defRPr sz="3864"/>
            </a:lvl8pPr>
            <a:lvl9pPr marL="8832372" indent="0" algn="ctr">
              <a:buNone/>
              <a:defRPr sz="3864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879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8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158" y="4128704"/>
            <a:ext cx="21732240" cy="6888832"/>
          </a:xfrm>
        </p:spPr>
        <p:txBody>
          <a:bodyPr anchor="b"/>
          <a:lstStyle>
            <a:lvl1pPr>
              <a:defRPr sz="1448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158" y="11082707"/>
            <a:ext cx="21732240" cy="3622674"/>
          </a:xfrm>
        </p:spPr>
        <p:txBody>
          <a:bodyPr/>
          <a:lstStyle>
            <a:lvl1pPr marL="0" indent="0">
              <a:buNone/>
              <a:defRPr sz="5796">
                <a:solidFill>
                  <a:schemeClr val="tx1">
                    <a:tint val="82000"/>
                  </a:schemeClr>
                </a:solidFill>
              </a:defRPr>
            </a:lvl1pPr>
            <a:lvl2pPr marL="1104047" indent="0">
              <a:buNone/>
              <a:defRPr sz="4830">
                <a:solidFill>
                  <a:schemeClr val="tx1">
                    <a:tint val="82000"/>
                  </a:schemeClr>
                </a:solidFill>
              </a:defRPr>
            </a:lvl2pPr>
            <a:lvl3pPr marL="2208093" indent="0">
              <a:buNone/>
              <a:defRPr sz="4347">
                <a:solidFill>
                  <a:schemeClr val="tx1">
                    <a:tint val="82000"/>
                  </a:schemeClr>
                </a:solidFill>
              </a:defRPr>
            </a:lvl3pPr>
            <a:lvl4pPr marL="3312140" indent="0">
              <a:buNone/>
              <a:defRPr sz="3864">
                <a:solidFill>
                  <a:schemeClr val="tx1">
                    <a:tint val="82000"/>
                  </a:schemeClr>
                </a:solidFill>
              </a:defRPr>
            </a:lvl4pPr>
            <a:lvl5pPr marL="4416186" indent="0">
              <a:buNone/>
              <a:defRPr sz="3864">
                <a:solidFill>
                  <a:schemeClr val="tx1">
                    <a:tint val="82000"/>
                  </a:schemeClr>
                </a:solidFill>
              </a:defRPr>
            </a:lvl5pPr>
            <a:lvl6pPr marL="5520233" indent="0">
              <a:buNone/>
              <a:defRPr sz="3864">
                <a:solidFill>
                  <a:schemeClr val="tx1">
                    <a:tint val="82000"/>
                  </a:schemeClr>
                </a:solidFill>
              </a:defRPr>
            </a:lvl6pPr>
            <a:lvl7pPr marL="6624279" indent="0">
              <a:buNone/>
              <a:defRPr sz="3864">
                <a:solidFill>
                  <a:schemeClr val="tx1">
                    <a:tint val="82000"/>
                  </a:schemeClr>
                </a:solidFill>
              </a:defRPr>
            </a:lvl7pPr>
            <a:lvl8pPr marL="7728326" indent="0">
              <a:buNone/>
              <a:defRPr sz="3864">
                <a:solidFill>
                  <a:schemeClr val="tx1">
                    <a:tint val="82000"/>
                  </a:schemeClr>
                </a:solidFill>
              </a:defRPr>
            </a:lvl8pPr>
            <a:lvl9pPr marL="8832372" indent="0">
              <a:buNone/>
              <a:defRPr sz="38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8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280" y="4408547"/>
            <a:ext cx="10708640" cy="105076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5880" y="4408547"/>
            <a:ext cx="10708640" cy="105076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0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562" y="881713"/>
            <a:ext cx="21732240" cy="320098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565" y="4059697"/>
            <a:ext cx="10659426" cy="1989595"/>
          </a:xfrm>
        </p:spPr>
        <p:txBody>
          <a:bodyPr anchor="b"/>
          <a:lstStyle>
            <a:lvl1pPr marL="0" indent="0">
              <a:buNone/>
              <a:defRPr sz="5796" b="1"/>
            </a:lvl1pPr>
            <a:lvl2pPr marL="1104047" indent="0">
              <a:buNone/>
              <a:defRPr sz="4830" b="1"/>
            </a:lvl2pPr>
            <a:lvl3pPr marL="2208093" indent="0">
              <a:buNone/>
              <a:defRPr sz="4347" b="1"/>
            </a:lvl3pPr>
            <a:lvl4pPr marL="3312140" indent="0">
              <a:buNone/>
              <a:defRPr sz="3864" b="1"/>
            </a:lvl4pPr>
            <a:lvl5pPr marL="4416186" indent="0">
              <a:buNone/>
              <a:defRPr sz="3864" b="1"/>
            </a:lvl5pPr>
            <a:lvl6pPr marL="5520233" indent="0">
              <a:buNone/>
              <a:defRPr sz="3864" b="1"/>
            </a:lvl6pPr>
            <a:lvl7pPr marL="6624279" indent="0">
              <a:buNone/>
              <a:defRPr sz="3864" b="1"/>
            </a:lvl7pPr>
            <a:lvl8pPr marL="7728326" indent="0">
              <a:buNone/>
              <a:defRPr sz="3864" b="1"/>
            </a:lvl8pPr>
            <a:lvl9pPr marL="8832372" indent="0">
              <a:buNone/>
              <a:defRPr sz="386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565" y="6049292"/>
            <a:ext cx="10659426" cy="88975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5881" y="4059697"/>
            <a:ext cx="10711922" cy="1989595"/>
          </a:xfrm>
        </p:spPr>
        <p:txBody>
          <a:bodyPr anchor="b"/>
          <a:lstStyle>
            <a:lvl1pPr marL="0" indent="0">
              <a:buNone/>
              <a:defRPr sz="5796" b="1"/>
            </a:lvl1pPr>
            <a:lvl2pPr marL="1104047" indent="0">
              <a:buNone/>
              <a:defRPr sz="4830" b="1"/>
            </a:lvl2pPr>
            <a:lvl3pPr marL="2208093" indent="0">
              <a:buNone/>
              <a:defRPr sz="4347" b="1"/>
            </a:lvl3pPr>
            <a:lvl4pPr marL="3312140" indent="0">
              <a:buNone/>
              <a:defRPr sz="3864" b="1"/>
            </a:lvl4pPr>
            <a:lvl5pPr marL="4416186" indent="0">
              <a:buNone/>
              <a:defRPr sz="3864" b="1"/>
            </a:lvl5pPr>
            <a:lvl6pPr marL="5520233" indent="0">
              <a:buNone/>
              <a:defRPr sz="3864" b="1"/>
            </a:lvl6pPr>
            <a:lvl7pPr marL="6624279" indent="0">
              <a:buNone/>
              <a:defRPr sz="3864" b="1"/>
            </a:lvl7pPr>
            <a:lvl8pPr marL="7728326" indent="0">
              <a:buNone/>
              <a:defRPr sz="3864" b="1"/>
            </a:lvl8pPr>
            <a:lvl9pPr marL="8832372" indent="0">
              <a:buNone/>
              <a:defRPr sz="386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5881" y="6049292"/>
            <a:ext cx="10711922" cy="88975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72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8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70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562" y="1104053"/>
            <a:ext cx="8126624" cy="3864187"/>
          </a:xfrm>
        </p:spPr>
        <p:txBody>
          <a:bodyPr anchor="b"/>
          <a:lstStyle>
            <a:lvl1pPr>
              <a:defRPr sz="772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1922" y="2384452"/>
            <a:ext cx="12755880" cy="11768902"/>
          </a:xfrm>
        </p:spPr>
        <p:txBody>
          <a:bodyPr/>
          <a:lstStyle>
            <a:lvl1pPr>
              <a:defRPr sz="7727"/>
            </a:lvl1pPr>
            <a:lvl2pPr>
              <a:defRPr sz="6761"/>
            </a:lvl2pPr>
            <a:lvl3pPr>
              <a:defRPr sz="5796"/>
            </a:lvl3pPr>
            <a:lvl4pPr>
              <a:defRPr sz="4830"/>
            </a:lvl4pPr>
            <a:lvl5pPr>
              <a:defRPr sz="4830"/>
            </a:lvl5pPr>
            <a:lvl6pPr>
              <a:defRPr sz="4830"/>
            </a:lvl6pPr>
            <a:lvl7pPr>
              <a:defRPr sz="4830"/>
            </a:lvl7pPr>
            <a:lvl8pPr>
              <a:defRPr sz="4830"/>
            </a:lvl8pPr>
            <a:lvl9pPr>
              <a:defRPr sz="483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562" y="4968240"/>
            <a:ext cx="8126624" cy="9204279"/>
          </a:xfrm>
        </p:spPr>
        <p:txBody>
          <a:bodyPr/>
          <a:lstStyle>
            <a:lvl1pPr marL="0" indent="0">
              <a:buNone/>
              <a:defRPr sz="3864"/>
            </a:lvl1pPr>
            <a:lvl2pPr marL="1104047" indent="0">
              <a:buNone/>
              <a:defRPr sz="3381"/>
            </a:lvl2pPr>
            <a:lvl3pPr marL="2208093" indent="0">
              <a:buNone/>
              <a:defRPr sz="2898"/>
            </a:lvl3pPr>
            <a:lvl4pPr marL="3312140" indent="0">
              <a:buNone/>
              <a:defRPr sz="2415"/>
            </a:lvl4pPr>
            <a:lvl5pPr marL="4416186" indent="0">
              <a:buNone/>
              <a:defRPr sz="2415"/>
            </a:lvl5pPr>
            <a:lvl6pPr marL="5520233" indent="0">
              <a:buNone/>
              <a:defRPr sz="2415"/>
            </a:lvl6pPr>
            <a:lvl7pPr marL="6624279" indent="0">
              <a:buNone/>
              <a:defRPr sz="2415"/>
            </a:lvl7pPr>
            <a:lvl8pPr marL="7728326" indent="0">
              <a:buNone/>
              <a:defRPr sz="2415"/>
            </a:lvl8pPr>
            <a:lvl9pPr marL="8832372" indent="0">
              <a:buNone/>
              <a:defRPr sz="241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84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562" y="1104053"/>
            <a:ext cx="8126624" cy="3864187"/>
          </a:xfrm>
        </p:spPr>
        <p:txBody>
          <a:bodyPr anchor="b"/>
          <a:lstStyle>
            <a:lvl1pPr>
              <a:defRPr sz="772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1922" y="2384452"/>
            <a:ext cx="12755880" cy="11768902"/>
          </a:xfrm>
        </p:spPr>
        <p:txBody>
          <a:bodyPr anchor="t"/>
          <a:lstStyle>
            <a:lvl1pPr marL="0" indent="0">
              <a:buNone/>
              <a:defRPr sz="7727"/>
            </a:lvl1pPr>
            <a:lvl2pPr marL="1104047" indent="0">
              <a:buNone/>
              <a:defRPr sz="6761"/>
            </a:lvl2pPr>
            <a:lvl3pPr marL="2208093" indent="0">
              <a:buNone/>
              <a:defRPr sz="5796"/>
            </a:lvl3pPr>
            <a:lvl4pPr marL="3312140" indent="0">
              <a:buNone/>
              <a:defRPr sz="4830"/>
            </a:lvl4pPr>
            <a:lvl5pPr marL="4416186" indent="0">
              <a:buNone/>
              <a:defRPr sz="4830"/>
            </a:lvl5pPr>
            <a:lvl6pPr marL="5520233" indent="0">
              <a:buNone/>
              <a:defRPr sz="4830"/>
            </a:lvl6pPr>
            <a:lvl7pPr marL="6624279" indent="0">
              <a:buNone/>
              <a:defRPr sz="4830"/>
            </a:lvl7pPr>
            <a:lvl8pPr marL="7728326" indent="0">
              <a:buNone/>
              <a:defRPr sz="4830"/>
            </a:lvl8pPr>
            <a:lvl9pPr marL="8832372" indent="0">
              <a:buNone/>
              <a:defRPr sz="483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562" y="4968240"/>
            <a:ext cx="8126624" cy="9204279"/>
          </a:xfrm>
        </p:spPr>
        <p:txBody>
          <a:bodyPr/>
          <a:lstStyle>
            <a:lvl1pPr marL="0" indent="0">
              <a:buNone/>
              <a:defRPr sz="3864"/>
            </a:lvl1pPr>
            <a:lvl2pPr marL="1104047" indent="0">
              <a:buNone/>
              <a:defRPr sz="3381"/>
            </a:lvl2pPr>
            <a:lvl3pPr marL="2208093" indent="0">
              <a:buNone/>
              <a:defRPr sz="2898"/>
            </a:lvl3pPr>
            <a:lvl4pPr marL="3312140" indent="0">
              <a:buNone/>
              <a:defRPr sz="2415"/>
            </a:lvl4pPr>
            <a:lvl5pPr marL="4416186" indent="0">
              <a:buNone/>
              <a:defRPr sz="2415"/>
            </a:lvl5pPr>
            <a:lvl6pPr marL="5520233" indent="0">
              <a:buNone/>
              <a:defRPr sz="2415"/>
            </a:lvl6pPr>
            <a:lvl7pPr marL="6624279" indent="0">
              <a:buNone/>
              <a:defRPr sz="2415"/>
            </a:lvl7pPr>
            <a:lvl8pPr marL="7728326" indent="0">
              <a:buNone/>
              <a:defRPr sz="2415"/>
            </a:lvl8pPr>
            <a:lvl9pPr marL="8832372" indent="0">
              <a:buNone/>
              <a:defRPr sz="241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68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27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1461" y="881709"/>
            <a:ext cx="5433060" cy="1403451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281" y="881709"/>
            <a:ext cx="15984220" cy="1403451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280" y="881713"/>
            <a:ext cx="21732240" cy="3200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280" y="4408547"/>
            <a:ext cx="21732240" cy="1050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280" y="15349412"/>
            <a:ext cx="5669280" cy="881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6440" y="15349412"/>
            <a:ext cx="8503920" cy="881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5240" y="15349412"/>
            <a:ext cx="5669280" cy="881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0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208093" rtl="0" eaLnBrk="1" latinLnBrk="0" hangingPunct="1">
        <a:lnSpc>
          <a:spcPct val="90000"/>
        </a:lnSpc>
        <a:spcBef>
          <a:spcPct val="0"/>
        </a:spcBef>
        <a:buNone/>
        <a:defRPr sz="106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2023" indent="-552023" algn="l" defTabSz="2208093" rtl="0" eaLnBrk="1" latinLnBrk="0" hangingPunct="1">
        <a:lnSpc>
          <a:spcPct val="90000"/>
        </a:lnSpc>
        <a:spcBef>
          <a:spcPts val="2415"/>
        </a:spcBef>
        <a:buFont typeface="Arial" panose="020B0604020202020204" pitchFamily="34" charset="0"/>
        <a:buChar char="•"/>
        <a:defRPr sz="6761" kern="1200">
          <a:solidFill>
            <a:schemeClr val="tx1"/>
          </a:solidFill>
          <a:latin typeface="+mn-lt"/>
          <a:ea typeface="+mn-ea"/>
          <a:cs typeface="+mn-cs"/>
        </a:defRPr>
      </a:lvl1pPr>
      <a:lvl2pPr marL="1656070" indent="-552023" algn="l" defTabSz="2208093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5796" kern="1200">
          <a:solidFill>
            <a:schemeClr val="tx1"/>
          </a:solidFill>
          <a:latin typeface="+mn-lt"/>
          <a:ea typeface="+mn-ea"/>
          <a:cs typeface="+mn-cs"/>
        </a:defRPr>
      </a:lvl2pPr>
      <a:lvl3pPr marL="2760116" indent="-552023" algn="l" defTabSz="2208093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4830" kern="1200">
          <a:solidFill>
            <a:schemeClr val="tx1"/>
          </a:solidFill>
          <a:latin typeface="+mn-lt"/>
          <a:ea typeface="+mn-ea"/>
          <a:cs typeface="+mn-cs"/>
        </a:defRPr>
      </a:lvl3pPr>
      <a:lvl4pPr marL="3864163" indent="-552023" algn="l" defTabSz="2208093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4347" kern="1200">
          <a:solidFill>
            <a:schemeClr val="tx1"/>
          </a:solidFill>
          <a:latin typeface="+mn-lt"/>
          <a:ea typeface="+mn-ea"/>
          <a:cs typeface="+mn-cs"/>
        </a:defRPr>
      </a:lvl4pPr>
      <a:lvl5pPr marL="4968210" indent="-552023" algn="l" defTabSz="2208093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4347" kern="1200">
          <a:solidFill>
            <a:schemeClr val="tx1"/>
          </a:solidFill>
          <a:latin typeface="+mn-lt"/>
          <a:ea typeface="+mn-ea"/>
          <a:cs typeface="+mn-cs"/>
        </a:defRPr>
      </a:lvl5pPr>
      <a:lvl6pPr marL="6072256" indent="-552023" algn="l" defTabSz="2208093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4347" kern="1200">
          <a:solidFill>
            <a:schemeClr val="tx1"/>
          </a:solidFill>
          <a:latin typeface="+mn-lt"/>
          <a:ea typeface="+mn-ea"/>
          <a:cs typeface="+mn-cs"/>
        </a:defRPr>
      </a:lvl6pPr>
      <a:lvl7pPr marL="7176303" indent="-552023" algn="l" defTabSz="2208093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4347" kern="1200">
          <a:solidFill>
            <a:schemeClr val="tx1"/>
          </a:solidFill>
          <a:latin typeface="+mn-lt"/>
          <a:ea typeface="+mn-ea"/>
          <a:cs typeface="+mn-cs"/>
        </a:defRPr>
      </a:lvl7pPr>
      <a:lvl8pPr marL="8280349" indent="-552023" algn="l" defTabSz="2208093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4347" kern="1200">
          <a:solidFill>
            <a:schemeClr val="tx1"/>
          </a:solidFill>
          <a:latin typeface="+mn-lt"/>
          <a:ea typeface="+mn-ea"/>
          <a:cs typeface="+mn-cs"/>
        </a:defRPr>
      </a:lvl8pPr>
      <a:lvl9pPr marL="9384396" indent="-552023" algn="l" defTabSz="2208093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43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08093" rtl="0" eaLnBrk="1" latinLnBrk="0" hangingPunct="1">
        <a:defRPr sz="4347" kern="1200">
          <a:solidFill>
            <a:schemeClr val="tx1"/>
          </a:solidFill>
          <a:latin typeface="+mn-lt"/>
          <a:ea typeface="+mn-ea"/>
          <a:cs typeface="+mn-cs"/>
        </a:defRPr>
      </a:lvl1pPr>
      <a:lvl2pPr marL="1104047" algn="l" defTabSz="2208093" rtl="0" eaLnBrk="1" latinLnBrk="0" hangingPunct="1">
        <a:defRPr sz="4347" kern="1200">
          <a:solidFill>
            <a:schemeClr val="tx1"/>
          </a:solidFill>
          <a:latin typeface="+mn-lt"/>
          <a:ea typeface="+mn-ea"/>
          <a:cs typeface="+mn-cs"/>
        </a:defRPr>
      </a:lvl2pPr>
      <a:lvl3pPr marL="2208093" algn="l" defTabSz="2208093" rtl="0" eaLnBrk="1" latinLnBrk="0" hangingPunct="1">
        <a:defRPr sz="4347" kern="1200">
          <a:solidFill>
            <a:schemeClr val="tx1"/>
          </a:solidFill>
          <a:latin typeface="+mn-lt"/>
          <a:ea typeface="+mn-ea"/>
          <a:cs typeface="+mn-cs"/>
        </a:defRPr>
      </a:lvl3pPr>
      <a:lvl4pPr marL="3312140" algn="l" defTabSz="2208093" rtl="0" eaLnBrk="1" latinLnBrk="0" hangingPunct="1">
        <a:defRPr sz="4347" kern="1200">
          <a:solidFill>
            <a:schemeClr val="tx1"/>
          </a:solidFill>
          <a:latin typeface="+mn-lt"/>
          <a:ea typeface="+mn-ea"/>
          <a:cs typeface="+mn-cs"/>
        </a:defRPr>
      </a:lvl4pPr>
      <a:lvl5pPr marL="4416186" algn="l" defTabSz="2208093" rtl="0" eaLnBrk="1" latinLnBrk="0" hangingPunct="1">
        <a:defRPr sz="4347" kern="1200">
          <a:solidFill>
            <a:schemeClr val="tx1"/>
          </a:solidFill>
          <a:latin typeface="+mn-lt"/>
          <a:ea typeface="+mn-ea"/>
          <a:cs typeface="+mn-cs"/>
        </a:defRPr>
      </a:lvl5pPr>
      <a:lvl6pPr marL="5520233" algn="l" defTabSz="2208093" rtl="0" eaLnBrk="1" latinLnBrk="0" hangingPunct="1">
        <a:defRPr sz="4347" kern="1200">
          <a:solidFill>
            <a:schemeClr val="tx1"/>
          </a:solidFill>
          <a:latin typeface="+mn-lt"/>
          <a:ea typeface="+mn-ea"/>
          <a:cs typeface="+mn-cs"/>
        </a:defRPr>
      </a:lvl6pPr>
      <a:lvl7pPr marL="6624279" algn="l" defTabSz="2208093" rtl="0" eaLnBrk="1" latinLnBrk="0" hangingPunct="1">
        <a:defRPr sz="4347" kern="1200">
          <a:solidFill>
            <a:schemeClr val="tx1"/>
          </a:solidFill>
          <a:latin typeface="+mn-lt"/>
          <a:ea typeface="+mn-ea"/>
          <a:cs typeface="+mn-cs"/>
        </a:defRPr>
      </a:lvl7pPr>
      <a:lvl8pPr marL="7728326" algn="l" defTabSz="2208093" rtl="0" eaLnBrk="1" latinLnBrk="0" hangingPunct="1">
        <a:defRPr sz="4347" kern="1200">
          <a:solidFill>
            <a:schemeClr val="tx1"/>
          </a:solidFill>
          <a:latin typeface="+mn-lt"/>
          <a:ea typeface="+mn-ea"/>
          <a:cs typeface="+mn-cs"/>
        </a:defRPr>
      </a:lvl8pPr>
      <a:lvl9pPr marL="8832372" algn="l" defTabSz="2208093" rtl="0" eaLnBrk="1" latinLnBrk="0" hangingPunct="1">
        <a:defRPr sz="43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wave"/>
          <p:cNvSpPr/>
          <p:nvPr/>
        </p:nvSpPr>
        <p:spPr>
          <a:xfrm>
            <a:off x="0" y="14242288"/>
            <a:ext cx="25196800" cy="2318512"/>
          </a:xfrm>
          <a:custGeom>
            <a:avLst/>
            <a:gdLst/>
            <a:ahLst/>
            <a:cxnLst/>
            <a:rect l="l" t="t" r="r" b="b"/>
            <a:pathLst>
              <a:path w="25196800" h="2318512">
                <a:moveTo>
                  <a:pt x="0" y="1043330"/>
                </a:moveTo>
                <a:cubicBezTo>
                  <a:pt x="6299200" y="115925"/>
                  <a:pt x="13858240" y="1738884"/>
                  <a:pt x="25196800" y="695553"/>
                </a:cubicBezTo>
                <a:lnTo>
                  <a:pt x="25196800" y="2318512"/>
                </a:lnTo>
                <a:lnTo>
                  <a:pt x="0" y="2318512"/>
                </a:lnTo>
                <a:close/>
              </a:path>
            </a:pathLst>
          </a:custGeom>
          <a:solidFill>
            <a:srgbClr val="DCE6F5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s-HN"/>
          </a:p>
        </p:txBody>
      </p:sp>
      <p:sp>
        <p:nvSpPr>
          <p:cNvPr id="123" name="arrow"/>
          <p:cNvSpPr/>
          <p:nvPr/>
        </p:nvSpPr>
        <p:spPr>
          <a:xfrm>
            <a:off x="2998474" y="5563459"/>
            <a:ext cx="868912" cy="1"/>
          </a:xfrm>
          <a:custGeom>
            <a:avLst/>
            <a:gdLst/>
            <a:ahLst/>
            <a:cxnLst/>
            <a:rect l="l" t="t" r="r" b="b"/>
            <a:pathLst>
              <a:path w="718109" h="1" fill="none">
                <a:moveTo>
                  <a:pt x="0" y="0"/>
                </a:moveTo>
                <a:lnTo>
                  <a:pt x="718109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24" name="arrow"/>
          <p:cNvSpPr/>
          <p:nvPr/>
        </p:nvSpPr>
        <p:spPr>
          <a:xfrm>
            <a:off x="7165575" y="5563460"/>
            <a:ext cx="670739" cy="1"/>
          </a:xfrm>
          <a:custGeom>
            <a:avLst/>
            <a:gdLst/>
            <a:ahLst/>
            <a:cxnLst/>
            <a:rect l="l" t="t" r="r" b="b"/>
            <a:pathLst>
              <a:path w="554330" h="1" fill="none">
                <a:moveTo>
                  <a:pt x="0" y="0"/>
                </a:moveTo>
                <a:lnTo>
                  <a:pt x="554330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25" name="arrow"/>
          <p:cNvSpPr/>
          <p:nvPr/>
        </p:nvSpPr>
        <p:spPr>
          <a:xfrm>
            <a:off x="10927832" y="5563459"/>
            <a:ext cx="1021352" cy="1"/>
          </a:xfrm>
          <a:custGeom>
            <a:avLst/>
            <a:gdLst/>
            <a:ahLst/>
            <a:cxnLst/>
            <a:rect l="l" t="t" r="r" b="b"/>
            <a:pathLst>
              <a:path w="844093" h="1" fill="none">
                <a:moveTo>
                  <a:pt x="0" y="0"/>
                </a:moveTo>
                <a:lnTo>
                  <a:pt x="844093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26" name="arrow"/>
          <p:cNvSpPr/>
          <p:nvPr/>
        </p:nvSpPr>
        <p:spPr>
          <a:xfrm>
            <a:off x="15245554" y="5561579"/>
            <a:ext cx="1631115" cy="1"/>
          </a:xfrm>
          <a:custGeom>
            <a:avLst/>
            <a:gdLst/>
            <a:ahLst/>
            <a:cxnLst/>
            <a:rect l="l" t="t" r="r" b="b"/>
            <a:pathLst>
              <a:path w="1348029" h="1" fill="none">
                <a:moveTo>
                  <a:pt x="0" y="0"/>
                </a:moveTo>
                <a:lnTo>
                  <a:pt x="1348029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27" name="arrow"/>
          <p:cNvSpPr/>
          <p:nvPr/>
        </p:nvSpPr>
        <p:spPr>
          <a:xfrm>
            <a:off x="20011455" y="5636769"/>
            <a:ext cx="2393318" cy="1"/>
          </a:xfrm>
          <a:custGeom>
            <a:avLst/>
            <a:gdLst/>
            <a:ahLst/>
            <a:cxnLst/>
            <a:rect l="l" t="t" r="r" b="b"/>
            <a:pathLst>
              <a:path w="1977949" h="1" fill="none">
                <a:moveTo>
                  <a:pt x="0" y="0"/>
                </a:moveTo>
                <a:lnTo>
                  <a:pt x="1977949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28" name="arrow"/>
          <p:cNvSpPr/>
          <p:nvPr/>
        </p:nvSpPr>
        <p:spPr>
          <a:xfrm>
            <a:off x="13824294" y="6992123"/>
            <a:ext cx="1" cy="715125"/>
          </a:xfrm>
          <a:custGeom>
            <a:avLst/>
            <a:gdLst/>
            <a:ahLst/>
            <a:cxnLst/>
            <a:rect l="l" t="t" r="r" b="b"/>
            <a:pathLst>
              <a:path w="1" h="786638" fill="none">
                <a:moveTo>
                  <a:pt x="0" y="0"/>
                </a:moveTo>
                <a:lnTo>
                  <a:pt x="0" y="786638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29" name="arrow"/>
          <p:cNvSpPr/>
          <p:nvPr/>
        </p:nvSpPr>
        <p:spPr>
          <a:xfrm>
            <a:off x="1518509" y="10287052"/>
            <a:ext cx="12474557" cy="1731356"/>
          </a:xfrm>
          <a:custGeom>
            <a:avLst/>
            <a:gdLst/>
            <a:ahLst/>
            <a:cxnLst/>
            <a:rect l="l" t="t" r="r" b="b"/>
            <a:pathLst>
              <a:path w="9952736" h="1904492" fill="none">
                <a:moveTo>
                  <a:pt x="9952736" y="0"/>
                </a:moveTo>
                <a:lnTo>
                  <a:pt x="9952736" y="993648"/>
                </a:lnTo>
                <a:lnTo>
                  <a:pt x="0" y="993648"/>
                </a:lnTo>
                <a:lnTo>
                  <a:pt x="0" y="1904492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30" name="arrow"/>
          <p:cNvSpPr/>
          <p:nvPr/>
        </p:nvSpPr>
        <p:spPr>
          <a:xfrm flipV="1">
            <a:off x="3899354" y="13069051"/>
            <a:ext cx="1212745" cy="195181"/>
          </a:xfrm>
          <a:custGeom>
            <a:avLst/>
            <a:gdLst/>
            <a:ahLst/>
            <a:cxnLst/>
            <a:rect l="l" t="t" r="r" b="b"/>
            <a:pathLst>
              <a:path w="1436218" h="1" fill="none">
                <a:moveTo>
                  <a:pt x="0" y="0"/>
                </a:moveTo>
                <a:lnTo>
                  <a:pt x="1436218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31" name="arrow"/>
          <p:cNvSpPr/>
          <p:nvPr/>
        </p:nvSpPr>
        <p:spPr>
          <a:xfrm flipV="1">
            <a:off x="8308794" y="13218513"/>
            <a:ext cx="1212745" cy="45719"/>
          </a:xfrm>
          <a:custGeom>
            <a:avLst/>
            <a:gdLst/>
            <a:ahLst/>
            <a:cxnLst/>
            <a:rect l="l" t="t" r="r" b="b"/>
            <a:pathLst>
              <a:path w="1436218" h="1" fill="none">
                <a:moveTo>
                  <a:pt x="0" y="0"/>
                </a:moveTo>
                <a:lnTo>
                  <a:pt x="1436218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32" name="arrow"/>
          <p:cNvSpPr/>
          <p:nvPr/>
        </p:nvSpPr>
        <p:spPr>
          <a:xfrm flipV="1">
            <a:off x="12718234" y="13169867"/>
            <a:ext cx="1212745" cy="94365"/>
          </a:xfrm>
          <a:custGeom>
            <a:avLst/>
            <a:gdLst/>
            <a:ahLst/>
            <a:cxnLst/>
            <a:rect l="l" t="t" r="r" b="b"/>
            <a:pathLst>
              <a:path w="1436218" h="1" fill="none">
                <a:moveTo>
                  <a:pt x="0" y="0"/>
                </a:moveTo>
                <a:lnTo>
                  <a:pt x="1436218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33" name="arrow"/>
          <p:cNvSpPr/>
          <p:nvPr/>
        </p:nvSpPr>
        <p:spPr>
          <a:xfrm>
            <a:off x="17127674" y="13264232"/>
            <a:ext cx="1274833" cy="45719"/>
          </a:xfrm>
          <a:custGeom>
            <a:avLst/>
            <a:gdLst/>
            <a:ahLst/>
            <a:cxnLst/>
            <a:rect l="l" t="t" r="r" b="b"/>
            <a:pathLst>
              <a:path w="1436218" h="1" fill="none">
                <a:moveTo>
                  <a:pt x="0" y="0"/>
                </a:moveTo>
                <a:lnTo>
                  <a:pt x="1436218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34" name="arrow"/>
          <p:cNvSpPr/>
          <p:nvPr/>
        </p:nvSpPr>
        <p:spPr>
          <a:xfrm>
            <a:off x="21599287" y="13264232"/>
            <a:ext cx="1021352" cy="1"/>
          </a:xfrm>
          <a:custGeom>
            <a:avLst/>
            <a:gdLst/>
            <a:ahLst/>
            <a:cxnLst/>
            <a:rect l="l" t="t" r="r" b="b"/>
            <a:pathLst>
              <a:path w="844093" h="1" fill="none">
                <a:moveTo>
                  <a:pt x="0" y="0"/>
                </a:moveTo>
                <a:lnTo>
                  <a:pt x="844093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04" name="proc"/>
          <p:cNvSpPr/>
          <p:nvPr/>
        </p:nvSpPr>
        <p:spPr>
          <a:xfrm>
            <a:off x="3884581" y="4509591"/>
            <a:ext cx="3597598" cy="21077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Solicitud de Personal por Fresh Service</a:t>
            </a:r>
          </a:p>
        </p:txBody>
      </p:sp>
      <p:sp>
        <p:nvSpPr>
          <p:cNvPr id="105" name="proc"/>
          <p:cNvSpPr/>
          <p:nvPr/>
        </p:nvSpPr>
        <p:spPr>
          <a:xfrm>
            <a:off x="7846023" y="4514322"/>
            <a:ext cx="3597598" cy="21077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Publicar la vacante con el personal por correo electrónico. </a:t>
            </a:r>
          </a:p>
        </p:txBody>
      </p:sp>
      <p:sp>
        <p:nvSpPr>
          <p:cNvPr id="106" name="dec"/>
          <p:cNvSpPr/>
          <p:nvPr/>
        </p:nvSpPr>
        <p:spPr>
          <a:xfrm>
            <a:off x="12025495" y="4172703"/>
            <a:ext cx="3597598" cy="2785225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¿Hay candidatos internos?</a:t>
            </a:r>
          </a:p>
        </p:txBody>
      </p:sp>
      <p:sp>
        <p:nvSpPr>
          <p:cNvPr id="107" name="proc"/>
          <p:cNvSpPr/>
          <p:nvPr/>
        </p:nvSpPr>
        <p:spPr>
          <a:xfrm>
            <a:off x="17139037" y="4392913"/>
            <a:ext cx="3597598" cy="21077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Reclutamiento externo en comunidades</a:t>
            </a:r>
          </a:p>
        </p:txBody>
      </p:sp>
      <p:sp>
        <p:nvSpPr>
          <p:cNvPr id="108" name="proc"/>
          <p:cNvSpPr/>
          <p:nvPr/>
        </p:nvSpPr>
        <p:spPr>
          <a:xfrm>
            <a:off x="12209311" y="8174267"/>
            <a:ext cx="3597598" cy="21077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Recepción de hojas de aplicación en oficina de RRHH</a:t>
            </a:r>
          </a:p>
        </p:txBody>
      </p:sp>
      <p:sp>
        <p:nvSpPr>
          <p:cNvPr id="109" name="proc"/>
          <p:cNvSpPr/>
          <p:nvPr/>
        </p:nvSpPr>
        <p:spPr>
          <a:xfrm>
            <a:off x="764747" y="12210363"/>
            <a:ext cx="3597598" cy="21077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Programar entrevistas con el líder del área</a:t>
            </a:r>
          </a:p>
        </p:txBody>
      </p:sp>
      <p:sp>
        <p:nvSpPr>
          <p:cNvPr id="110" name="proc"/>
          <p:cNvSpPr/>
          <p:nvPr/>
        </p:nvSpPr>
        <p:spPr>
          <a:xfrm>
            <a:off x="5174187" y="12210363"/>
            <a:ext cx="3597598" cy="21077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Selección del candidato más apto con el encargado del área</a:t>
            </a:r>
          </a:p>
        </p:txBody>
      </p:sp>
      <p:sp>
        <p:nvSpPr>
          <p:cNvPr id="111" name="proc"/>
          <p:cNvSpPr/>
          <p:nvPr/>
        </p:nvSpPr>
        <p:spPr>
          <a:xfrm>
            <a:off x="9583627" y="12210363"/>
            <a:ext cx="3597598" cy="21077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Cuadro comparativo de aptitudes de los candidatos. Formato de Excel. </a:t>
            </a:r>
          </a:p>
        </p:txBody>
      </p:sp>
      <p:sp>
        <p:nvSpPr>
          <p:cNvPr id="112" name="proc"/>
          <p:cNvSpPr/>
          <p:nvPr/>
        </p:nvSpPr>
        <p:spPr>
          <a:xfrm>
            <a:off x="13993067" y="12210363"/>
            <a:ext cx="3597598" cy="21077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Proceso de reclasificación por Fresh Service. </a:t>
            </a:r>
          </a:p>
        </p:txBody>
      </p:sp>
      <p:sp>
        <p:nvSpPr>
          <p:cNvPr id="113" name="proc"/>
          <p:cNvSpPr/>
          <p:nvPr/>
        </p:nvSpPr>
        <p:spPr>
          <a:xfrm>
            <a:off x="18402507" y="12210363"/>
            <a:ext cx="3597598" cy="21077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Gestionar con SST inducción al puesto por correo electrónico. </a:t>
            </a:r>
          </a:p>
        </p:txBody>
      </p:sp>
      <p:sp>
        <p:nvSpPr>
          <p:cNvPr id="101" name="pill"/>
          <p:cNvSpPr/>
          <p:nvPr/>
        </p:nvSpPr>
        <p:spPr>
          <a:xfrm>
            <a:off x="389788" y="4998888"/>
            <a:ext cx="2591491" cy="1129145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INICIO</a:t>
            </a:r>
          </a:p>
        </p:txBody>
      </p:sp>
      <p:sp>
        <p:nvSpPr>
          <p:cNvPr id="102" name="pill"/>
          <p:cNvSpPr/>
          <p:nvPr/>
        </p:nvSpPr>
        <p:spPr>
          <a:xfrm>
            <a:off x="22404773" y="5136643"/>
            <a:ext cx="2214963" cy="1129145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FIN</a:t>
            </a:r>
          </a:p>
        </p:txBody>
      </p:sp>
      <p:sp>
        <p:nvSpPr>
          <p:cNvPr id="103" name="pill"/>
          <p:cNvSpPr/>
          <p:nvPr/>
        </p:nvSpPr>
        <p:spPr>
          <a:xfrm>
            <a:off x="22803104" y="12646974"/>
            <a:ext cx="2140769" cy="1129145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FIN</a:t>
            </a:r>
          </a:p>
        </p:txBody>
      </p:sp>
      <p:sp>
        <p:nvSpPr>
          <p:cNvPr id="114" name="num"/>
          <p:cNvSpPr/>
          <p:nvPr/>
        </p:nvSpPr>
        <p:spPr>
          <a:xfrm>
            <a:off x="5055209" y="4172703"/>
            <a:ext cx="1001928" cy="752764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5" name="num"/>
          <p:cNvSpPr/>
          <p:nvPr/>
        </p:nvSpPr>
        <p:spPr>
          <a:xfrm>
            <a:off x="8893673" y="4083527"/>
            <a:ext cx="1001928" cy="752764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6" name="num"/>
          <p:cNvSpPr/>
          <p:nvPr/>
        </p:nvSpPr>
        <p:spPr>
          <a:xfrm>
            <a:off x="13394708" y="3864365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ES" sz="2800" b="1" dirty="0">
                <a:solidFill>
                  <a:srgbClr val="FFFFFF"/>
                </a:solidFill>
                <a:latin typeface="Calibri"/>
              </a:rPr>
              <a:t>3</a:t>
            </a:r>
            <a:endParaRPr lang="es-HN"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7" name="num"/>
          <p:cNvSpPr/>
          <p:nvPr/>
        </p:nvSpPr>
        <p:spPr>
          <a:xfrm>
            <a:off x="13367640" y="7801208"/>
            <a:ext cx="1001928" cy="752764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8" name="num"/>
          <p:cNvSpPr/>
          <p:nvPr/>
        </p:nvSpPr>
        <p:spPr>
          <a:xfrm>
            <a:off x="2062582" y="11728594"/>
            <a:ext cx="1001928" cy="752764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9" name="num"/>
          <p:cNvSpPr/>
          <p:nvPr/>
        </p:nvSpPr>
        <p:spPr>
          <a:xfrm>
            <a:off x="6472022" y="11728594"/>
            <a:ext cx="1001928" cy="752764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20" name="num"/>
          <p:cNvSpPr/>
          <p:nvPr/>
        </p:nvSpPr>
        <p:spPr>
          <a:xfrm>
            <a:off x="10881462" y="11728594"/>
            <a:ext cx="1001928" cy="752764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21" name="num"/>
          <p:cNvSpPr/>
          <p:nvPr/>
        </p:nvSpPr>
        <p:spPr>
          <a:xfrm>
            <a:off x="15290902" y="11728594"/>
            <a:ext cx="1001928" cy="752764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22" name="num"/>
          <p:cNvSpPr/>
          <p:nvPr/>
        </p:nvSpPr>
        <p:spPr>
          <a:xfrm>
            <a:off x="19700342" y="11728594"/>
            <a:ext cx="1001928" cy="752764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35" name="lbl"/>
          <p:cNvSpPr/>
          <p:nvPr/>
        </p:nvSpPr>
        <p:spPr>
          <a:xfrm>
            <a:off x="15603268" y="4833824"/>
            <a:ext cx="1524406" cy="526935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r>
              <a:rPr lang="es-HN" sz="3600" b="1" dirty="0">
                <a:solidFill>
                  <a:srgbClr val="E1251B"/>
                </a:solidFill>
                <a:latin typeface="Calibri"/>
              </a:rPr>
              <a:t>No</a:t>
            </a:r>
          </a:p>
        </p:txBody>
      </p:sp>
      <p:sp>
        <p:nvSpPr>
          <p:cNvPr id="136" name="lbl"/>
          <p:cNvSpPr/>
          <p:nvPr/>
        </p:nvSpPr>
        <p:spPr>
          <a:xfrm>
            <a:off x="13641263" y="6860544"/>
            <a:ext cx="2279261" cy="11065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3600" b="1" dirty="0">
                <a:solidFill>
                  <a:srgbClr val="2E9E4F"/>
                </a:solidFill>
                <a:latin typeface="Calibri"/>
              </a:rPr>
              <a:t>Sí</a:t>
            </a:r>
          </a:p>
        </p:txBody>
      </p:sp>
      <p:sp>
        <p:nvSpPr>
          <p:cNvPr id="141" name="txt"/>
          <p:cNvSpPr txBox="1"/>
          <p:nvPr/>
        </p:nvSpPr>
        <p:spPr>
          <a:xfrm>
            <a:off x="4812621" y="663129"/>
            <a:ext cx="15118080" cy="1242060"/>
          </a:xfrm>
          <a:prstGeom prst="rect">
            <a:avLst/>
          </a:prstGeom>
          <a:noFill/>
        </p:spPr>
        <p:txBody>
          <a:bodyPr wrap="square" lIns="9144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HN" sz="5500" b="1" dirty="0">
                <a:solidFill>
                  <a:srgbClr val="13294B"/>
                </a:solidFill>
                <a:latin typeface="Calibri"/>
              </a:rPr>
              <a:t>RECLUTAMIENTO INTERNO</a:t>
            </a:r>
          </a:p>
        </p:txBody>
      </p:sp>
      <p:sp>
        <p:nvSpPr>
          <p:cNvPr id="145" name="gd"/>
          <p:cNvSpPr/>
          <p:nvPr/>
        </p:nvSpPr>
        <p:spPr>
          <a:xfrm>
            <a:off x="22803104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6" name="gd"/>
          <p:cNvSpPr/>
          <p:nvPr/>
        </p:nvSpPr>
        <p:spPr>
          <a:xfrm>
            <a:off x="23080268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7" name="gd"/>
          <p:cNvSpPr/>
          <p:nvPr/>
        </p:nvSpPr>
        <p:spPr>
          <a:xfrm>
            <a:off x="23357432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8" name="gd"/>
          <p:cNvSpPr/>
          <p:nvPr/>
        </p:nvSpPr>
        <p:spPr>
          <a:xfrm>
            <a:off x="23634596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9" name="gd"/>
          <p:cNvSpPr/>
          <p:nvPr/>
        </p:nvSpPr>
        <p:spPr>
          <a:xfrm>
            <a:off x="23911760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0" name="gd"/>
          <p:cNvSpPr/>
          <p:nvPr/>
        </p:nvSpPr>
        <p:spPr>
          <a:xfrm>
            <a:off x="24188924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1" name="gd"/>
          <p:cNvSpPr/>
          <p:nvPr/>
        </p:nvSpPr>
        <p:spPr>
          <a:xfrm>
            <a:off x="22803104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2" name="gd"/>
          <p:cNvSpPr/>
          <p:nvPr/>
        </p:nvSpPr>
        <p:spPr>
          <a:xfrm>
            <a:off x="23080268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3" name="gd"/>
          <p:cNvSpPr/>
          <p:nvPr/>
        </p:nvSpPr>
        <p:spPr>
          <a:xfrm>
            <a:off x="23357432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4" name="gd"/>
          <p:cNvSpPr/>
          <p:nvPr/>
        </p:nvSpPr>
        <p:spPr>
          <a:xfrm>
            <a:off x="23634596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5" name="gd"/>
          <p:cNvSpPr/>
          <p:nvPr/>
        </p:nvSpPr>
        <p:spPr>
          <a:xfrm>
            <a:off x="23911760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6" name="gd"/>
          <p:cNvSpPr/>
          <p:nvPr/>
        </p:nvSpPr>
        <p:spPr>
          <a:xfrm>
            <a:off x="24188924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7" name="gd"/>
          <p:cNvSpPr/>
          <p:nvPr/>
        </p:nvSpPr>
        <p:spPr>
          <a:xfrm>
            <a:off x="22803104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8" name="gd"/>
          <p:cNvSpPr/>
          <p:nvPr/>
        </p:nvSpPr>
        <p:spPr>
          <a:xfrm>
            <a:off x="23080268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9" name="gd"/>
          <p:cNvSpPr/>
          <p:nvPr/>
        </p:nvSpPr>
        <p:spPr>
          <a:xfrm>
            <a:off x="23357432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60" name="gd"/>
          <p:cNvSpPr/>
          <p:nvPr/>
        </p:nvSpPr>
        <p:spPr>
          <a:xfrm>
            <a:off x="23634596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61" name="gd"/>
          <p:cNvSpPr/>
          <p:nvPr/>
        </p:nvSpPr>
        <p:spPr>
          <a:xfrm>
            <a:off x="23911760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62" name="gd"/>
          <p:cNvSpPr/>
          <p:nvPr/>
        </p:nvSpPr>
        <p:spPr>
          <a:xfrm>
            <a:off x="24188924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C14E64-4091-7680-B639-E9914BA9F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93" t="14690" r="13235" b="8927"/>
          <a:stretch>
            <a:fillRect/>
          </a:stretch>
        </p:blipFill>
        <p:spPr>
          <a:xfrm>
            <a:off x="215191" y="108799"/>
            <a:ext cx="3652195" cy="23327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wave"/>
          <p:cNvSpPr/>
          <p:nvPr/>
        </p:nvSpPr>
        <p:spPr>
          <a:xfrm>
            <a:off x="0" y="14477338"/>
            <a:ext cx="25282392" cy="2318512"/>
          </a:xfrm>
          <a:custGeom>
            <a:avLst/>
            <a:gdLst/>
            <a:ahLst/>
            <a:cxnLst/>
            <a:rect l="l" t="t" r="r" b="b"/>
            <a:pathLst>
              <a:path w="25196800" h="2318512">
                <a:moveTo>
                  <a:pt x="0" y="1043330"/>
                </a:moveTo>
                <a:cubicBezTo>
                  <a:pt x="6299200" y="115925"/>
                  <a:pt x="13858240" y="1738884"/>
                  <a:pt x="25196800" y="695553"/>
                </a:cubicBezTo>
                <a:lnTo>
                  <a:pt x="25196800" y="2318512"/>
                </a:lnTo>
                <a:lnTo>
                  <a:pt x="0" y="2318512"/>
                </a:lnTo>
                <a:close/>
              </a:path>
            </a:pathLst>
          </a:custGeom>
          <a:solidFill>
            <a:srgbClr val="DCE6F5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s-HN" dirty="0"/>
          </a:p>
        </p:txBody>
      </p:sp>
      <p:sp>
        <p:nvSpPr>
          <p:cNvPr id="193" name="arrow"/>
          <p:cNvSpPr/>
          <p:nvPr/>
        </p:nvSpPr>
        <p:spPr>
          <a:xfrm>
            <a:off x="1938892" y="4219301"/>
            <a:ext cx="419212" cy="1"/>
          </a:xfrm>
          <a:custGeom>
            <a:avLst/>
            <a:gdLst/>
            <a:ahLst/>
            <a:cxnLst/>
            <a:rect l="l" t="t" r="r" b="b"/>
            <a:pathLst>
              <a:path w="314960" h="1" fill="none">
                <a:moveTo>
                  <a:pt x="0" y="0"/>
                </a:moveTo>
                <a:lnTo>
                  <a:pt x="314960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94" name="arrow"/>
          <p:cNvSpPr/>
          <p:nvPr/>
        </p:nvSpPr>
        <p:spPr>
          <a:xfrm>
            <a:off x="5423423" y="4170016"/>
            <a:ext cx="670739" cy="1"/>
          </a:xfrm>
          <a:custGeom>
            <a:avLst/>
            <a:gdLst/>
            <a:ahLst/>
            <a:cxnLst/>
            <a:rect l="l" t="t" r="r" b="b"/>
            <a:pathLst>
              <a:path w="503936" h="1" fill="none">
                <a:moveTo>
                  <a:pt x="0" y="0"/>
                </a:moveTo>
                <a:lnTo>
                  <a:pt x="503936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95" name="arrow"/>
          <p:cNvSpPr/>
          <p:nvPr/>
        </p:nvSpPr>
        <p:spPr>
          <a:xfrm>
            <a:off x="9239498" y="4123915"/>
            <a:ext cx="670739" cy="1"/>
          </a:xfrm>
          <a:custGeom>
            <a:avLst/>
            <a:gdLst/>
            <a:ahLst/>
            <a:cxnLst/>
            <a:rect l="l" t="t" r="r" b="b"/>
            <a:pathLst>
              <a:path w="503936" h="1" fill="none">
                <a:moveTo>
                  <a:pt x="0" y="0"/>
                </a:moveTo>
                <a:lnTo>
                  <a:pt x="503936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96" name="arrow"/>
          <p:cNvSpPr/>
          <p:nvPr/>
        </p:nvSpPr>
        <p:spPr>
          <a:xfrm>
            <a:off x="12894234" y="4170016"/>
            <a:ext cx="754581" cy="1"/>
          </a:xfrm>
          <a:custGeom>
            <a:avLst/>
            <a:gdLst/>
            <a:ahLst/>
            <a:cxnLst/>
            <a:rect l="l" t="t" r="r" b="b"/>
            <a:pathLst>
              <a:path w="566928" h="1" fill="none">
                <a:moveTo>
                  <a:pt x="0" y="0"/>
                </a:moveTo>
                <a:lnTo>
                  <a:pt x="566928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97" name="arrow"/>
          <p:cNvSpPr/>
          <p:nvPr/>
        </p:nvSpPr>
        <p:spPr>
          <a:xfrm>
            <a:off x="17334501" y="4188594"/>
            <a:ext cx="1257636" cy="1"/>
          </a:xfrm>
          <a:custGeom>
            <a:avLst/>
            <a:gdLst/>
            <a:ahLst/>
            <a:cxnLst/>
            <a:rect l="l" t="t" r="r" b="b"/>
            <a:pathLst>
              <a:path w="944880" h="1" fill="none">
                <a:moveTo>
                  <a:pt x="0" y="0"/>
                </a:moveTo>
                <a:lnTo>
                  <a:pt x="944880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98" name="arrow"/>
          <p:cNvSpPr/>
          <p:nvPr/>
        </p:nvSpPr>
        <p:spPr>
          <a:xfrm>
            <a:off x="21863844" y="4212739"/>
            <a:ext cx="1167462" cy="165609"/>
          </a:xfrm>
          <a:custGeom>
            <a:avLst/>
            <a:gdLst/>
            <a:ahLst/>
            <a:cxnLst/>
            <a:rect l="l" t="t" r="r" b="b"/>
            <a:pathLst>
              <a:path w="1826768" h="1" fill="none">
                <a:moveTo>
                  <a:pt x="0" y="0"/>
                </a:moveTo>
                <a:lnTo>
                  <a:pt x="1826768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99" name="arrow"/>
          <p:cNvSpPr/>
          <p:nvPr/>
        </p:nvSpPr>
        <p:spPr>
          <a:xfrm>
            <a:off x="948685" y="5537604"/>
            <a:ext cx="14519462" cy="1904492"/>
          </a:xfrm>
          <a:custGeom>
            <a:avLst/>
            <a:gdLst/>
            <a:ahLst/>
            <a:cxnLst/>
            <a:rect l="l" t="t" r="r" b="b"/>
            <a:pathLst>
              <a:path w="11338560" h="1904492" fill="none">
                <a:moveTo>
                  <a:pt x="11338560" y="0"/>
                </a:moveTo>
                <a:lnTo>
                  <a:pt x="11338560" y="952246"/>
                </a:lnTo>
                <a:lnTo>
                  <a:pt x="0" y="952246"/>
                </a:lnTo>
                <a:lnTo>
                  <a:pt x="0" y="1904492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00" name="arrow"/>
          <p:cNvSpPr/>
          <p:nvPr/>
        </p:nvSpPr>
        <p:spPr>
          <a:xfrm>
            <a:off x="2046969" y="8746252"/>
            <a:ext cx="1844532" cy="1"/>
          </a:xfrm>
          <a:custGeom>
            <a:avLst/>
            <a:gdLst/>
            <a:ahLst/>
            <a:cxnLst/>
            <a:rect l="l" t="t" r="r" b="b"/>
            <a:pathLst>
              <a:path w="1385824" h="1" fill="none">
                <a:moveTo>
                  <a:pt x="0" y="0"/>
                </a:moveTo>
                <a:lnTo>
                  <a:pt x="1385824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01" name="arrow"/>
          <p:cNvSpPr/>
          <p:nvPr/>
        </p:nvSpPr>
        <p:spPr>
          <a:xfrm>
            <a:off x="6555593" y="8801474"/>
            <a:ext cx="1844532" cy="1"/>
          </a:xfrm>
          <a:custGeom>
            <a:avLst/>
            <a:gdLst/>
            <a:ahLst/>
            <a:cxnLst/>
            <a:rect l="l" t="t" r="r" b="b"/>
            <a:pathLst>
              <a:path w="1385824" h="1" fill="none">
                <a:moveTo>
                  <a:pt x="0" y="0"/>
                </a:moveTo>
                <a:lnTo>
                  <a:pt x="1385824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02" name="arrow"/>
          <p:cNvSpPr/>
          <p:nvPr/>
        </p:nvSpPr>
        <p:spPr>
          <a:xfrm>
            <a:off x="10595026" y="8720577"/>
            <a:ext cx="1844531" cy="1"/>
          </a:xfrm>
          <a:custGeom>
            <a:avLst/>
            <a:gdLst/>
            <a:ahLst/>
            <a:cxnLst/>
            <a:rect l="l" t="t" r="r" b="b"/>
            <a:pathLst>
              <a:path w="1385823" h="1" fill="none">
                <a:moveTo>
                  <a:pt x="0" y="0"/>
                </a:moveTo>
                <a:lnTo>
                  <a:pt x="1385823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03" name="arrow"/>
          <p:cNvSpPr/>
          <p:nvPr/>
        </p:nvSpPr>
        <p:spPr>
          <a:xfrm>
            <a:off x="14617433" y="8746251"/>
            <a:ext cx="1844534" cy="1"/>
          </a:xfrm>
          <a:custGeom>
            <a:avLst/>
            <a:gdLst/>
            <a:ahLst/>
            <a:cxnLst/>
            <a:rect l="l" t="t" r="r" b="b"/>
            <a:pathLst>
              <a:path w="1385825" h="1" fill="none">
                <a:moveTo>
                  <a:pt x="0" y="0"/>
                </a:moveTo>
                <a:lnTo>
                  <a:pt x="1385825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04" name="arrow"/>
          <p:cNvSpPr/>
          <p:nvPr/>
        </p:nvSpPr>
        <p:spPr>
          <a:xfrm>
            <a:off x="19579101" y="8838287"/>
            <a:ext cx="1844532" cy="1"/>
          </a:xfrm>
          <a:custGeom>
            <a:avLst/>
            <a:gdLst/>
            <a:ahLst/>
            <a:cxnLst/>
            <a:rect l="l" t="t" r="r" b="b"/>
            <a:pathLst>
              <a:path w="1385824" h="1" fill="none">
                <a:moveTo>
                  <a:pt x="0" y="0"/>
                </a:moveTo>
                <a:lnTo>
                  <a:pt x="1385824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05" name="arrow"/>
          <p:cNvSpPr/>
          <p:nvPr/>
        </p:nvSpPr>
        <p:spPr>
          <a:xfrm>
            <a:off x="6555593" y="9512196"/>
            <a:ext cx="16804065" cy="1407668"/>
          </a:xfrm>
          <a:custGeom>
            <a:avLst/>
            <a:gdLst/>
            <a:ahLst/>
            <a:cxnLst/>
            <a:rect l="l" t="t" r="r" b="b"/>
            <a:pathLst>
              <a:path w="15244064" h="1407668" fill="none">
                <a:moveTo>
                  <a:pt x="15244064" y="0"/>
                </a:moveTo>
                <a:lnTo>
                  <a:pt x="15244064" y="869442"/>
                </a:lnTo>
                <a:lnTo>
                  <a:pt x="0" y="869442"/>
                </a:lnTo>
                <a:lnTo>
                  <a:pt x="0" y="1407668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06" name="arrow"/>
          <p:cNvSpPr/>
          <p:nvPr/>
        </p:nvSpPr>
        <p:spPr>
          <a:xfrm>
            <a:off x="8289361" y="12286130"/>
            <a:ext cx="3144089" cy="86255"/>
          </a:xfrm>
          <a:custGeom>
            <a:avLst/>
            <a:gdLst/>
            <a:ahLst/>
            <a:cxnLst/>
            <a:rect l="l" t="t" r="r" b="b"/>
            <a:pathLst>
              <a:path w="3464560" h="1" fill="none">
                <a:moveTo>
                  <a:pt x="0" y="0"/>
                </a:moveTo>
                <a:lnTo>
                  <a:pt x="3464560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07" name="arrow"/>
          <p:cNvSpPr/>
          <p:nvPr/>
        </p:nvSpPr>
        <p:spPr>
          <a:xfrm flipV="1">
            <a:off x="13873085" y="12217133"/>
            <a:ext cx="6322903" cy="46577"/>
          </a:xfrm>
          <a:custGeom>
            <a:avLst/>
            <a:gdLst/>
            <a:ahLst/>
            <a:cxnLst/>
            <a:rect l="l" t="t" r="r" b="b"/>
            <a:pathLst>
              <a:path w="3212592" h="1" fill="none">
                <a:moveTo>
                  <a:pt x="0" y="0"/>
                </a:moveTo>
                <a:lnTo>
                  <a:pt x="3212592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08" name="arrow"/>
          <p:cNvSpPr/>
          <p:nvPr/>
        </p:nvSpPr>
        <p:spPr>
          <a:xfrm>
            <a:off x="7331099" y="14589260"/>
            <a:ext cx="7778194" cy="58621"/>
          </a:xfrm>
          <a:custGeom>
            <a:avLst/>
            <a:gdLst/>
            <a:ahLst/>
            <a:cxnLst/>
            <a:rect l="l" t="t" r="r" b="b"/>
            <a:pathLst>
              <a:path w="6299200" h="662432" fill="none">
                <a:moveTo>
                  <a:pt x="0" y="0"/>
                </a:moveTo>
                <a:lnTo>
                  <a:pt x="6299200" y="662432"/>
                </a:lnTo>
              </a:path>
            </a:pathLst>
          </a:custGeom>
          <a:noFill/>
          <a:ln w="19050" cap="rnd">
            <a:solidFill>
              <a:srgbClr val="FF0000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166" name="proc"/>
          <p:cNvSpPr/>
          <p:nvPr/>
        </p:nvSpPr>
        <p:spPr>
          <a:xfrm>
            <a:off x="2340194" y="3214730"/>
            <a:ext cx="3201253" cy="207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Solicitud de Personal por Fresh Service.</a:t>
            </a:r>
          </a:p>
        </p:txBody>
      </p:sp>
      <p:sp>
        <p:nvSpPr>
          <p:cNvPr id="167" name="proc"/>
          <p:cNvSpPr/>
          <p:nvPr/>
        </p:nvSpPr>
        <p:spPr>
          <a:xfrm>
            <a:off x="6139977" y="3136288"/>
            <a:ext cx="3201253" cy="207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Compartir la vacante con comunidades por Correo Electrónico. </a:t>
            </a:r>
          </a:p>
        </p:txBody>
      </p:sp>
      <p:sp>
        <p:nvSpPr>
          <p:cNvPr id="168" name="proc"/>
          <p:cNvSpPr/>
          <p:nvPr/>
        </p:nvSpPr>
        <p:spPr>
          <a:xfrm>
            <a:off x="9938189" y="3239793"/>
            <a:ext cx="2910230" cy="207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 fontScale="92500" lnSpcReduction="10000"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Recepción de perfiles por comunidades enviadas por correo. </a:t>
            </a:r>
          </a:p>
        </p:txBody>
      </p:sp>
      <p:sp>
        <p:nvSpPr>
          <p:cNvPr id="169" name="dec"/>
          <p:cNvSpPr/>
          <p:nvPr/>
        </p:nvSpPr>
        <p:spPr>
          <a:xfrm>
            <a:off x="13620878" y="2816652"/>
            <a:ext cx="3667808" cy="2732532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¿Hay candidatos?</a:t>
            </a:r>
          </a:p>
        </p:txBody>
      </p:sp>
      <p:sp>
        <p:nvSpPr>
          <p:cNvPr id="170" name="proc"/>
          <p:cNvSpPr/>
          <p:nvPr/>
        </p:nvSpPr>
        <p:spPr>
          <a:xfrm>
            <a:off x="18623364" y="3260493"/>
            <a:ext cx="3201253" cy="207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Se procede a realizar reclutamiento externo</a:t>
            </a:r>
          </a:p>
        </p:txBody>
      </p:sp>
      <p:sp>
        <p:nvSpPr>
          <p:cNvPr id="171" name="proc"/>
          <p:cNvSpPr/>
          <p:nvPr/>
        </p:nvSpPr>
        <p:spPr>
          <a:xfrm>
            <a:off x="483777" y="7711203"/>
            <a:ext cx="2910230" cy="207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Solicitar hojas de vida a los candidatos</a:t>
            </a:r>
          </a:p>
        </p:txBody>
      </p:sp>
      <p:sp>
        <p:nvSpPr>
          <p:cNvPr id="172" name="proc"/>
          <p:cNvSpPr/>
          <p:nvPr/>
        </p:nvSpPr>
        <p:spPr>
          <a:xfrm>
            <a:off x="3923991" y="7711202"/>
            <a:ext cx="3521378" cy="207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Programar entrevistas con el encargado del área</a:t>
            </a:r>
          </a:p>
        </p:txBody>
      </p:sp>
      <p:sp>
        <p:nvSpPr>
          <p:cNvPr id="173" name="proc"/>
          <p:cNvSpPr/>
          <p:nvPr/>
        </p:nvSpPr>
        <p:spPr>
          <a:xfrm>
            <a:off x="8480559" y="7685527"/>
            <a:ext cx="3113724" cy="212166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 fontScale="92500" lnSpcReduction="10000"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Evaluaciones psicométricas Plataforma PsicoSmart y/o técnicas. </a:t>
            </a:r>
          </a:p>
        </p:txBody>
      </p:sp>
      <p:sp>
        <p:nvSpPr>
          <p:cNvPr id="174" name="proc"/>
          <p:cNvSpPr/>
          <p:nvPr/>
        </p:nvSpPr>
        <p:spPr>
          <a:xfrm>
            <a:off x="12472785" y="7711202"/>
            <a:ext cx="3201253" cy="207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Selección del candidato más apto con el jefe del área</a:t>
            </a:r>
          </a:p>
        </p:txBody>
      </p:sp>
      <p:sp>
        <p:nvSpPr>
          <p:cNvPr id="175" name="proc"/>
          <p:cNvSpPr/>
          <p:nvPr/>
        </p:nvSpPr>
        <p:spPr>
          <a:xfrm>
            <a:off x="16510065" y="7766424"/>
            <a:ext cx="3974594" cy="207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Enviar por correo candidato seleccionado a Relaciones Comunitarias para visto bueno</a:t>
            </a:r>
          </a:p>
        </p:txBody>
      </p:sp>
      <p:sp>
        <p:nvSpPr>
          <p:cNvPr id="176" name="proc"/>
          <p:cNvSpPr/>
          <p:nvPr/>
        </p:nvSpPr>
        <p:spPr>
          <a:xfrm>
            <a:off x="21454058" y="7838572"/>
            <a:ext cx="3521378" cy="207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Programar exámenes de salud en la clínica ocupacional</a:t>
            </a:r>
          </a:p>
        </p:txBody>
      </p:sp>
      <p:sp>
        <p:nvSpPr>
          <p:cNvPr id="177" name="dec"/>
          <p:cNvSpPr/>
          <p:nvPr/>
        </p:nvSpPr>
        <p:spPr>
          <a:xfrm>
            <a:off x="5519522" y="10891773"/>
            <a:ext cx="3821708" cy="2732532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¿Pasa exámenes de salud?</a:t>
            </a:r>
          </a:p>
        </p:txBody>
      </p:sp>
      <p:sp>
        <p:nvSpPr>
          <p:cNvPr id="178" name="proc"/>
          <p:cNvSpPr/>
          <p:nvPr/>
        </p:nvSpPr>
        <p:spPr>
          <a:xfrm>
            <a:off x="11455587" y="11196209"/>
            <a:ext cx="3521378" cy="207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Se coordina que el candidato se presente a inducción y proceso de contratación.</a:t>
            </a:r>
          </a:p>
        </p:txBody>
      </p:sp>
      <p:sp>
        <p:nvSpPr>
          <p:cNvPr id="179" name="proc"/>
          <p:cNvSpPr/>
          <p:nvPr/>
        </p:nvSpPr>
        <p:spPr>
          <a:xfrm>
            <a:off x="15228031" y="13843449"/>
            <a:ext cx="4527488" cy="14076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Se descarta candidato y se notifica al departamento de Relaciones Comunitarias</a:t>
            </a:r>
          </a:p>
        </p:txBody>
      </p:sp>
      <p:sp>
        <p:nvSpPr>
          <p:cNvPr id="163" name="pill"/>
          <p:cNvSpPr/>
          <p:nvPr/>
        </p:nvSpPr>
        <p:spPr>
          <a:xfrm>
            <a:off x="32437" y="3552489"/>
            <a:ext cx="1832495" cy="11592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INICIO</a:t>
            </a:r>
          </a:p>
        </p:txBody>
      </p:sp>
      <p:sp>
        <p:nvSpPr>
          <p:cNvPr id="164" name="pill"/>
          <p:cNvSpPr/>
          <p:nvPr/>
        </p:nvSpPr>
        <p:spPr>
          <a:xfrm>
            <a:off x="23109760" y="3591710"/>
            <a:ext cx="1832495" cy="11592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FIN</a:t>
            </a:r>
          </a:p>
        </p:txBody>
      </p:sp>
      <p:sp>
        <p:nvSpPr>
          <p:cNvPr id="165" name="pill"/>
          <p:cNvSpPr/>
          <p:nvPr/>
        </p:nvSpPr>
        <p:spPr>
          <a:xfrm>
            <a:off x="20484659" y="11601720"/>
            <a:ext cx="1818334" cy="11592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FIN</a:t>
            </a:r>
          </a:p>
        </p:txBody>
      </p:sp>
      <p:sp>
        <p:nvSpPr>
          <p:cNvPr id="180" name="num"/>
          <p:cNvSpPr/>
          <p:nvPr/>
        </p:nvSpPr>
        <p:spPr>
          <a:xfrm>
            <a:off x="3524294" y="2722268"/>
            <a:ext cx="1102121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1" name="num"/>
          <p:cNvSpPr/>
          <p:nvPr/>
        </p:nvSpPr>
        <p:spPr>
          <a:xfrm>
            <a:off x="7105842" y="2640951"/>
            <a:ext cx="1102121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2" name="num"/>
          <p:cNvSpPr/>
          <p:nvPr/>
        </p:nvSpPr>
        <p:spPr>
          <a:xfrm>
            <a:off x="10873060" y="2639463"/>
            <a:ext cx="1102121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3" name="num"/>
          <p:cNvSpPr/>
          <p:nvPr/>
        </p:nvSpPr>
        <p:spPr>
          <a:xfrm>
            <a:off x="14972970" y="2391052"/>
            <a:ext cx="1102121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4" name="num"/>
          <p:cNvSpPr/>
          <p:nvPr/>
        </p:nvSpPr>
        <p:spPr>
          <a:xfrm>
            <a:off x="19773142" y="2639463"/>
            <a:ext cx="1102121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5" name="num"/>
          <p:cNvSpPr/>
          <p:nvPr/>
        </p:nvSpPr>
        <p:spPr>
          <a:xfrm>
            <a:off x="1387831" y="7189322"/>
            <a:ext cx="1102121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6" name="num"/>
          <p:cNvSpPr/>
          <p:nvPr/>
        </p:nvSpPr>
        <p:spPr>
          <a:xfrm>
            <a:off x="4980173" y="7271508"/>
            <a:ext cx="1102121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7" name="num"/>
          <p:cNvSpPr/>
          <p:nvPr/>
        </p:nvSpPr>
        <p:spPr>
          <a:xfrm>
            <a:off x="9498464" y="7054637"/>
            <a:ext cx="1102121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88" name="num"/>
          <p:cNvSpPr/>
          <p:nvPr/>
        </p:nvSpPr>
        <p:spPr>
          <a:xfrm>
            <a:off x="13602518" y="7162629"/>
            <a:ext cx="1102121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89" name="num"/>
          <p:cNvSpPr/>
          <p:nvPr/>
        </p:nvSpPr>
        <p:spPr>
          <a:xfrm>
            <a:off x="18072303" y="6960112"/>
            <a:ext cx="1102121" cy="1108515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90" name="num"/>
          <p:cNvSpPr/>
          <p:nvPr/>
        </p:nvSpPr>
        <p:spPr>
          <a:xfrm>
            <a:off x="22812873" y="7297182"/>
            <a:ext cx="1102121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91" name="num"/>
          <p:cNvSpPr/>
          <p:nvPr/>
        </p:nvSpPr>
        <p:spPr>
          <a:xfrm>
            <a:off x="6799878" y="10505844"/>
            <a:ext cx="1102121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92" name="num"/>
          <p:cNvSpPr/>
          <p:nvPr/>
        </p:nvSpPr>
        <p:spPr>
          <a:xfrm>
            <a:off x="12634227" y="10479535"/>
            <a:ext cx="939098" cy="880657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09" name="lbl"/>
          <p:cNvSpPr/>
          <p:nvPr/>
        </p:nvSpPr>
        <p:spPr>
          <a:xfrm>
            <a:off x="17124895" y="3544288"/>
            <a:ext cx="1676847" cy="5796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r>
              <a:rPr lang="es-HN" sz="3600" b="1" dirty="0">
                <a:solidFill>
                  <a:srgbClr val="E1251B"/>
                </a:solidFill>
                <a:latin typeface="Calibri"/>
              </a:rPr>
              <a:t>No</a:t>
            </a:r>
          </a:p>
        </p:txBody>
      </p:sp>
      <p:sp>
        <p:nvSpPr>
          <p:cNvPr id="210" name="lbl"/>
          <p:cNvSpPr/>
          <p:nvPr/>
        </p:nvSpPr>
        <p:spPr>
          <a:xfrm>
            <a:off x="15093377" y="5749657"/>
            <a:ext cx="1676847" cy="5796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r>
              <a:rPr lang="es-HN" sz="3600" b="1" dirty="0">
                <a:solidFill>
                  <a:srgbClr val="2E9E4F"/>
                </a:solidFill>
                <a:latin typeface="Calibri"/>
              </a:rPr>
              <a:t>Sí</a:t>
            </a:r>
          </a:p>
        </p:txBody>
      </p:sp>
      <p:sp>
        <p:nvSpPr>
          <p:cNvPr id="211" name="lbl"/>
          <p:cNvSpPr/>
          <p:nvPr/>
        </p:nvSpPr>
        <p:spPr>
          <a:xfrm>
            <a:off x="9756603" y="11532614"/>
            <a:ext cx="1676847" cy="5796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2E9E4F"/>
                </a:solidFill>
                <a:latin typeface="Calibri"/>
              </a:rPr>
              <a:t>Sí</a:t>
            </a:r>
          </a:p>
        </p:txBody>
      </p:sp>
      <p:sp>
        <p:nvSpPr>
          <p:cNvPr id="212" name="lbl"/>
          <p:cNvSpPr/>
          <p:nvPr/>
        </p:nvSpPr>
        <p:spPr>
          <a:xfrm>
            <a:off x="7016451" y="13693798"/>
            <a:ext cx="1676847" cy="5796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E1251B"/>
                </a:solidFill>
                <a:latin typeface="Calibri"/>
              </a:rPr>
              <a:t>No</a:t>
            </a:r>
          </a:p>
        </p:txBody>
      </p:sp>
      <p:sp>
        <p:nvSpPr>
          <p:cNvPr id="217" name="txt"/>
          <p:cNvSpPr txBox="1"/>
          <p:nvPr/>
        </p:nvSpPr>
        <p:spPr>
          <a:xfrm>
            <a:off x="2779364" y="35382"/>
            <a:ext cx="20122165" cy="2152904"/>
          </a:xfrm>
          <a:prstGeom prst="rect">
            <a:avLst/>
          </a:prstGeom>
          <a:noFill/>
        </p:spPr>
        <p:txBody>
          <a:bodyPr wrap="square" lIns="9144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HN" sz="5500" b="1" dirty="0">
                <a:solidFill>
                  <a:srgbClr val="13294B"/>
                </a:solidFill>
                <a:latin typeface="Calibri"/>
              </a:rPr>
              <a:t>RECLUTAMIENTO EXTERNO EN COMUNIDADES</a:t>
            </a:r>
          </a:p>
        </p:txBody>
      </p:sp>
      <p:sp>
        <p:nvSpPr>
          <p:cNvPr id="221" name="gd"/>
          <p:cNvSpPr/>
          <p:nvPr/>
        </p:nvSpPr>
        <p:spPr>
          <a:xfrm>
            <a:off x="23028706" y="449402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22" name="gd"/>
          <p:cNvSpPr/>
          <p:nvPr/>
        </p:nvSpPr>
        <p:spPr>
          <a:xfrm>
            <a:off x="23305870" y="449402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23" name="gd"/>
          <p:cNvSpPr/>
          <p:nvPr/>
        </p:nvSpPr>
        <p:spPr>
          <a:xfrm>
            <a:off x="23583034" y="449402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24" name="gd"/>
          <p:cNvSpPr/>
          <p:nvPr/>
        </p:nvSpPr>
        <p:spPr>
          <a:xfrm>
            <a:off x="23860198" y="449402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25" name="gd"/>
          <p:cNvSpPr/>
          <p:nvPr/>
        </p:nvSpPr>
        <p:spPr>
          <a:xfrm>
            <a:off x="24137362" y="449402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26" name="gd"/>
          <p:cNvSpPr/>
          <p:nvPr/>
        </p:nvSpPr>
        <p:spPr>
          <a:xfrm>
            <a:off x="24414526" y="449402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27" name="gd"/>
          <p:cNvSpPr/>
          <p:nvPr/>
        </p:nvSpPr>
        <p:spPr>
          <a:xfrm>
            <a:off x="23028706" y="714374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28" name="gd"/>
          <p:cNvSpPr/>
          <p:nvPr/>
        </p:nvSpPr>
        <p:spPr>
          <a:xfrm>
            <a:off x="23305870" y="714374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29" name="gd"/>
          <p:cNvSpPr/>
          <p:nvPr/>
        </p:nvSpPr>
        <p:spPr>
          <a:xfrm>
            <a:off x="23583034" y="714374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30" name="gd"/>
          <p:cNvSpPr/>
          <p:nvPr/>
        </p:nvSpPr>
        <p:spPr>
          <a:xfrm>
            <a:off x="23860198" y="714374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31" name="gd"/>
          <p:cNvSpPr/>
          <p:nvPr/>
        </p:nvSpPr>
        <p:spPr>
          <a:xfrm>
            <a:off x="24137362" y="714374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32" name="gd"/>
          <p:cNvSpPr/>
          <p:nvPr/>
        </p:nvSpPr>
        <p:spPr>
          <a:xfrm>
            <a:off x="24414526" y="714374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33" name="gd"/>
          <p:cNvSpPr/>
          <p:nvPr/>
        </p:nvSpPr>
        <p:spPr>
          <a:xfrm>
            <a:off x="23028706" y="979346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34" name="gd"/>
          <p:cNvSpPr/>
          <p:nvPr/>
        </p:nvSpPr>
        <p:spPr>
          <a:xfrm>
            <a:off x="23305870" y="979346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35" name="gd"/>
          <p:cNvSpPr/>
          <p:nvPr/>
        </p:nvSpPr>
        <p:spPr>
          <a:xfrm>
            <a:off x="23583034" y="979346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36" name="gd"/>
          <p:cNvSpPr/>
          <p:nvPr/>
        </p:nvSpPr>
        <p:spPr>
          <a:xfrm>
            <a:off x="23860198" y="979346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37" name="gd"/>
          <p:cNvSpPr/>
          <p:nvPr/>
        </p:nvSpPr>
        <p:spPr>
          <a:xfrm>
            <a:off x="24137362" y="979346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238" name="gd"/>
          <p:cNvSpPr/>
          <p:nvPr/>
        </p:nvSpPr>
        <p:spPr>
          <a:xfrm>
            <a:off x="24414526" y="979346"/>
            <a:ext cx="132253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endParaRPr sz="2800"/>
          </a:p>
        </p:txBody>
      </p:sp>
      <p:sp>
        <p:nvSpPr>
          <p:cNvPr id="4" name="arrow">
            <a:extLst>
              <a:ext uri="{FF2B5EF4-FFF2-40B4-BE49-F238E27FC236}">
                <a16:creationId xmlns:a16="http://schemas.microsoft.com/office/drawing/2014/main" id="{C21FEBBE-1166-2327-3DBD-8FD466ABF19B}"/>
              </a:ext>
            </a:extLst>
          </p:cNvPr>
          <p:cNvSpPr/>
          <p:nvPr/>
        </p:nvSpPr>
        <p:spPr>
          <a:xfrm rot="16200000">
            <a:off x="7070726" y="13919383"/>
            <a:ext cx="930249" cy="409505"/>
          </a:xfrm>
          <a:custGeom>
            <a:avLst/>
            <a:gdLst/>
            <a:ahLst/>
            <a:cxnLst/>
            <a:rect l="l" t="t" r="r" b="b"/>
            <a:pathLst>
              <a:path w="944880" h="1" fill="none">
                <a:moveTo>
                  <a:pt x="0" y="0"/>
                </a:moveTo>
                <a:lnTo>
                  <a:pt x="944880" y="0"/>
                </a:lnTo>
              </a:path>
            </a:pathLst>
          </a:custGeom>
          <a:noFill/>
          <a:ln w="19050" cap="rnd">
            <a:solidFill>
              <a:srgbClr val="FF0000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0E662BE6-F8C1-2AAF-F6D4-8DB2440EF6B9}"/>
              </a:ext>
            </a:extLst>
          </p:cNvPr>
          <p:cNvSpPr/>
          <p:nvPr/>
        </p:nvSpPr>
        <p:spPr>
          <a:xfrm rot="10800000">
            <a:off x="19579101" y="12865758"/>
            <a:ext cx="1981039" cy="950505"/>
          </a:xfrm>
          <a:custGeom>
            <a:avLst/>
            <a:gdLst/>
            <a:ahLst/>
            <a:cxnLst/>
            <a:rect l="l" t="t" r="r" b="b"/>
            <a:pathLst>
              <a:path w="15244064" h="1407668" fill="none">
                <a:moveTo>
                  <a:pt x="15244064" y="0"/>
                </a:moveTo>
                <a:lnTo>
                  <a:pt x="15244064" y="869442"/>
                </a:lnTo>
                <a:lnTo>
                  <a:pt x="0" y="869442"/>
                </a:lnTo>
                <a:lnTo>
                  <a:pt x="0" y="1407668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187E2E6-968E-18CC-3138-A03529404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93" t="14690" r="13235" b="8927"/>
          <a:stretch>
            <a:fillRect/>
          </a:stretch>
        </p:blipFill>
        <p:spPr>
          <a:xfrm>
            <a:off x="85592" y="104469"/>
            <a:ext cx="3201253" cy="20447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wave"/>
          <p:cNvSpPr/>
          <p:nvPr/>
        </p:nvSpPr>
        <p:spPr>
          <a:xfrm>
            <a:off x="0" y="14857297"/>
            <a:ext cx="25374208" cy="2318512"/>
          </a:xfrm>
          <a:custGeom>
            <a:avLst/>
            <a:gdLst/>
            <a:ahLst/>
            <a:cxnLst/>
            <a:rect l="l" t="t" r="r" b="b"/>
            <a:pathLst>
              <a:path w="25196800" h="2318512">
                <a:moveTo>
                  <a:pt x="0" y="1043330"/>
                </a:moveTo>
                <a:cubicBezTo>
                  <a:pt x="6299200" y="115925"/>
                  <a:pt x="13858240" y="1738884"/>
                  <a:pt x="25196800" y="695553"/>
                </a:cubicBezTo>
                <a:lnTo>
                  <a:pt x="25196800" y="2318512"/>
                </a:lnTo>
                <a:lnTo>
                  <a:pt x="0" y="2318512"/>
                </a:lnTo>
                <a:close/>
              </a:path>
            </a:pathLst>
          </a:custGeom>
          <a:solidFill>
            <a:srgbClr val="DCE6F5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s-HN"/>
          </a:p>
        </p:txBody>
      </p:sp>
      <p:sp>
        <p:nvSpPr>
          <p:cNvPr id="273" name="arrow"/>
          <p:cNvSpPr/>
          <p:nvPr/>
        </p:nvSpPr>
        <p:spPr>
          <a:xfrm>
            <a:off x="2644228" y="3844366"/>
            <a:ext cx="1322832" cy="1"/>
          </a:xfrm>
          <a:custGeom>
            <a:avLst/>
            <a:gdLst/>
            <a:ahLst/>
            <a:cxnLst/>
            <a:rect l="l" t="t" r="r" b="b"/>
            <a:pathLst>
              <a:path w="1322832" h="1" fill="none">
                <a:moveTo>
                  <a:pt x="0" y="0"/>
                </a:moveTo>
                <a:lnTo>
                  <a:pt x="1322832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74" name="arrow"/>
          <p:cNvSpPr/>
          <p:nvPr/>
        </p:nvSpPr>
        <p:spPr>
          <a:xfrm>
            <a:off x="6612724" y="3844366"/>
            <a:ext cx="1007872" cy="1"/>
          </a:xfrm>
          <a:custGeom>
            <a:avLst/>
            <a:gdLst/>
            <a:ahLst/>
            <a:cxnLst/>
            <a:rect l="l" t="t" r="r" b="b"/>
            <a:pathLst>
              <a:path w="1007872" h="1" fill="none">
                <a:moveTo>
                  <a:pt x="0" y="0"/>
                </a:moveTo>
                <a:lnTo>
                  <a:pt x="1007872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75" name="arrow"/>
          <p:cNvSpPr/>
          <p:nvPr/>
        </p:nvSpPr>
        <p:spPr>
          <a:xfrm>
            <a:off x="10266260" y="3844366"/>
            <a:ext cx="1133856" cy="1"/>
          </a:xfrm>
          <a:custGeom>
            <a:avLst/>
            <a:gdLst/>
            <a:ahLst/>
            <a:cxnLst/>
            <a:rect l="l" t="t" r="r" b="b"/>
            <a:pathLst>
              <a:path w="1133856" h="1" fill="none">
                <a:moveTo>
                  <a:pt x="0" y="0"/>
                </a:moveTo>
                <a:lnTo>
                  <a:pt x="1133856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76" name="arrow"/>
          <p:cNvSpPr/>
          <p:nvPr/>
        </p:nvSpPr>
        <p:spPr>
          <a:xfrm>
            <a:off x="14045780" y="3844366"/>
            <a:ext cx="1385824" cy="1"/>
          </a:xfrm>
          <a:custGeom>
            <a:avLst/>
            <a:gdLst/>
            <a:ahLst/>
            <a:cxnLst/>
            <a:rect l="l" t="t" r="r" b="b"/>
            <a:pathLst>
              <a:path w="1385824" h="1" fill="none">
                <a:moveTo>
                  <a:pt x="0" y="0"/>
                </a:moveTo>
                <a:lnTo>
                  <a:pt x="1385824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77" name="arrow"/>
          <p:cNvSpPr/>
          <p:nvPr/>
        </p:nvSpPr>
        <p:spPr>
          <a:xfrm>
            <a:off x="17987352" y="3896660"/>
            <a:ext cx="2141728" cy="1"/>
          </a:xfrm>
          <a:custGeom>
            <a:avLst/>
            <a:gdLst/>
            <a:ahLst/>
            <a:cxnLst/>
            <a:rect l="l" t="t" r="r" b="b"/>
            <a:pathLst>
              <a:path w="2141728" h="1" fill="none">
                <a:moveTo>
                  <a:pt x="0" y="0"/>
                </a:moveTo>
                <a:lnTo>
                  <a:pt x="2141728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78" name="arrow"/>
          <p:cNvSpPr/>
          <p:nvPr/>
        </p:nvSpPr>
        <p:spPr>
          <a:xfrm>
            <a:off x="2518244" y="4920818"/>
            <a:ext cx="19023584" cy="2152904"/>
          </a:xfrm>
          <a:custGeom>
            <a:avLst/>
            <a:gdLst/>
            <a:ahLst/>
            <a:cxnLst/>
            <a:rect l="l" t="t" r="r" b="b"/>
            <a:pathLst>
              <a:path w="19023584" h="2152904" fill="none">
                <a:moveTo>
                  <a:pt x="19023584" y="0"/>
                </a:moveTo>
                <a:lnTo>
                  <a:pt x="19023584" y="1076452"/>
                </a:lnTo>
                <a:lnTo>
                  <a:pt x="0" y="1076452"/>
                </a:lnTo>
                <a:lnTo>
                  <a:pt x="0" y="2152904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79" name="arrow"/>
          <p:cNvSpPr/>
          <p:nvPr/>
        </p:nvSpPr>
        <p:spPr>
          <a:xfrm>
            <a:off x="3463123" y="8198610"/>
            <a:ext cx="1385824" cy="1"/>
          </a:xfrm>
          <a:custGeom>
            <a:avLst/>
            <a:gdLst/>
            <a:ahLst/>
            <a:cxnLst/>
            <a:rect l="l" t="t" r="r" b="b"/>
            <a:pathLst>
              <a:path w="1385824" h="1" fill="none">
                <a:moveTo>
                  <a:pt x="0" y="0"/>
                </a:moveTo>
                <a:lnTo>
                  <a:pt x="1385824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80" name="arrow"/>
          <p:cNvSpPr/>
          <p:nvPr/>
        </p:nvSpPr>
        <p:spPr>
          <a:xfrm>
            <a:off x="7872564" y="8150174"/>
            <a:ext cx="1385824" cy="1"/>
          </a:xfrm>
          <a:custGeom>
            <a:avLst/>
            <a:gdLst/>
            <a:ahLst/>
            <a:cxnLst/>
            <a:rect l="l" t="t" r="r" b="b"/>
            <a:pathLst>
              <a:path w="1385824" h="1" fill="none">
                <a:moveTo>
                  <a:pt x="0" y="0"/>
                </a:moveTo>
                <a:lnTo>
                  <a:pt x="1385824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81" name="arrow"/>
          <p:cNvSpPr/>
          <p:nvPr/>
        </p:nvSpPr>
        <p:spPr>
          <a:xfrm>
            <a:off x="11904052" y="8150174"/>
            <a:ext cx="1385823" cy="1"/>
          </a:xfrm>
          <a:custGeom>
            <a:avLst/>
            <a:gdLst/>
            <a:ahLst/>
            <a:cxnLst/>
            <a:rect l="l" t="t" r="r" b="b"/>
            <a:pathLst>
              <a:path w="1385823" h="1" fill="none">
                <a:moveTo>
                  <a:pt x="0" y="0"/>
                </a:moveTo>
                <a:lnTo>
                  <a:pt x="1385823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82" name="arrow"/>
          <p:cNvSpPr/>
          <p:nvPr/>
        </p:nvSpPr>
        <p:spPr>
          <a:xfrm>
            <a:off x="15935539" y="8150174"/>
            <a:ext cx="1385825" cy="1"/>
          </a:xfrm>
          <a:custGeom>
            <a:avLst/>
            <a:gdLst/>
            <a:ahLst/>
            <a:cxnLst/>
            <a:rect l="l" t="t" r="r" b="b"/>
            <a:pathLst>
              <a:path w="1385825" h="1" fill="none">
                <a:moveTo>
                  <a:pt x="0" y="0"/>
                </a:moveTo>
                <a:lnTo>
                  <a:pt x="1385825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83" name="arrow"/>
          <p:cNvSpPr/>
          <p:nvPr/>
        </p:nvSpPr>
        <p:spPr>
          <a:xfrm>
            <a:off x="19967028" y="8150174"/>
            <a:ext cx="1385824" cy="1"/>
          </a:xfrm>
          <a:custGeom>
            <a:avLst/>
            <a:gdLst/>
            <a:ahLst/>
            <a:cxnLst/>
            <a:rect l="l" t="t" r="r" b="b"/>
            <a:pathLst>
              <a:path w="1385824" h="1" fill="none">
                <a:moveTo>
                  <a:pt x="0" y="0"/>
                </a:moveTo>
                <a:lnTo>
                  <a:pt x="1385824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84" name="arrow"/>
          <p:cNvSpPr/>
          <p:nvPr/>
        </p:nvSpPr>
        <p:spPr>
          <a:xfrm>
            <a:off x="21667812" y="9226626"/>
            <a:ext cx="1007872" cy="1987296"/>
          </a:xfrm>
          <a:custGeom>
            <a:avLst/>
            <a:gdLst/>
            <a:ahLst/>
            <a:cxnLst/>
            <a:rect l="l" t="t" r="r" b="b"/>
            <a:pathLst>
              <a:path w="1007872" h="1987296" fill="none">
                <a:moveTo>
                  <a:pt x="1007872" y="0"/>
                </a:moveTo>
                <a:lnTo>
                  <a:pt x="1007872" y="1076452"/>
                </a:lnTo>
                <a:lnTo>
                  <a:pt x="0" y="1076452"/>
                </a:lnTo>
                <a:lnTo>
                  <a:pt x="0" y="1987296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85" name="arrow"/>
          <p:cNvSpPr/>
          <p:nvPr/>
        </p:nvSpPr>
        <p:spPr>
          <a:xfrm>
            <a:off x="17573332" y="12538786"/>
            <a:ext cx="2582672" cy="1"/>
          </a:xfrm>
          <a:custGeom>
            <a:avLst/>
            <a:gdLst/>
            <a:ahLst/>
            <a:cxnLst/>
            <a:rect l="l" t="t" r="r" b="b"/>
            <a:pathLst>
              <a:path w="2582672" h="1" fill="none">
                <a:moveTo>
                  <a:pt x="2582672" y="0"/>
                </a:move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86" name="arrow"/>
          <p:cNvSpPr/>
          <p:nvPr/>
        </p:nvSpPr>
        <p:spPr>
          <a:xfrm>
            <a:off x="12470980" y="12538786"/>
            <a:ext cx="2456688" cy="1"/>
          </a:xfrm>
          <a:custGeom>
            <a:avLst/>
            <a:gdLst/>
            <a:ahLst/>
            <a:cxnLst/>
            <a:rect l="l" t="t" r="r" b="b"/>
            <a:pathLst>
              <a:path w="2456688" h="1" fill="none">
                <a:moveTo>
                  <a:pt x="2456688" y="0"/>
                </a:move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87" name="arrow"/>
          <p:cNvSpPr/>
          <p:nvPr/>
        </p:nvSpPr>
        <p:spPr>
          <a:xfrm>
            <a:off x="7116660" y="12538786"/>
            <a:ext cx="2330704" cy="1"/>
          </a:xfrm>
          <a:custGeom>
            <a:avLst/>
            <a:gdLst/>
            <a:ahLst/>
            <a:cxnLst/>
            <a:rect l="l" t="t" r="r" b="b"/>
            <a:pathLst>
              <a:path w="2330704" h="1" fill="none">
                <a:moveTo>
                  <a:pt x="2330704" y="0"/>
                </a:move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88" name="arrow"/>
          <p:cNvSpPr/>
          <p:nvPr/>
        </p:nvSpPr>
        <p:spPr>
          <a:xfrm>
            <a:off x="2770212" y="12538786"/>
            <a:ext cx="1700784" cy="1"/>
          </a:xfrm>
          <a:custGeom>
            <a:avLst/>
            <a:gdLst/>
            <a:ahLst/>
            <a:cxnLst/>
            <a:rect l="l" t="t" r="r" b="b"/>
            <a:pathLst>
              <a:path w="1700784" h="1" fill="none">
                <a:moveTo>
                  <a:pt x="1700784" y="0"/>
                </a:move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89" name="arrow"/>
          <p:cNvSpPr/>
          <p:nvPr/>
        </p:nvSpPr>
        <p:spPr>
          <a:xfrm>
            <a:off x="21667812" y="13863650"/>
            <a:ext cx="1" cy="538226"/>
          </a:xfrm>
          <a:custGeom>
            <a:avLst/>
            <a:gdLst/>
            <a:ahLst/>
            <a:cxnLst/>
            <a:rect l="l" t="t" r="r" b="b"/>
            <a:pathLst>
              <a:path w="1" h="538226" fill="none">
                <a:moveTo>
                  <a:pt x="0" y="0"/>
                </a:moveTo>
                <a:lnTo>
                  <a:pt x="0" y="538226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90" name="arrow"/>
          <p:cNvSpPr/>
          <p:nvPr/>
        </p:nvSpPr>
        <p:spPr>
          <a:xfrm>
            <a:off x="10959172" y="13863650"/>
            <a:ext cx="1" cy="538226"/>
          </a:xfrm>
          <a:custGeom>
            <a:avLst/>
            <a:gdLst/>
            <a:ahLst/>
            <a:cxnLst/>
            <a:rect l="l" t="t" r="r" b="b"/>
            <a:pathLst>
              <a:path w="1" h="538226" fill="none">
                <a:moveTo>
                  <a:pt x="0" y="0"/>
                </a:moveTo>
                <a:lnTo>
                  <a:pt x="0" y="538226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800"/>
          </a:p>
        </p:txBody>
      </p:sp>
      <p:sp>
        <p:nvSpPr>
          <p:cNvPr id="241" name="proc"/>
          <p:cNvSpPr/>
          <p:nvPr/>
        </p:nvSpPr>
        <p:spPr>
          <a:xfrm>
            <a:off x="3967060" y="2767914"/>
            <a:ext cx="2645664" cy="2152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Solicitud de Personal por Fresh Service.</a:t>
            </a:r>
          </a:p>
        </p:txBody>
      </p:sp>
      <p:sp>
        <p:nvSpPr>
          <p:cNvPr id="242" name="proc"/>
          <p:cNvSpPr/>
          <p:nvPr/>
        </p:nvSpPr>
        <p:spPr>
          <a:xfrm>
            <a:off x="7620596" y="2767914"/>
            <a:ext cx="2870708" cy="2152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Buscar perfiles en Linkedln según requisitos del puesto.</a:t>
            </a:r>
          </a:p>
        </p:txBody>
      </p:sp>
      <p:sp>
        <p:nvSpPr>
          <p:cNvPr id="243" name="proc"/>
          <p:cNvSpPr/>
          <p:nvPr/>
        </p:nvSpPr>
        <p:spPr>
          <a:xfrm>
            <a:off x="11400116" y="2767914"/>
            <a:ext cx="3122676" cy="2152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Selección de curriculums que se ajustan a la vacante</a:t>
            </a:r>
          </a:p>
        </p:txBody>
      </p:sp>
      <p:sp>
        <p:nvSpPr>
          <p:cNvPr id="244" name="proc"/>
          <p:cNvSpPr/>
          <p:nvPr/>
        </p:nvSpPr>
        <p:spPr>
          <a:xfrm>
            <a:off x="15431604" y="2767914"/>
            <a:ext cx="3464560" cy="21529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Se contactan los candidatos para explicarles sobre la vacante</a:t>
            </a:r>
          </a:p>
        </p:txBody>
      </p:sp>
      <p:sp>
        <p:nvSpPr>
          <p:cNvPr id="245" name="proc"/>
          <p:cNvSpPr/>
          <p:nvPr/>
        </p:nvSpPr>
        <p:spPr>
          <a:xfrm>
            <a:off x="20218996" y="2767914"/>
            <a:ext cx="3237800" cy="2152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Programar entrevistas con Recursos Humanos</a:t>
            </a:r>
          </a:p>
        </p:txBody>
      </p:sp>
      <p:sp>
        <p:nvSpPr>
          <p:cNvPr id="246" name="proc"/>
          <p:cNvSpPr/>
          <p:nvPr/>
        </p:nvSpPr>
        <p:spPr>
          <a:xfrm>
            <a:off x="1195412" y="7073722"/>
            <a:ext cx="2645664" cy="2152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Evaluaciones psicométricas y/o técnicas</a:t>
            </a:r>
          </a:p>
        </p:txBody>
      </p:sp>
      <p:sp>
        <p:nvSpPr>
          <p:cNvPr id="247" name="proc"/>
          <p:cNvSpPr/>
          <p:nvPr/>
        </p:nvSpPr>
        <p:spPr>
          <a:xfrm>
            <a:off x="4938863" y="7073722"/>
            <a:ext cx="3311653" cy="2152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Detalle de Entrevista por candidato formato de Excel.</a:t>
            </a:r>
          </a:p>
        </p:txBody>
      </p:sp>
      <p:sp>
        <p:nvSpPr>
          <p:cNvPr id="248" name="proc"/>
          <p:cNvSpPr/>
          <p:nvPr/>
        </p:nvSpPr>
        <p:spPr>
          <a:xfrm>
            <a:off x="9258388" y="7073722"/>
            <a:ext cx="3023616" cy="2152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Se envía resumen de la entrevista al líder por correo electrónico. </a:t>
            </a:r>
          </a:p>
        </p:txBody>
      </p:sp>
      <p:sp>
        <p:nvSpPr>
          <p:cNvPr id="249" name="proc"/>
          <p:cNvSpPr/>
          <p:nvPr/>
        </p:nvSpPr>
        <p:spPr>
          <a:xfrm>
            <a:off x="13289875" y="7073722"/>
            <a:ext cx="2645664" cy="2152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Programar entrevista con el líder del área</a:t>
            </a:r>
          </a:p>
        </p:txBody>
      </p:sp>
      <p:sp>
        <p:nvSpPr>
          <p:cNvPr id="250" name="proc"/>
          <p:cNvSpPr/>
          <p:nvPr/>
        </p:nvSpPr>
        <p:spPr>
          <a:xfrm>
            <a:off x="17321364" y="7073722"/>
            <a:ext cx="2645664" cy="2152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Selección del candidato más idóneo</a:t>
            </a:r>
          </a:p>
        </p:txBody>
      </p:sp>
      <p:sp>
        <p:nvSpPr>
          <p:cNvPr id="251" name="proc"/>
          <p:cNvSpPr/>
          <p:nvPr/>
        </p:nvSpPr>
        <p:spPr>
          <a:xfrm>
            <a:off x="21352851" y="7073722"/>
            <a:ext cx="3392425" cy="2152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Envío de Oferta Laboral al candidato por DocuSing</a:t>
            </a:r>
          </a:p>
        </p:txBody>
      </p:sp>
      <p:sp>
        <p:nvSpPr>
          <p:cNvPr id="252" name="dec"/>
          <p:cNvSpPr/>
          <p:nvPr/>
        </p:nvSpPr>
        <p:spPr>
          <a:xfrm>
            <a:off x="20156004" y="11213922"/>
            <a:ext cx="3023616" cy="2649728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¿Acepta la oferta?</a:t>
            </a:r>
          </a:p>
        </p:txBody>
      </p:sp>
      <p:sp>
        <p:nvSpPr>
          <p:cNvPr id="253" name="proc"/>
          <p:cNvSpPr/>
          <p:nvPr/>
        </p:nvSpPr>
        <p:spPr>
          <a:xfrm>
            <a:off x="14581212" y="11462334"/>
            <a:ext cx="2992120" cy="2152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Solicitar documentación exámenes de salud</a:t>
            </a:r>
          </a:p>
        </p:txBody>
      </p:sp>
      <p:sp>
        <p:nvSpPr>
          <p:cNvPr id="254" name="dec"/>
          <p:cNvSpPr/>
          <p:nvPr/>
        </p:nvSpPr>
        <p:spPr>
          <a:xfrm>
            <a:off x="9226892" y="11213922"/>
            <a:ext cx="3244088" cy="264972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¿Pasa exámenes de salud?</a:t>
            </a:r>
          </a:p>
        </p:txBody>
      </p:sp>
      <p:sp>
        <p:nvSpPr>
          <p:cNvPr id="255" name="proc"/>
          <p:cNvSpPr/>
          <p:nvPr/>
        </p:nvSpPr>
        <p:spPr>
          <a:xfrm>
            <a:off x="3967060" y="11462334"/>
            <a:ext cx="3275584" cy="264144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Se coordina que el candidato se presente a inducción y proceso de contratación. </a:t>
            </a:r>
          </a:p>
        </p:txBody>
      </p:sp>
      <p:sp>
        <p:nvSpPr>
          <p:cNvPr id="256" name="proc"/>
          <p:cNvSpPr/>
          <p:nvPr/>
        </p:nvSpPr>
        <p:spPr>
          <a:xfrm>
            <a:off x="20030020" y="14401876"/>
            <a:ext cx="3275584" cy="12420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Se considera al segundo candidato más apto</a:t>
            </a:r>
          </a:p>
        </p:txBody>
      </p:sp>
      <p:sp>
        <p:nvSpPr>
          <p:cNvPr id="257" name="proc"/>
          <p:cNvSpPr/>
          <p:nvPr/>
        </p:nvSpPr>
        <p:spPr>
          <a:xfrm>
            <a:off x="9321380" y="14401876"/>
            <a:ext cx="3275584" cy="12420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226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Autofit/>
          </a:bodyPr>
          <a:lstStyle/>
          <a:p>
            <a:pPr algn="ctr"/>
            <a:r>
              <a:rPr lang="es-HN" sz="2800" b="1" dirty="0">
                <a:solidFill>
                  <a:srgbClr val="0B2265"/>
                </a:solidFill>
                <a:latin typeface="Calibri"/>
              </a:rPr>
              <a:t>Se considera al segundo candidato más apto</a:t>
            </a:r>
          </a:p>
        </p:txBody>
      </p:sp>
      <p:sp>
        <p:nvSpPr>
          <p:cNvPr id="239" name="pill"/>
          <p:cNvSpPr/>
          <p:nvPr/>
        </p:nvSpPr>
        <p:spPr>
          <a:xfrm>
            <a:off x="628484" y="3264738"/>
            <a:ext cx="1703656" cy="11592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INICIO</a:t>
            </a:r>
          </a:p>
        </p:txBody>
      </p:sp>
      <p:sp>
        <p:nvSpPr>
          <p:cNvPr id="240" name="pill"/>
          <p:cNvSpPr/>
          <p:nvPr/>
        </p:nvSpPr>
        <p:spPr>
          <a:xfrm>
            <a:off x="754468" y="11959158"/>
            <a:ext cx="1606296" cy="11592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FIN</a:t>
            </a:r>
          </a:p>
        </p:txBody>
      </p:sp>
      <p:sp>
        <p:nvSpPr>
          <p:cNvPr id="258" name="num"/>
          <p:cNvSpPr/>
          <p:nvPr/>
        </p:nvSpPr>
        <p:spPr>
          <a:xfrm>
            <a:off x="4875872" y="2353894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9" name="num"/>
          <p:cNvSpPr/>
          <p:nvPr/>
        </p:nvSpPr>
        <p:spPr>
          <a:xfrm>
            <a:off x="8529408" y="2194305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0" name="num"/>
          <p:cNvSpPr/>
          <p:nvPr/>
        </p:nvSpPr>
        <p:spPr>
          <a:xfrm>
            <a:off x="12505345" y="2180112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1" name="num"/>
          <p:cNvSpPr/>
          <p:nvPr/>
        </p:nvSpPr>
        <p:spPr>
          <a:xfrm>
            <a:off x="16749864" y="2274099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2" name="num"/>
          <p:cNvSpPr/>
          <p:nvPr/>
        </p:nvSpPr>
        <p:spPr>
          <a:xfrm>
            <a:off x="21343708" y="2298298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3" name="num"/>
          <p:cNvSpPr/>
          <p:nvPr/>
        </p:nvSpPr>
        <p:spPr>
          <a:xfrm>
            <a:off x="2104224" y="6659702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4" name="num"/>
          <p:cNvSpPr/>
          <p:nvPr/>
        </p:nvSpPr>
        <p:spPr>
          <a:xfrm>
            <a:off x="6135712" y="6659702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5" name="num"/>
          <p:cNvSpPr/>
          <p:nvPr/>
        </p:nvSpPr>
        <p:spPr>
          <a:xfrm>
            <a:off x="10356176" y="6659702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6" name="num"/>
          <p:cNvSpPr/>
          <p:nvPr/>
        </p:nvSpPr>
        <p:spPr>
          <a:xfrm>
            <a:off x="14198687" y="6659702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67" name="num"/>
          <p:cNvSpPr/>
          <p:nvPr/>
        </p:nvSpPr>
        <p:spPr>
          <a:xfrm>
            <a:off x="18230176" y="6659702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68" name="num"/>
          <p:cNvSpPr/>
          <p:nvPr/>
        </p:nvSpPr>
        <p:spPr>
          <a:xfrm>
            <a:off x="22664364" y="6630507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69" name="num"/>
          <p:cNvSpPr/>
          <p:nvPr/>
        </p:nvSpPr>
        <p:spPr>
          <a:xfrm>
            <a:off x="21253792" y="10799902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70" name="num"/>
          <p:cNvSpPr/>
          <p:nvPr/>
        </p:nvSpPr>
        <p:spPr>
          <a:xfrm>
            <a:off x="15578715" y="10870632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71" name="num"/>
          <p:cNvSpPr/>
          <p:nvPr/>
        </p:nvSpPr>
        <p:spPr>
          <a:xfrm>
            <a:off x="10545152" y="10799902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272" name="num"/>
          <p:cNvSpPr/>
          <p:nvPr/>
        </p:nvSpPr>
        <p:spPr>
          <a:xfrm>
            <a:off x="5094790" y="10877446"/>
            <a:ext cx="828040" cy="828040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2800" b="1" dirty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91" name="lbl"/>
          <p:cNvSpPr/>
          <p:nvPr/>
        </p:nvSpPr>
        <p:spPr>
          <a:xfrm>
            <a:off x="18234748" y="11785270"/>
            <a:ext cx="1259840" cy="5796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r>
              <a:rPr lang="es-HN" sz="3600" b="1" dirty="0">
                <a:solidFill>
                  <a:srgbClr val="2E9E4F"/>
                </a:solidFill>
                <a:latin typeface="Calibri"/>
              </a:rPr>
              <a:t>Sí</a:t>
            </a:r>
          </a:p>
        </p:txBody>
      </p:sp>
      <p:sp>
        <p:nvSpPr>
          <p:cNvPr id="292" name="lbl"/>
          <p:cNvSpPr/>
          <p:nvPr/>
        </p:nvSpPr>
        <p:spPr>
          <a:xfrm>
            <a:off x="7652092" y="11627942"/>
            <a:ext cx="1165352" cy="73695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3600" b="1" dirty="0">
                <a:solidFill>
                  <a:srgbClr val="2E9E4F"/>
                </a:solidFill>
                <a:latin typeface="Calibri"/>
              </a:rPr>
              <a:t>Sí</a:t>
            </a:r>
          </a:p>
        </p:txBody>
      </p:sp>
      <p:sp>
        <p:nvSpPr>
          <p:cNvPr id="293" name="lbl"/>
          <p:cNvSpPr/>
          <p:nvPr/>
        </p:nvSpPr>
        <p:spPr>
          <a:xfrm>
            <a:off x="21541828" y="13842949"/>
            <a:ext cx="1259840" cy="5796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r>
              <a:rPr lang="es-HN" sz="3600" b="1" dirty="0">
                <a:solidFill>
                  <a:srgbClr val="E1251B"/>
                </a:solidFill>
                <a:latin typeface="Calibri"/>
              </a:rPr>
              <a:t>No</a:t>
            </a:r>
          </a:p>
        </p:txBody>
      </p:sp>
      <p:sp>
        <p:nvSpPr>
          <p:cNvPr id="294" name="lbl"/>
          <p:cNvSpPr/>
          <p:nvPr/>
        </p:nvSpPr>
        <p:spPr>
          <a:xfrm>
            <a:off x="10833188" y="13842949"/>
            <a:ext cx="1259840" cy="5796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/>
            <a:r>
              <a:rPr lang="es-HN" sz="3600" b="1" dirty="0">
                <a:solidFill>
                  <a:srgbClr val="E1251B"/>
                </a:solidFill>
                <a:latin typeface="Calibri"/>
              </a:rPr>
              <a:t>No</a:t>
            </a:r>
          </a:p>
        </p:txBody>
      </p:sp>
      <p:sp>
        <p:nvSpPr>
          <p:cNvPr id="299" name="txt"/>
          <p:cNvSpPr txBox="1"/>
          <p:nvPr/>
        </p:nvSpPr>
        <p:spPr>
          <a:xfrm>
            <a:off x="4345012" y="289813"/>
            <a:ext cx="15118080" cy="1242060"/>
          </a:xfrm>
          <a:prstGeom prst="rect">
            <a:avLst/>
          </a:prstGeom>
          <a:noFill/>
        </p:spPr>
        <p:txBody>
          <a:bodyPr wrap="square" lIns="91440" tIns="27432" rIns="45720" bIns="27432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HN" sz="5500" b="1" dirty="0">
                <a:solidFill>
                  <a:srgbClr val="13294B"/>
                </a:solidFill>
                <a:latin typeface="Calibri"/>
              </a:rPr>
              <a:t>RECLUTAMIENTO EXTERNO</a:t>
            </a:r>
          </a:p>
        </p:txBody>
      </p:sp>
      <p:sp>
        <p:nvSpPr>
          <p:cNvPr id="303" name="gd"/>
          <p:cNvSpPr/>
          <p:nvPr/>
        </p:nvSpPr>
        <p:spPr>
          <a:xfrm>
            <a:off x="22803104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04" name="gd"/>
          <p:cNvSpPr/>
          <p:nvPr/>
        </p:nvSpPr>
        <p:spPr>
          <a:xfrm>
            <a:off x="23080268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05" name="gd"/>
          <p:cNvSpPr/>
          <p:nvPr/>
        </p:nvSpPr>
        <p:spPr>
          <a:xfrm>
            <a:off x="23357432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06" name="gd"/>
          <p:cNvSpPr/>
          <p:nvPr/>
        </p:nvSpPr>
        <p:spPr>
          <a:xfrm>
            <a:off x="23634596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07" name="gd"/>
          <p:cNvSpPr/>
          <p:nvPr/>
        </p:nvSpPr>
        <p:spPr>
          <a:xfrm>
            <a:off x="23911760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08" name="gd"/>
          <p:cNvSpPr/>
          <p:nvPr/>
        </p:nvSpPr>
        <p:spPr>
          <a:xfrm>
            <a:off x="24188924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09" name="gd"/>
          <p:cNvSpPr/>
          <p:nvPr/>
        </p:nvSpPr>
        <p:spPr>
          <a:xfrm>
            <a:off x="22803104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10" name="gd"/>
          <p:cNvSpPr/>
          <p:nvPr/>
        </p:nvSpPr>
        <p:spPr>
          <a:xfrm>
            <a:off x="23080268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11" name="gd"/>
          <p:cNvSpPr/>
          <p:nvPr/>
        </p:nvSpPr>
        <p:spPr>
          <a:xfrm>
            <a:off x="23357432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12" name="gd"/>
          <p:cNvSpPr/>
          <p:nvPr/>
        </p:nvSpPr>
        <p:spPr>
          <a:xfrm>
            <a:off x="23634596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13" name="gd"/>
          <p:cNvSpPr/>
          <p:nvPr/>
        </p:nvSpPr>
        <p:spPr>
          <a:xfrm>
            <a:off x="23911760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14" name="gd"/>
          <p:cNvSpPr/>
          <p:nvPr/>
        </p:nvSpPr>
        <p:spPr>
          <a:xfrm>
            <a:off x="24188924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15" name="gd"/>
          <p:cNvSpPr/>
          <p:nvPr/>
        </p:nvSpPr>
        <p:spPr>
          <a:xfrm>
            <a:off x="22803104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16" name="gd"/>
          <p:cNvSpPr/>
          <p:nvPr/>
        </p:nvSpPr>
        <p:spPr>
          <a:xfrm>
            <a:off x="23080268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17" name="gd"/>
          <p:cNvSpPr/>
          <p:nvPr/>
        </p:nvSpPr>
        <p:spPr>
          <a:xfrm>
            <a:off x="23357432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18" name="gd"/>
          <p:cNvSpPr/>
          <p:nvPr/>
        </p:nvSpPr>
        <p:spPr>
          <a:xfrm>
            <a:off x="23634596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19" name="gd"/>
          <p:cNvSpPr/>
          <p:nvPr/>
        </p:nvSpPr>
        <p:spPr>
          <a:xfrm>
            <a:off x="23911760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20" name="gd"/>
          <p:cNvSpPr/>
          <p:nvPr/>
        </p:nvSpPr>
        <p:spPr>
          <a:xfrm>
            <a:off x="24188924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2B2F4B6-69D0-3188-48FE-E24D8BF45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93" t="14690" r="13235" b="8927"/>
          <a:stretch>
            <a:fillRect/>
          </a:stretch>
        </p:blipFill>
        <p:spPr>
          <a:xfrm>
            <a:off x="165860" y="110012"/>
            <a:ext cx="3240970" cy="2070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wave"/>
          <p:cNvSpPr/>
          <p:nvPr/>
        </p:nvSpPr>
        <p:spPr>
          <a:xfrm>
            <a:off x="-91084" y="14774092"/>
            <a:ext cx="25196800" cy="2318512"/>
          </a:xfrm>
          <a:custGeom>
            <a:avLst/>
            <a:gdLst/>
            <a:ahLst/>
            <a:cxnLst/>
            <a:rect l="l" t="t" r="r" b="b"/>
            <a:pathLst>
              <a:path w="25196800" h="2318512">
                <a:moveTo>
                  <a:pt x="0" y="1043330"/>
                </a:moveTo>
                <a:cubicBezTo>
                  <a:pt x="6299200" y="115925"/>
                  <a:pt x="13858240" y="1738884"/>
                  <a:pt x="25196800" y="695553"/>
                </a:cubicBezTo>
                <a:lnTo>
                  <a:pt x="25196800" y="2318512"/>
                </a:lnTo>
                <a:lnTo>
                  <a:pt x="0" y="2318512"/>
                </a:lnTo>
                <a:close/>
              </a:path>
            </a:pathLst>
          </a:custGeom>
          <a:solidFill>
            <a:srgbClr val="DCE6F5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s-HN"/>
          </a:p>
        </p:txBody>
      </p:sp>
      <p:sp>
        <p:nvSpPr>
          <p:cNvPr id="322" name="txt"/>
          <p:cNvSpPr txBox="1"/>
          <p:nvPr/>
        </p:nvSpPr>
        <p:spPr>
          <a:xfrm>
            <a:off x="5039360" y="1268461"/>
            <a:ext cx="15118080" cy="745236"/>
          </a:xfrm>
          <a:prstGeom prst="rect">
            <a:avLst/>
          </a:prstGeom>
          <a:noFill/>
        </p:spPr>
        <p:txBody>
          <a:bodyPr wrap="square" lIns="91440" tIns="27432" rIns="45720" bIns="27432" anchor="ctr">
            <a:normAutofit/>
          </a:bodyPr>
          <a:lstStyle/>
          <a:p>
            <a:pPr algn="ctr">
              <a:buNone/>
            </a:pPr>
            <a:r>
              <a:rPr lang="es-HN" sz="2800" b="0" i="1" dirty="0">
                <a:solidFill>
                  <a:srgbClr val="0B2265"/>
                </a:solidFill>
                <a:latin typeface="Calibri"/>
              </a:rPr>
              <a:t>Proceso de incorporación de nuevos colaboradores en Aura Minosa</a:t>
            </a:r>
          </a:p>
        </p:txBody>
      </p:sp>
      <p:sp>
        <p:nvSpPr>
          <p:cNvPr id="323" name="card"/>
          <p:cNvSpPr/>
          <p:nvPr/>
        </p:nvSpPr>
        <p:spPr>
          <a:xfrm>
            <a:off x="2141728" y="2567270"/>
            <a:ext cx="10078720" cy="2235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 sz="2400"/>
          </a:p>
        </p:txBody>
      </p:sp>
      <p:sp>
        <p:nvSpPr>
          <p:cNvPr id="324" name="accent"/>
          <p:cNvSpPr/>
          <p:nvPr/>
        </p:nvSpPr>
        <p:spPr>
          <a:xfrm>
            <a:off x="3253434" y="2898486"/>
            <a:ext cx="100787" cy="1573276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  <p:txBody>
          <a:bodyPr/>
          <a:lstStyle/>
          <a:p>
            <a:endParaRPr lang="es-HN" sz="2400"/>
          </a:p>
        </p:txBody>
      </p:sp>
      <p:sp>
        <p:nvSpPr>
          <p:cNvPr id="325" name="num"/>
          <p:cNvSpPr/>
          <p:nvPr/>
        </p:nvSpPr>
        <p:spPr>
          <a:xfrm>
            <a:off x="1613439" y="3104006"/>
            <a:ext cx="1056579" cy="1162237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32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26" name="txt"/>
          <p:cNvSpPr txBox="1"/>
          <p:nvPr/>
        </p:nvSpPr>
        <p:spPr>
          <a:xfrm>
            <a:off x="3404615" y="2699756"/>
            <a:ext cx="8614258" cy="2036979"/>
          </a:xfrm>
          <a:prstGeom prst="rect">
            <a:avLst/>
          </a:prstGeom>
          <a:noFill/>
        </p:spPr>
        <p:txBody>
          <a:bodyPr wrap="square" lIns="151180" tIns="27432" rIns="45720" bIns="27432" anchor="ctr">
            <a:normAutofit/>
          </a:bodyPr>
          <a:lstStyle/>
          <a:p>
            <a:pPr algn="l"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Confirmación de ingreso</a:t>
            </a:r>
          </a:p>
          <a:p>
            <a:pPr algn="l">
              <a:spcBef>
                <a:spcPts val="300"/>
              </a:spcBef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Responsable:</a:t>
            </a:r>
            <a:r>
              <a:rPr lang="es-HN" sz="2400" b="0" dirty="0">
                <a:solidFill>
                  <a:srgbClr val="3A4A63"/>
                </a:solidFill>
                <a:latin typeface="Calibri"/>
              </a:rPr>
              <a:t> Recursos Humanos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Confirmación de contratación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Coordinación de fecha de ingreso</a:t>
            </a:r>
          </a:p>
        </p:txBody>
      </p:sp>
      <p:sp>
        <p:nvSpPr>
          <p:cNvPr id="327" name="arrow"/>
          <p:cNvSpPr/>
          <p:nvPr/>
        </p:nvSpPr>
        <p:spPr>
          <a:xfrm>
            <a:off x="3125927" y="4836099"/>
            <a:ext cx="1" cy="347778"/>
          </a:xfrm>
          <a:custGeom>
            <a:avLst/>
            <a:gdLst/>
            <a:ahLst/>
            <a:cxnLst/>
            <a:rect l="l" t="t" r="r" b="b"/>
            <a:pathLst>
              <a:path w="1" h="347778" fill="none">
                <a:moveTo>
                  <a:pt x="0" y="0"/>
                </a:moveTo>
                <a:lnTo>
                  <a:pt x="0" y="347778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400"/>
          </a:p>
        </p:txBody>
      </p:sp>
      <p:sp>
        <p:nvSpPr>
          <p:cNvPr id="328" name="card"/>
          <p:cNvSpPr/>
          <p:nvPr/>
        </p:nvSpPr>
        <p:spPr>
          <a:xfrm>
            <a:off x="2141728" y="5216998"/>
            <a:ext cx="10078720" cy="2235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 sz="2400"/>
          </a:p>
        </p:txBody>
      </p:sp>
      <p:sp>
        <p:nvSpPr>
          <p:cNvPr id="329" name="accent"/>
          <p:cNvSpPr/>
          <p:nvPr/>
        </p:nvSpPr>
        <p:spPr>
          <a:xfrm>
            <a:off x="3253434" y="5548214"/>
            <a:ext cx="100787" cy="1573276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  <p:txBody>
          <a:bodyPr/>
          <a:lstStyle/>
          <a:p>
            <a:endParaRPr lang="es-HN" sz="2400"/>
          </a:p>
        </p:txBody>
      </p:sp>
      <p:sp>
        <p:nvSpPr>
          <p:cNvPr id="330" name="num"/>
          <p:cNvSpPr/>
          <p:nvPr/>
        </p:nvSpPr>
        <p:spPr>
          <a:xfrm>
            <a:off x="1613439" y="5753734"/>
            <a:ext cx="1056579" cy="1162237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32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1" name="txt"/>
          <p:cNvSpPr txBox="1"/>
          <p:nvPr/>
        </p:nvSpPr>
        <p:spPr>
          <a:xfrm>
            <a:off x="3404615" y="5349484"/>
            <a:ext cx="8614258" cy="2036979"/>
          </a:xfrm>
          <a:prstGeom prst="rect">
            <a:avLst/>
          </a:prstGeom>
          <a:noFill/>
        </p:spPr>
        <p:txBody>
          <a:bodyPr wrap="square" lIns="151180" tIns="27432" rIns="45720" bIns="27432" anchor="ctr">
            <a:noAutofit/>
          </a:bodyPr>
          <a:lstStyle/>
          <a:p>
            <a:pPr algn="l"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Inducción General (2 días)</a:t>
            </a:r>
          </a:p>
          <a:p>
            <a:pPr algn="l">
              <a:spcBef>
                <a:spcPts val="300"/>
              </a:spcBef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Responsables:</a:t>
            </a:r>
            <a:r>
              <a:rPr lang="es-HN" sz="2400" b="0" dirty="0">
                <a:solidFill>
                  <a:srgbClr val="3A4A63"/>
                </a:solidFill>
                <a:latin typeface="Calibri"/>
              </a:rPr>
              <a:t> RH, SSMA y Relaciones Comunitarias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Filosofía y cultura organizacional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Seguridad y Salud (SSMA)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Relaciones Comunitarias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Políticas, normas y procedimientos</a:t>
            </a:r>
          </a:p>
        </p:txBody>
      </p:sp>
      <p:sp>
        <p:nvSpPr>
          <p:cNvPr id="332" name="arrow"/>
          <p:cNvSpPr/>
          <p:nvPr/>
        </p:nvSpPr>
        <p:spPr>
          <a:xfrm>
            <a:off x="3125927" y="7485827"/>
            <a:ext cx="1" cy="347778"/>
          </a:xfrm>
          <a:custGeom>
            <a:avLst/>
            <a:gdLst/>
            <a:ahLst/>
            <a:cxnLst/>
            <a:rect l="l" t="t" r="r" b="b"/>
            <a:pathLst>
              <a:path w="1" h="347778" fill="none">
                <a:moveTo>
                  <a:pt x="0" y="0"/>
                </a:moveTo>
                <a:lnTo>
                  <a:pt x="0" y="347778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400"/>
          </a:p>
        </p:txBody>
      </p:sp>
      <p:sp>
        <p:nvSpPr>
          <p:cNvPr id="333" name="card"/>
          <p:cNvSpPr/>
          <p:nvPr/>
        </p:nvSpPr>
        <p:spPr>
          <a:xfrm>
            <a:off x="2141728" y="7866726"/>
            <a:ext cx="10078720" cy="2235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 sz="2400"/>
          </a:p>
        </p:txBody>
      </p:sp>
      <p:sp>
        <p:nvSpPr>
          <p:cNvPr id="334" name="accent"/>
          <p:cNvSpPr/>
          <p:nvPr/>
        </p:nvSpPr>
        <p:spPr>
          <a:xfrm>
            <a:off x="3253434" y="8197942"/>
            <a:ext cx="100787" cy="1573276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  <p:txBody>
          <a:bodyPr/>
          <a:lstStyle/>
          <a:p>
            <a:endParaRPr lang="es-HN" sz="2400"/>
          </a:p>
        </p:txBody>
      </p:sp>
      <p:sp>
        <p:nvSpPr>
          <p:cNvPr id="335" name="num"/>
          <p:cNvSpPr/>
          <p:nvPr/>
        </p:nvSpPr>
        <p:spPr>
          <a:xfrm>
            <a:off x="1613439" y="8403462"/>
            <a:ext cx="1056579" cy="1162237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32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6" name="txt"/>
          <p:cNvSpPr txBox="1"/>
          <p:nvPr/>
        </p:nvSpPr>
        <p:spPr>
          <a:xfrm>
            <a:off x="3404615" y="7999212"/>
            <a:ext cx="8614258" cy="2036979"/>
          </a:xfrm>
          <a:prstGeom prst="rect">
            <a:avLst/>
          </a:prstGeom>
          <a:noFill/>
        </p:spPr>
        <p:txBody>
          <a:bodyPr wrap="square" lIns="151180" tIns="27432" rIns="45720" bIns="27432" anchor="ctr">
            <a:noAutofit/>
          </a:bodyPr>
          <a:lstStyle/>
          <a:p>
            <a:pPr algn="l"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Firma y recepción de documentación</a:t>
            </a:r>
          </a:p>
          <a:p>
            <a:pPr algn="l">
              <a:spcBef>
                <a:spcPts val="300"/>
              </a:spcBef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Responsable:</a:t>
            </a:r>
            <a:r>
              <a:rPr lang="es-HN" sz="2400" b="0" dirty="0">
                <a:solidFill>
                  <a:srgbClr val="3A4A63"/>
                </a:solidFill>
                <a:latin typeface="Calibri"/>
              </a:rPr>
              <a:t> Recursos Humanos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Firma de contrato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Firma de políticas y compromisos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Recepción de documentos personales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Integración del expediente físico</a:t>
            </a:r>
          </a:p>
        </p:txBody>
      </p:sp>
      <p:sp>
        <p:nvSpPr>
          <p:cNvPr id="337" name="arrow"/>
          <p:cNvSpPr/>
          <p:nvPr/>
        </p:nvSpPr>
        <p:spPr>
          <a:xfrm>
            <a:off x="3125927" y="10135555"/>
            <a:ext cx="1" cy="347778"/>
          </a:xfrm>
          <a:custGeom>
            <a:avLst/>
            <a:gdLst/>
            <a:ahLst/>
            <a:cxnLst/>
            <a:rect l="l" t="t" r="r" b="b"/>
            <a:pathLst>
              <a:path w="1" h="347778" fill="none">
                <a:moveTo>
                  <a:pt x="0" y="0"/>
                </a:moveTo>
                <a:lnTo>
                  <a:pt x="0" y="347778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400"/>
          </a:p>
        </p:txBody>
      </p:sp>
      <p:sp>
        <p:nvSpPr>
          <p:cNvPr id="338" name="card"/>
          <p:cNvSpPr/>
          <p:nvPr/>
        </p:nvSpPr>
        <p:spPr>
          <a:xfrm>
            <a:off x="2141728" y="10516454"/>
            <a:ext cx="10078720" cy="2235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 sz="2400"/>
          </a:p>
        </p:txBody>
      </p:sp>
      <p:sp>
        <p:nvSpPr>
          <p:cNvPr id="339" name="accent"/>
          <p:cNvSpPr/>
          <p:nvPr/>
        </p:nvSpPr>
        <p:spPr>
          <a:xfrm>
            <a:off x="3253434" y="10847670"/>
            <a:ext cx="100787" cy="1573276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  <p:txBody>
          <a:bodyPr/>
          <a:lstStyle/>
          <a:p>
            <a:endParaRPr lang="es-HN" sz="2400"/>
          </a:p>
        </p:txBody>
      </p:sp>
      <p:sp>
        <p:nvSpPr>
          <p:cNvPr id="340" name="num"/>
          <p:cNvSpPr/>
          <p:nvPr/>
        </p:nvSpPr>
        <p:spPr>
          <a:xfrm>
            <a:off x="1613439" y="11053190"/>
            <a:ext cx="1056579" cy="1162237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32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1" name="txt"/>
          <p:cNvSpPr txBox="1"/>
          <p:nvPr/>
        </p:nvSpPr>
        <p:spPr>
          <a:xfrm>
            <a:off x="3404615" y="10648940"/>
            <a:ext cx="8614258" cy="2036979"/>
          </a:xfrm>
          <a:prstGeom prst="rect">
            <a:avLst/>
          </a:prstGeom>
          <a:noFill/>
        </p:spPr>
        <p:txBody>
          <a:bodyPr wrap="square" lIns="151180" tIns="27432" rIns="45720" bIns="27432" anchor="ctr">
            <a:normAutofit/>
          </a:bodyPr>
          <a:lstStyle/>
          <a:p>
            <a:pPr algn="l"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Creación del expediente digital</a:t>
            </a:r>
          </a:p>
          <a:p>
            <a:pPr algn="l">
              <a:spcBef>
                <a:spcPts val="300"/>
              </a:spcBef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Responsable:</a:t>
            </a:r>
            <a:r>
              <a:rPr lang="es-HN" sz="2400" b="0" dirty="0">
                <a:solidFill>
                  <a:srgbClr val="3A4A63"/>
                </a:solidFill>
                <a:latin typeface="Calibri"/>
              </a:rPr>
              <a:t> Recursos Humanos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Registro del colaborador en la plataforma de RH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Digitalización de expedientes</a:t>
            </a:r>
          </a:p>
        </p:txBody>
      </p:sp>
      <p:sp>
        <p:nvSpPr>
          <p:cNvPr id="342" name="arrow"/>
          <p:cNvSpPr/>
          <p:nvPr/>
        </p:nvSpPr>
        <p:spPr>
          <a:xfrm>
            <a:off x="3125927" y="12785283"/>
            <a:ext cx="1" cy="347778"/>
          </a:xfrm>
          <a:custGeom>
            <a:avLst/>
            <a:gdLst/>
            <a:ahLst/>
            <a:cxnLst/>
            <a:rect l="l" t="t" r="r" b="b"/>
            <a:pathLst>
              <a:path w="1" h="347778" fill="none">
                <a:moveTo>
                  <a:pt x="0" y="0"/>
                </a:moveTo>
                <a:lnTo>
                  <a:pt x="0" y="347778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400"/>
          </a:p>
        </p:txBody>
      </p:sp>
      <p:sp>
        <p:nvSpPr>
          <p:cNvPr id="343" name="card"/>
          <p:cNvSpPr/>
          <p:nvPr/>
        </p:nvSpPr>
        <p:spPr>
          <a:xfrm>
            <a:off x="2141728" y="13166182"/>
            <a:ext cx="10078720" cy="2235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 sz="2400"/>
          </a:p>
        </p:txBody>
      </p:sp>
      <p:sp>
        <p:nvSpPr>
          <p:cNvPr id="344" name="accent"/>
          <p:cNvSpPr/>
          <p:nvPr/>
        </p:nvSpPr>
        <p:spPr>
          <a:xfrm>
            <a:off x="3253434" y="13497398"/>
            <a:ext cx="100787" cy="1573276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  <p:txBody>
          <a:bodyPr/>
          <a:lstStyle/>
          <a:p>
            <a:endParaRPr lang="es-HN" sz="2400"/>
          </a:p>
        </p:txBody>
      </p:sp>
      <p:sp>
        <p:nvSpPr>
          <p:cNvPr id="345" name="num"/>
          <p:cNvSpPr/>
          <p:nvPr/>
        </p:nvSpPr>
        <p:spPr>
          <a:xfrm>
            <a:off x="1613439" y="13702918"/>
            <a:ext cx="1056579" cy="1162237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32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6" name="txt"/>
          <p:cNvSpPr txBox="1"/>
          <p:nvPr/>
        </p:nvSpPr>
        <p:spPr>
          <a:xfrm>
            <a:off x="3404615" y="13298668"/>
            <a:ext cx="8614258" cy="2036979"/>
          </a:xfrm>
          <a:prstGeom prst="rect">
            <a:avLst/>
          </a:prstGeom>
          <a:noFill/>
        </p:spPr>
        <p:txBody>
          <a:bodyPr wrap="square" lIns="151180" tIns="27432" rIns="45720" bIns="27432" anchor="ctr">
            <a:normAutofit/>
          </a:bodyPr>
          <a:lstStyle/>
          <a:p>
            <a:pPr algn="l"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Asignación de recursos</a:t>
            </a:r>
          </a:p>
          <a:p>
            <a:pPr algn="l">
              <a:spcBef>
                <a:spcPts val="300"/>
              </a:spcBef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Responsables:</a:t>
            </a:r>
            <a:r>
              <a:rPr lang="es-HN" sz="2400" b="0" dirty="0">
                <a:solidFill>
                  <a:srgbClr val="3A4A63"/>
                </a:solidFill>
                <a:latin typeface="Calibri"/>
              </a:rPr>
              <a:t> RH / Sistemas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Entrega de uniforme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Entrega de computadora (si aplica)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Entrega de accesorios de trabajo</a:t>
            </a:r>
          </a:p>
        </p:txBody>
      </p:sp>
      <p:sp>
        <p:nvSpPr>
          <p:cNvPr id="347" name="card"/>
          <p:cNvSpPr/>
          <p:nvPr/>
        </p:nvSpPr>
        <p:spPr>
          <a:xfrm>
            <a:off x="13732256" y="2567270"/>
            <a:ext cx="10078720" cy="2235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 sz="2400"/>
          </a:p>
        </p:txBody>
      </p:sp>
      <p:sp>
        <p:nvSpPr>
          <p:cNvPr id="348" name="accent"/>
          <p:cNvSpPr/>
          <p:nvPr/>
        </p:nvSpPr>
        <p:spPr>
          <a:xfrm>
            <a:off x="14843962" y="2898486"/>
            <a:ext cx="100787" cy="1573276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  <p:txBody>
          <a:bodyPr/>
          <a:lstStyle/>
          <a:p>
            <a:endParaRPr lang="es-HN" sz="2400"/>
          </a:p>
        </p:txBody>
      </p:sp>
      <p:sp>
        <p:nvSpPr>
          <p:cNvPr id="349" name="num"/>
          <p:cNvSpPr/>
          <p:nvPr/>
        </p:nvSpPr>
        <p:spPr>
          <a:xfrm>
            <a:off x="13203967" y="3104006"/>
            <a:ext cx="1056579" cy="1162237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32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0" name="txt"/>
          <p:cNvSpPr txBox="1"/>
          <p:nvPr/>
        </p:nvSpPr>
        <p:spPr>
          <a:xfrm>
            <a:off x="14995143" y="2699756"/>
            <a:ext cx="8614258" cy="2036979"/>
          </a:xfrm>
          <a:prstGeom prst="rect">
            <a:avLst/>
          </a:prstGeom>
          <a:noFill/>
        </p:spPr>
        <p:txBody>
          <a:bodyPr wrap="square" lIns="151180" tIns="27432" rIns="45720" bIns="27432" anchor="ctr">
            <a:normAutofit/>
          </a:bodyPr>
          <a:lstStyle/>
          <a:p>
            <a:pPr algn="l"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Registro en plataformas institucionales</a:t>
            </a:r>
          </a:p>
          <a:p>
            <a:pPr algn="l">
              <a:spcBef>
                <a:spcPts val="300"/>
              </a:spcBef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Responsable:</a:t>
            </a:r>
            <a:r>
              <a:rPr lang="es-HN" sz="2400" b="0" dirty="0">
                <a:solidFill>
                  <a:srgbClr val="3A4A63"/>
                </a:solidFill>
                <a:latin typeface="Calibri"/>
              </a:rPr>
              <a:t> Recursos Humanos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Registro en el sistema institucional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Acceso a sistemas de información</a:t>
            </a:r>
          </a:p>
        </p:txBody>
      </p:sp>
      <p:sp>
        <p:nvSpPr>
          <p:cNvPr id="351" name="arrow"/>
          <p:cNvSpPr/>
          <p:nvPr/>
        </p:nvSpPr>
        <p:spPr>
          <a:xfrm>
            <a:off x="14716455" y="4836099"/>
            <a:ext cx="1" cy="347778"/>
          </a:xfrm>
          <a:custGeom>
            <a:avLst/>
            <a:gdLst/>
            <a:ahLst/>
            <a:cxnLst/>
            <a:rect l="l" t="t" r="r" b="b"/>
            <a:pathLst>
              <a:path w="1" h="347778" fill="none">
                <a:moveTo>
                  <a:pt x="0" y="0"/>
                </a:moveTo>
                <a:lnTo>
                  <a:pt x="0" y="347778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400"/>
          </a:p>
        </p:txBody>
      </p:sp>
      <p:sp>
        <p:nvSpPr>
          <p:cNvPr id="352" name="card"/>
          <p:cNvSpPr/>
          <p:nvPr/>
        </p:nvSpPr>
        <p:spPr>
          <a:xfrm>
            <a:off x="13732256" y="5216998"/>
            <a:ext cx="10078720" cy="2235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 sz="2400"/>
          </a:p>
        </p:txBody>
      </p:sp>
      <p:sp>
        <p:nvSpPr>
          <p:cNvPr id="353" name="accent"/>
          <p:cNvSpPr/>
          <p:nvPr/>
        </p:nvSpPr>
        <p:spPr>
          <a:xfrm>
            <a:off x="14843962" y="5548214"/>
            <a:ext cx="100787" cy="1573276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  <p:txBody>
          <a:bodyPr/>
          <a:lstStyle/>
          <a:p>
            <a:endParaRPr lang="es-HN" sz="2400"/>
          </a:p>
        </p:txBody>
      </p:sp>
      <p:sp>
        <p:nvSpPr>
          <p:cNvPr id="354" name="num"/>
          <p:cNvSpPr/>
          <p:nvPr/>
        </p:nvSpPr>
        <p:spPr>
          <a:xfrm>
            <a:off x="13203967" y="5753734"/>
            <a:ext cx="1056579" cy="1162237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3200" b="1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55" name="txt"/>
          <p:cNvSpPr txBox="1"/>
          <p:nvPr/>
        </p:nvSpPr>
        <p:spPr>
          <a:xfrm>
            <a:off x="14995143" y="5349484"/>
            <a:ext cx="8614258" cy="2036979"/>
          </a:xfrm>
          <a:prstGeom prst="rect">
            <a:avLst/>
          </a:prstGeom>
          <a:noFill/>
        </p:spPr>
        <p:txBody>
          <a:bodyPr wrap="square" lIns="151180" tIns="27432" rIns="45720" bIns="27432" anchor="ctr">
            <a:normAutofit/>
          </a:bodyPr>
          <a:lstStyle/>
          <a:p>
            <a:pPr algn="l"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Inscripción en Clínica Ocupacional</a:t>
            </a:r>
          </a:p>
          <a:p>
            <a:pPr algn="l">
              <a:spcBef>
                <a:spcPts val="300"/>
              </a:spcBef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Responsable:</a:t>
            </a:r>
            <a:r>
              <a:rPr lang="es-HN" sz="2400" b="0" dirty="0">
                <a:solidFill>
                  <a:srgbClr val="3A4A63"/>
                </a:solidFill>
                <a:latin typeface="Calibri"/>
              </a:rPr>
              <a:t> Recursos Humanos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Registro e inscripción en seguros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Inscripción en Clínica Ocupacional</a:t>
            </a:r>
          </a:p>
        </p:txBody>
      </p:sp>
      <p:sp>
        <p:nvSpPr>
          <p:cNvPr id="356" name="arrow"/>
          <p:cNvSpPr/>
          <p:nvPr/>
        </p:nvSpPr>
        <p:spPr>
          <a:xfrm>
            <a:off x="14716455" y="7485827"/>
            <a:ext cx="1" cy="347778"/>
          </a:xfrm>
          <a:custGeom>
            <a:avLst/>
            <a:gdLst/>
            <a:ahLst/>
            <a:cxnLst/>
            <a:rect l="l" t="t" r="r" b="b"/>
            <a:pathLst>
              <a:path w="1" h="347778" fill="none">
                <a:moveTo>
                  <a:pt x="0" y="0"/>
                </a:moveTo>
                <a:lnTo>
                  <a:pt x="0" y="347778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400"/>
          </a:p>
        </p:txBody>
      </p:sp>
      <p:sp>
        <p:nvSpPr>
          <p:cNvPr id="357" name="card"/>
          <p:cNvSpPr/>
          <p:nvPr/>
        </p:nvSpPr>
        <p:spPr>
          <a:xfrm>
            <a:off x="13732256" y="7866726"/>
            <a:ext cx="10078720" cy="2235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 sz="2400"/>
          </a:p>
        </p:txBody>
      </p:sp>
      <p:sp>
        <p:nvSpPr>
          <p:cNvPr id="358" name="accent"/>
          <p:cNvSpPr/>
          <p:nvPr/>
        </p:nvSpPr>
        <p:spPr>
          <a:xfrm>
            <a:off x="14843962" y="8197942"/>
            <a:ext cx="100787" cy="1573276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  <p:txBody>
          <a:bodyPr/>
          <a:lstStyle/>
          <a:p>
            <a:endParaRPr lang="es-HN" sz="2400"/>
          </a:p>
        </p:txBody>
      </p:sp>
      <p:sp>
        <p:nvSpPr>
          <p:cNvPr id="359" name="num"/>
          <p:cNvSpPr/>
          <p:nvPr/>
        </p:nvSpPr>
        <p:spPr>
          <a:xfrm>
            <a:off x="13203967" y="8403462"/>
            <a:ext cx="1056579" cy="1162237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3200" b="1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0" name="txt"/>
          <p:cNvSpPr txBox="1"/>
          <p:nvPr/>
        </p:nvSpPr>
        <p:spPr>
          <a:xfrm>
            <a:off x="14995143" y="7999212"/>
            <a:ext cx="8614258" cy="2036979"/>
          </a:xfrm>
          <a:prstGeom prst="rect">
            <a:avLst/>
          </a:prstGeom>
          <a:noFill/>
        </p:spPr>
        <p:txBody>
          <a:bodyPr wrap="square" lIns="151180" tIns="27432" rIns="45720" bIns="27432" anchor="ctr">
            <a:normAutofit/>
          </a:bodyPr>
          <a:lstStyle/>
          <a:p>
            <a:pPr algn="l"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Comunicación al líder inmediato</a:t>
            </a:r>
          </a:p>
          <a:p>
            <a:pPr algn="l">
              <a:spcBef>
                <a:spcPts val="300"/>
              </a:spcBef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Responsable:</a:t>
            </a:r>
            <a:r>
              <a:rPr lang="es-HN" sz="2400" b="0" dirty="0">
                <a:solidFill>
                  <a:srgbClr val="3A4A63"/>
                </a:solidFill>
                <a:latin typeface="Calibri"/>
              </a:rPr>
              <a:t> Recursos Humanos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Envío de correo de ingreso de nuevo colaborador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Compartir formato de inducción al puesto al líder</a:t>
            </a:r>
          </a:p>
        </p:txBody>
      </p:sp>
      <p:sp>
        <p:nvSpPr>
          <p:cNvPr id="361" name="arrow"/>
          <p:cNvSpPr/>
          <p:nvPr/>
        </p:nvSpPr>
        <p:spPr>
          <a:xfrm>
            <a:off x="14716455" y="10135555"/>
            <a:ext cx="1" cy="347778"/>
          </a:xfrm>
          <a:custGeom>
            <a:avLst/>
            <a:gdLst/>
            <a:ahLst/>
            <a:cxnLst/>
            <a:rect l="l" t="t" r="r" b="b"/>
            <a:pathLst>
              <a:path w="1" h="347778" fill="none">
                <a:moveTo>
                  <a:pt x="0" y="0"/>
                </a:moveTo>
                <a:lnTo>
                  <a:pt x="0" y="347778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400"/>
          </a:p>
        </p:txBody>
      </p:sp>
      <p:sp>
        <p:nvSpPr>
          <p:cNvPr id="362" name="card"/>
          <p:cNvSpPr/>
          <p:nvPr/>
        </p:nvSpPr>
        <p:spPr>
          <a:xfrm>
            <a:off x="13732256" y="10516454"/>
            <a:ext cx="10078720" cy="2235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 sz="2400"/>
          </a:p>
        </p:txBody>
      </p:sp>
      <p:sp>
        <p:nvSpPr>
          <p:cNvPr id="363" name="accent"/>
          <p:cNvSpPr/>
          <p:nvPr/>
        </p:nvSpPr>
        <p:spPr>
          <a:xfrm>
            <a:off x="14843962" y="10847670"/>
            <a:ext cx="100787" cy="1573276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  <p:txBody>
          <a:bodyPr/>
          <a:lstStyle/>
          <a:p>
            <a:endParaRPr lang="es-HN" sz="2400"/>
          </a:p>
        </p:txBody>
      </p:sp>
      <p:sp>
        <p:nvSpPr>
          <p:cNvPr id="364" name="num"/>
          <p:cNvSpPr/>
          <p:nvPr/>
        </p:nvSpPr>
        <p:spPr>
          <a:xfrm>
            <a:off x="13203967" y="11053190"/>
            <a:ext cx="1056579" cy="1162237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3200" b="1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65" name="txt"/>
          <p:cNvSpPr txBox="1"/>
          <p:nvPr/>
        </p:nvSpPr>
        <p:spPr>
          <a:xfrm>
            <a:off x="14995143" y="10648940"/>
            <a:ext cx="8614258" cy="2036979"/>
          </a:xfrm>
          <a:prstGeom prst="rect">
            <a:avLst/>
          </a:prstGeom>
          <a:noFill/>
        </p:spPr>
        <p:txBody>
          <a:bodyPr wrap="square" lIns="151180" tIns="27432" rIns="45720" bIns="27432" anchor="ctr">
            <a:normAutofit/>
          </a:bodyPr>
          <a:lstStyle/>
          <a:p>
            <a:pPr algn="l"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Inducción al puesto</a:t>
            </a:r>
          </a:p>
          <a:p>
            <a:pPr algn="l">
              <a:spcBef>
                <a:spcPts val="300"/>
              </a:spcBef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Responsable:</a:t>
            </a:r>
            <a:r>
              <a:rPr lang="es-HN" sz="2400" b="0" dirty="0">
                <a:solidFill>
                  <a:srgbClr val="3A4A63"/>
                </a:solidFill>
                <a:latin typeface="Calibri"/>
              </a:rPr>
              <a:t> Líder inmediato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Capacitación en funciones y procesos del puesto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Acompañamiento inicial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Llenado de formato de inducción al puesto</a:t>
            </a:r>
          </a:p>
        </p:txBody>
      </p:sp>
      <p:sp>
        <p:nvSpPr>
          <p:cNvPr id="366" name="arrow"/>
          <p:cNvSpPr/>
          <p:nvPr/>
        </p:nvSpPr>
        <p:spPr>
          <a:xfrm>
            <a:off x="14716455" y="12785283"/>
            <a:ext cx="1" cy="347778"/>
          </a:xfrm>
          <a:custGeom>
            <a:avLst/>
            <a:gdLst/>
            <a:ahLst/>
            <a:cxnLst/>
            <a:rect l="l" t="t" r="r" b="b"/>
            <a:pathLst>
              <a:path w="1" h="347778" fill="none">
                <a:moveTo>
                  <a:pt x="0" y="0"/>
                </a:moveTo>
                <a:lnTo>
                  <a:pt x="0" y="347778"/>
                </a:lnTo>
              </a:path>
            </a:pathLst>
          </a:custGeom>
          <a:noFill/>
          <a:ln w="19050" cap="rnd">
            <a:solidFill>
              <a:srgbClr val="0B2265"/>
            </a:solidFill>
            <a:round/>
            <a:tailEnd type="triangle" w="lg" len="lg"/>
          </a:ln>
        </p:spPr>
        <p:txBody>
          <a:bodyPr/>
          <a:lstStyle/>
          <a:p>
            <a:endParaRPr lang="es-HN" sz="2400"/>
          </a:p>
        </p:txBody>
      </p:sp>
      <p:sp>
        <p:nvSpPr>
          <p:cNvPr id="367" name="card"/>
          <p:cNvSpPr/>
          <p:nvPr/>
        </p:nvSpPr>
        <p:spPr>
          <a:xfrm>
            <a:off x="13732256" y="13166182"/>
            <a:ext cx="10078720" cy="2235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 sz="2400"/>
          </a:p>
        </p:txBody>
      </p:sp>
      <p:sp>
        <p:nvSpPr>
          <p:cNvPr id="368" name="accent"/>
          <p:cNvSpPr/>
          <p:nvPr/>
        </p:nvSpPr>
        <p:spPr>
          <a:xfrm>
            <a:off x="14843962" y="13497398"/>
            <a:ext cx="100787" cy="1573276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  <p:txBody>
          <a:bodyPr/>
          <a:lstStyle/>
          <a:p>
            <a:endParaRPr lang="es-HN" sz="2400"/>
          </a:p>
        </p:txBody>
      </p:sp>
      <p:sp>
        <p:nvSpPr>
          <p:cNvPr id="369" name="num"/>
          <p:cNvSpPr/>
          <p:nvPr/>
        </p:nvSpPr>
        <p:spPr>
          <a:xfrm>
            <a:off x="13203967" y="13702918"/>
            <a:ext cx="1056579" cy="1162237"/>
          </a:xfrm>
          <a:prstGeom prst="ellipse">
            <a:avLst/>
          </a:prstGeom>
          <a:solidFill>
            <a:srgbClr val="0B2265"/>
          </a:solidFill>
          <a:ln w="254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s-HN" sz="3200" b="1" dirty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70" name="txt"/>
          <p:cNvSpPr txBox="1"/>
          <p:nvPr/>
        </p:nvSpPr>
        <p:spPr>
          <a:xfrm>
            <a:off x="14995143" y="13298668"/>
            <a:ext cx="8614258" cy="2036979"/>
          </a:xfrm>
          <a:prstGeom prst="rect">
            <a:avLst/>
          </a:prstGeom>
          <a:noFill/>
        </p:spPr>
        <p:txBody>
          <a:bodyPr wrap="square" lIns="151180" tIns="27432" rIns="45720" bIns="27432" anchor="ctr">
            <a:normAutofit/>
          </a:bodyPr>
          <a:lstStyle/>
          <a:p>
            <a:pPr algn="l"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Seguimiento del período de prueba</a:t>
            </a:r>
          </a:p>
          <a:p>
            <a:pPr algn="l">
              <a:spcBef>
                <a:spcPts val="300"/>
              </a:spcBef>
              <a:buNone/>
            </a:pPr>
            <a:r>
              <a:rPr lang="es-HN" sz="2400" b="1" dirty="0">
                <a:solidFill>
                  <a:srgbClr val="0B2265"/>
                </a:solidFill>
                <a:latin typeface="Calibri"/>
              </a:rPr>
              <a:t>Responsables:</a:t>
            </a:r>
            <a:r>
              <a:rPr lang="es-HN" sz="2400" b="0" dirty="0">
                <a:solidFill>
                  <a:srgbClr val="3A4A63"/>
                </a:solidFill>
                <a:latin typeface="Calibri"/>
              </a:rPr>
              <a:t> Líder inmediato / RH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Entrega de formato de evaluación del período de prueba (una semana antes de finalizar)</a:t>
            </a:r>
          </a:p>
          <a:p>
            <a:pPr marL="171450" indent="-171450" algn="l">
              <a:spcBef>
                <a:spcPts val="150"/>
              </a:spcBef>
              <a:buClr>
                <a:srgbClr val="0B2265"/>
              </a:buClr>
              <a:buFont typeface="Arial"/>
              <a:buChar char="•"/>
            </a:pPr>
            <a:r>
              <a:rPr lang="es-HN" sz="2400" b="0" dirty="0">
                <a:solidFill>
                  <a:srgbClr val="3A4A63"/>
                </a:solidFill>
                <a:latin typeface="Calibri"/>
              </a:rPr>
              <a:t>Archivo del documento en el expediente</a:t>
            </a:r>
          </a:p>
        </p:txBody>
      </p:sp>
      <p:sp>
        <p:nvSpPr>
          <p:cNvPr id="374" name="txt"/>
          <p:cNvSpPr txBox="1"/>
          <p:nvPr/>
        </p:nvSpPr>
        <p:spPr>
          <a:xfrm>
            <a:off x="5039360" y="202790"/>
            <a:ext cx="15118080" cy="1242060"/>
          </a:xfrm>
          <a:prstGeom prst="rect">
            <a:avLst/>
          </a:prstGeom>
          <a:noFill/>
        </p:spPr>
        <p:txBody>
          <a:bodyPr wrap="square" lIns="91440" tIns="27432" rIns="45720" bIns="27432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s-HN" sz="5500" b="1" dirty="0">
                <a:solidFill>
                  <a:srgbClr val="13294B"/>
                </a:solidFill>
                <a:latin typeface="Calibri"/>
              </a:rPr>
              <a:t>PROCESO DE INCORPORACIÓN (ONBOARDING)</a:t>
            </a:r>
          </a:p>
        </p:txBody>
      </p:sp>
      <p:sp>
        <p:nvSpPr>
          <p:cNvPr id="378" name="gd"/>
          <p:cNvSpPr/>
          <p:nvPr/>
        </p:nvSpPr>
        <p:spPr>
          <a:xfrm>
            <a:off x="22803104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79" name="gd"/>
          <p:cNvSpPr/>
          <p:nvPr/>
        </p:nvSpPr>
        <p:spPr>
          <a:xfrm>
            <a:off x="23080268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80" name="gd"/>
          <p:cNvSpPr/>
          <p:nvPr/>
        </p:nvSpPr>
        <p:spPr>
          <a:xfrm>
            <a:off x="23357432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81" name="gd"/>
          <p:cNvSpPr/>
          <p:nvPr/>
        </p:nvSpPr>
        <p:spPr>
          <a:xfrm>
            <a:off x="23634596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82" name="gd"/>
          <p:cNvSpPr/>
          <p:nvPr/>
        </p:nvSpPr>
        <p:spPr>
          <a:xfrm>
            <a:off x="23911760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83" name="gd"/>
          <p:cNvSpPr/>
          <p:nvPr/>
        </p:nvSpPr>
        <p:spPr>
          <a:xfrm>
            <a:off x="24188924" y="745236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84" name="gd"/>
          <p:cNvSpPr/>
          <p:nvPr/>
        </p:nvSpPr>
        <p:spPr>
          <a:xfrm>
            <a:off x="22803104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85" name="gd"/>
          <p:cNvSpPr/>
          <p:nvPr/>
        </p:nvSpPr>
        <p:spPr>
          <a:xfrm>
            <a:off x="23080268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86" name="gd"/>
          <p:cNvSpPr/>
          <p:nvPr/>
        </p:nvSpPr>
        <p:spPr>
          <a:xfrm>
            <a:off x="23357432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87" name="gd"/>
          <p:cNvSpPr/>
          <p:nvPr/>
        </p:nvSpPr>
        <p:spPr>
          <a:xfrm>
            <a:off x="23634596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88" name="gd"/>
          <p:cNvSpPr/>
          <p:nvPr/>
        </p:nvSpPr>
        <p:spPr>
          <a:xfrm>
            <a:off x="23911760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89" name="gd"/>
          <p:cNvSpPr/>
          <p:nvPr/>
        </p:nvSpPr>
        <p:spPr>
          <a:xfrm>
            <a:off x="24188924" y="1010208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90" name="gd"/>
          <p:cNvSpPr/>
          <p:nvPr/>
        </p:nvSpPr>
        <p:spPr>
          <a:xfrm>
            <a:off x="22803104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91" name="gd"/>
          <p:cNvSpPr/>
          <p:nvPr/>
        </p:nvSpPr>
        <p:spPr>
          <a:xfrm>
            <a:off x="23080268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92" name="gd"/>
          <p:cNvSpPr/>
          <p:nvPr/>
        </p:nvSpPr>
        <p:spPr>
          <a:xfrm>
            <a:off x="23357432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93" name="gd"/>
          <p:cNvSpPr/>
          <p:nvPr/>
        </p:nvSpPr>
        <p:spPr>
          <a:xfrm>
            <a:off x="23634596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94" name="gd"/>
          <p:cNvSpPr/>
          <p:nvPr/>
        </p:nvSpPr>
        <p:spPr>
          <a:xfrm>
            <a:off x="23911760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95" name="gd"/>
          <p:cNvSpPr/>
          <p:nvPr/>
        </p:nvSpPr>
        <p:spPr>
          <a:xfrm>
            <a:off x="24188924" y="1275180"/>
            <a:ext cx="99364" cy="99364"/>
          </a:xfrm>
          <a:prstGeom prst="ellipse">
            <a:avLst/>
          </a:prstGeom>
          <a:solidFill>
            <a:srgbClr val="0B2265"/>
          </a:solidFill>
          <a:ln w="0">
            <a:solidFill>
              <a:srgbClr val="0B2265"/>
            </a:solidFill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pPr algn="ctr"/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239C16-AC12-F04B-8FBB-A0CF6EC679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93" t="14690" r="13235" b="8927"/>
          <a:stretch>
            <a:fillRect/>
          </a:stretch>
        </p:blipFill>
        <p:spPr>
          <a:xfrm>
            <a:off x="210761" y="96168"/>
            <a:ext cx="2504158" cy="15994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1257</TotalTime>
  <Words>644</Words>
  <Application>Microsoft Office PowerPoint</Application>
  <PresentationFormat>Personalizado</PresentationFormat>
  <Paragraphs>157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Calibri</vt:lpstr>
      <vt:lpstr>Aptos</vt:lpstr>
      <vt:lpstr>Arial</vt:lpstr>
      <vt:lpstr>Aptos Display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Simple Recruitment Process Flow Chart Poster</dc:title>
  <dc:creator>Celeste Maricela Cruz Chacón</dc:creator>
  <cp:lastModifiedBy>Celeste Maricela Cruz Chacón</cp:lastModifiedBy>
  <cp:revision>4</cp:revision>
  <dcterms:created xsi:type="dcterms:W3CDTF">2006-08-16T00:00:00Z</dcterms:created>
  <dcterms:modified xsi:type="dcterms:W3CDTF">2026-07-09T14:47:59Z</dcterms:modified>
  <dc:identifier>DAHOoR8hsKI</dc:identifier>
</cp:coreProperties>
</file>