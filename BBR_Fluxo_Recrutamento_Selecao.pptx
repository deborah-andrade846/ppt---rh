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2764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1630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4480560" y="0"/>
            <a:ext cx="109728" cy="685800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3108960" y="-1371600"/>
            <a:ext cx="2743200" cy="2743200"/>
          </a:xfrm>
          <a:prstGeom prst="ellipse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-914400" y="5212080"/>
            <a:ext cx="2194560" cy="2194560"/>
          </a:xfrm>
          <a:prstGeom prst="ellipse">
            <a:avLst/>
          </a:prstGeom>
          <a:solidFill>
            <a:srgbClr val="2E6CC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 flipH="1">
            <a:off x="1234440" y="2468880"/>
            <a:ext cx="1005840" cy="1005840"/>
          </a:xfrm>
          <a:prstGeom prst="line">
            <a:avLst/>
          </a:prstGeom>
          <a:noFill/>
          <a:ln w="15240">
            <a:solidFill>
              <a:srgbClr val="3E5C8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2240280" y="2468880"/>
            <a:ext cx="1005840" cy="1005840"/>
          </a:xfrm>
          <a:prstGeom prst="line">
            <a:avLst/>
          </a:prstGeom>
          <a:noFill/>
          <a:ln w="15240">
            <a:solidFill>
              <a:srgbClr val="3E5C8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240280" y="2468880"/>
            <a:ext cx="0" cy="2011680"/>
          </a:xfrm>
          <a:prstGeom prst="line">
            <a:avLst/>
          </a:prstGeom>
          <a:noFill/>
          <a:ln w="15240">
            <a:solidFill>
              <a:srgbClr val="3E5C8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234440" y="3474720"/>
            <a:ext cx="2011680" cy="0"/>
          </a:xfrm>
          <a:prstGeom prst="line">
            <a:avLst/>
          </a:prstGeom>
          <a:noFill/>
          <a:ln w="15240">
            <a:solidFill>
              <a:srgbClr val="3E5C8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234440" y="3474720"/>
            <a:ext cx="1005840" cy="1005840"/>
          </a:xfrm>
          <a:prstGeom prst="line">
            <a:avLst/>
          </a:prstGeom>
          <a:noFill/>
          <a:ln w="15240">
            <a:solidFill>
              <a:srgbClr val="3E5C8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 flipH="1">
            <a:off x="2240280" y="3474720"/>
            <a:ext cx="1005840" cy="1005840"/>
          </a:xfrm>
          <a:prstGeom prst="line">
            <a:avLst/>
          </a:prstGeom>
          <a:noFill/>
          <a:ln w="15240">
            <a:solidFill>
              <a:srgbClr val="3E5C8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2068830" y="2160270"/>
            <a:ext cx="342900" cy="3429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1931670" y="2480310"/>
            <a:ext cx="617220" cy="388620"/>
          </a:xfrm>
          <a:prstGeom prst="roundRect">
            <a:avLst>
              <a:gd name="adj" fmla="val 41176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1097280" y="320040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987552" y="3456432"/>
            <a:ext cx="493776" cy="310896"/>
          </a:xfrm>
          <a:prstGeom prst="roundRect">
            <a:avLst>
              <a:gd name="adj" fmla="val 4117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3108960" y="320040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2999232" y="3456432"/>
            <a:ext cx="493776" cy="310896"/>
          </a:xfrm>
          <a:prstGeom prst="roundRect">
            <a:avLst>
              <a:gd name="adj" fmla="val 4117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2096262" y="4199382"/>
            <a:ext cx="288036" cy="288036"/>
          </a:xfrm>
          <a:prstGeom prst="ellipse">
            <a:avLst/>
          </a:prstGeom>
          <a:solidFill>
            <a:srgbClr val="2E6CC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1981048" y="4468216"/>
            <a:ext cx="518465" cy="326441"/>
          </a:xfrm>
          <a:prstGeom prst="roundRect">
            <a:avLst>
              <a:gd name="adj" fmla="val 41176"/>
            </a:avLst>
          </a:prstGeom>
          <a:solidFill>
            <a:srgbClr val="2E6CC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983480" y="2057400"/>
            <a:ext cx="667512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lvl="0">
              <a:lnSpc>
                <a:spcPct val="102000"/>
              </a:lnSpc>
              <a:defRPr/>
            </a:pPr>
            <a:r>
              <a:rPr lang="en-US" sz="36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do </a:t>
            </a:r>
            <a:r>
              <a:rPr lang="en-US" sz="36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</a:t>
            </a:r>
            <a:r>
              <a:rPr lang="en-US" sz="36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</a:t>
            </a:r>
            <a:endParaRPr lang="en-US" sz="3600" dirty="0">
              <a:solidFill>
                <a:prstClr val="black"/>
              </a:solidFill>
            </a:endParaRPr>
          </a:p>
          <a:p>
            <a:pPr lvl="0">
              <a:lnSpc>
                <a:spcPct val="102000"/>
              </a:lnSpc>
              <a:defRPr/>
            </a:pPr>
            <a:r>
              <a:rPr lang="en-US" sz="3600" b="1" dirty="0" err="1">
                <a:solidFill>
                  <a:srgbClr val="E4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Recrutamento</a:t>
            </a:r>
            <a:r>
              <a:rPr lang="en-US" sz="3600" b="1" dirty="0">
                <a:solidFill>
                  <a:srgbClr val="E4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3600" b="1" dirty="0" err="1">
                <a:solidFill>
                  <a:srgbClr val="E4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</a:t>
            </a:r>
            <a:endParaRPr lang="en-US" sz="3600" dirty="0">
              <a:solidFill>
                <a:prstClr val="black"/>
              </a:solidFill>
            </a:endParaRPr>
          </a:p>
          <a:p>
            <a:pPr indent="0">
              <a:lnSpc>
                <a:spcPct val="102000"/>
              </a:lnSpc>
              <a:buNone/>
              <a:defRPr/>
            </a:pPr>
            <a:r>
              <a:rPr lang="en-US" sz="36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</a:t>
            </a:r>
            <a:r>
              <a:rPr lang="en-US" sz="3600" b="1" dirty="0">
                <a:solidFill>
                  <a:srgbClr val="E4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</a:t>
            </a:r>
            <a:r>
              <a:rPr lang="en-US" sz="3600" b="1" dirty="0" err="1">
                <a:solidFill>
                  <a:srgbClr val="E4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Admissão</a:t>
            </a:r>
            <a:r>
              <a:rPr lang="en-US" sz="3600" b="1" dirty="0">
                <a:solidFill>
                  <a:srgbClr val="E4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BBR</a:t>
            </a:r>
          </a:p>
        </p:txBody>
      </p:sp>
      <p:sp>
        <p:nvSpPr>
          <p:cNvPr id="22" name="Shape 20"/>
          <p:cNvSpPr/>
          <p:nvPr/>
        </p:nvSpPr>
        <p:spPr>
          <a:xfrm>
            <a:off x="5029200" y="3886200"/>
            <a:ext cx="1554480" cy="54864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983480" y="406908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Etapas, aprovações, sistemas utilizados e pontos de decisão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983480" y="617220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IS de R&amp;S</a:t>
            </a:r>
            <a:endParaRPr lang="en-US" sz="1000" dirty="0"/>
          </a:p>
        </p:txBody>
      </p:sp>
      <p:pic>
        <p:nvPicPr>
          <p:cNvPr id="29" name="Image 2" descr="/home/deborah-andrade846/PPT---RH/rh/aura_logo_trim.png">
            <a:extLst>
              <a:ext uri="{FF2B5EF4-FFF2-40B4-BE49-F238E27FC236}">
                <a16:creationId xmlns:a16="http://schemas.microsoft.com/office/drawing/2014/main" id="{CBD6640B-33BF-A40C-A740-EEC19D640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151892"/>
            <a:ext cx="1757680" cy="10285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642" y="0"/>
            <a:ext cx="12191695" cy="786384"/>
          </a:xfrm>
          <a:prstGeom prst="rect">
            <a:avLst/>
          </a:prstGeom>
          <a:solidFill>
            <a:srgbClr val="1630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Completo do Processo de Recrutamento e </a:t>
            </a: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Aura Borborema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27889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91440" cy="822960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594360" y="1124712"/>
            <a:ext cx="402336" cy="402336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94360" y="1124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69848" y="1033272"/>
            <a:ext cx="2057400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Requisição de Vaga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Origem: Pandapé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faz a requisição da vaga (Cargo/Motivo/Salário/Descrição)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aprovação: Gestor da área e Coord. De RH 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1993392"/>
            <a:ext cx="278892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11480" y="1993392"/>
            <a:ext cx="91440" cy="786384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94360" y="2112264"/>
            <a:ext cx="402336" cy="402336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94360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69848" y="2020824"/>
            <a:ext cx="203911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 da Vaga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 no Pandapé após aprovação da requisição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Vagas estratégicas de  R&amp;S Interno, são publicadas na CI Aura.</a:t>
            </a:r>
          </a:p>
        </p:txBody>
      </p:sp>
      <p:sp>
        <p:nvSpPr>
          <p:cNvPr id="16" name="Shape 14"/>
          <p:cNvSpPr/>
          <p:nvPr/>
        </p:nvSpPr>
        <p:spPr>
          <a:xfrm>
            <a:off x="411480" y="2944368"/>
            <a:ext cx="278892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11480" y="2944368"/>
            <a:ext cx="91440" cy="731520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594360" y="3063240"/>
            <a:ext cx="402336" cy="402336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94360" y="3063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69848" y="2971800"/>
            <a:ext cx="203911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de Currículos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Recrutador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técnica dos currículos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Compatibilidade com os requisitos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de candidatos aderentes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11480" y="3840480"/>
            <a:ext cx="278892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411480" y="3840480"/>
            <a:ext cx="91440" cy="786384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594360" y="3959352"/>
            <a:ext cx="402336" cy="402336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594360" y="3959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69848" y="3867912"/>
            <a:ext cx="203911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RH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curricular ,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comportamental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histórico.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 · alinhamento cultural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Pretensão salarial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805940" y="1828800"/>
            <a:ext cx="0" cy="164592"/>
          </a:xfrm>
          <a:prstGeom prst="line">
            <a:avLst/>
          </a:prstGeom>
          <a:noFill/>
          <a:ln w="22860">
            <a:solidFill>
              <a:srgbClr val="2E6C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1805940" y="2779776"/>
            <a:ext cx="0" cy="164592"/>
          </a:xfrm>
          <a:prstGeom prst="line">
            <a:avLst/>
          </a:prstGeom>
          <a:noFill/>
          <a:ln w="22860">
            <a:solidFill>
              <a:srgbClr val="2E6C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1805940" y="3675888"/>
            <a:ext cx="0" cy="164592"/>
          </a:xfrm>
          <a:prstGeom prst="line">
            <a:avLst/>
          </a:prstGeom>
          <a:noFill/>
          <a:ln w="22860">
            <a:solidFill>
              <a:srgbClr val="2E6C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1805940" y="4626864"/>
            <a:ext cx="0" cy="64008"/>
          </a:xfrm>
          <a:prstGeom prst="line">
            <a:avLst/>
          </a:prstGeom>
          <a:noFill/>
          <a:ln w="22860">
            <a:solidFill>
              <a:srgbClr val="2E6C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1097280" y="4686300"/>
            <a:ext cx="1417320" cy="777240"/>
          </a:xfrm>
          <a:prstGeom prst="diamond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1097280" y="46863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Aprovado?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3504" y="487013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 flipH="1">
            <a:off x="640080" y="5074920"/>
            <a:ext cx="452628" cy="0"/>
          </a:xfrm>
          <a:prstGeom prst="line">
            <a:avLst/>
          </a:prstGeom>
          <a:noFill/>
          <a:ln w="19050">
            <a:solidFill>
              <a:srgbClr val="C0504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91440" y="5349240"/>
            <a:ext cx="1417320" cy="384048"/>
          </a:xfrm>
          <a:prstGeom prst="roundRect">
            <a:avLst>
              <a:gd name="adj" fmla="val 28571"/>
            </a:avLst>
          </a:prstGeom>
          <a:solidFill>
            <a:srgbClr val="F4DAD8"/>
          </a:solidFill>
          <a:ln w="12700">
            <a:solidFill>
              <a:srgbClr val="C0504D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91440" y="5349240"/>
            <a:ext cx="1417320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Reprovado · </a:t>
            </a:r>
            <a:r>
              <a:rPr lang="en-US" sz="800" b="1" dirty="0" err="1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</a:t>
            </a: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b="1" dirty="0" err="1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</a:t>
            </a: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feedback e é </a:t>
            </a:r>
            <a:r>
              <a:rPr lang="en-US" sz="800" b="1" dirty="0" err="1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</a:t>
            </a: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800" b="1" dirty="0" err="1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</a:t>
            </a: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47081" y="5074546"/>
            <a:ext cx="155448" cy="256032"/>
          </a:xfrm>
          <a:prstGeom prst="line">
            <a:avLst/>
          </a:prstGeom>
          <a:noFill/>
          <a:ln w="17780">
            <a:solidFill>
              <a:srgbClr val="C0504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2496312" y="487504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611880" y="1005840"/>
            <a:ext cx="1874520" cy="402336"/>
          </a:xfrm>
          <a:prstGeom prst="roundRect">
            <a:avLst>
              <a:gd name="adj" fmla="val 22727"/>
            </a:avLst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3611880" y="1005840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Backgroud</a:t>
            </a:r>
            <a:r>
              <a:rPr lang="en-US" sz="105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Check</a:t>
            </a:r>
          </a:p>
          <a:p>
            <a:pPr marL="0" indent="0" algn="ctr">
              <a:buNone/>
            </a:pPr>
            <a:r>
              <a:rPr lang="en-US" sz="8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Patrimonial</a:t>
            </a:r>
          </a:p>
          <a:p>
            <a:pPr marL="0" indent="0" algn="ctr">
              <a:buNone/>
            </a:pPr>
            <a:r>
              <a:rPr lang="en-US" sz="8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Conflito de interesses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611880" y="1426464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i="1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lang="en-US" sz="8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paralelo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611880" y="1755648"/>
            <a:ext cx="18745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3611880" y="1755648"/>
            <a:ext cx="1874520" cy="42062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70" b="1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</a:t>
            </a:r>
            <a:r>
              <a:rPr lang="en-US" sz="87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02 </a:t>
            </a:r>
            <a:r>
              <a:rPr lang="en-US" sz="870" b="1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formulários</a:t>
            </a:r>
            <a:r>
              <a:rPr lang="en-US" sz="87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</a:t>
            </a:r>
            <a:r>
              <a:rPr lang="en-US" sz="870" b="1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pandapé</a:t>
            </a:r>
            <a:endParaRPr lang="en-US" sz="870" dirty="0"/>
          </a:p>
        </p:txBody>
      </p:sp>
      <p:sp>
        <p:nvSpPr>
          <p:cNvPr id="43" name="Shape 41"/>
          <p:cNvSpPr/>
          <p:nvPr/>
        </p:nvSpPr>
        <p:spPr>
          <a:xfrm>
            <a:off x="3611880" y="2340864"/>
            <a:ext cx="18745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3611880" y="2340864"/>
            <a:ext cx="1874520" cy="42062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Preenchimento pelo candidato</a:t>
            </a:r>
            <a:endParaRPr lang="en-US" sz="870" dirty="0"/>
          </a:p>
        </p:txBody>
      </p:sp>
      <p:sp>
        <p:nvSpPr>
          <p:cNvPr id="45" name="Shape 43"/>
          <p:cNvSpPr/>
          <p:nvPr/>
        </p:nvSpPr>
        <p:spPr>
          <a:xfrm>
            <a:off x="3611880" y="2926080"/>
            <a:ext cx="18745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3621024" y="2962656"/>
            <a:ext cx="1874520" cy="42062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Patrimonial: Pesquisa </a:t>
            </a:r>
            <a:endParaRPr lang="en-US" sz="870" dirty="0"/>
          </a:p>
        </p:txBody>
      </p:sp>
      <p:sp>
        <p:nvSpPr>
          <p:cNvPr id="47" name="Shape 45"/>
          <p:cNvSpPr/>
          <p:nvPr/>
        </p:nvSpPr>
        <p:spPr>
          <a:xfrm>
            <a:off x="4549140" y="1645920"/>
            <a:ext cx="0" cy="109728"/>
          </a:xfrm>
          <a:prstGeom prst="line">
            <a:avLst/>
          </a:prstGeom>
          <a:noFill/>
          <a:ln w="20320">
            <a:solidFill>
              <a:srgbClr val="D994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48" name="Shape 46"/>
          <p:cNvSpPr/>
          <p:nvPr/>
        </p:nvSpPr>
        <p:spPr>
          <a:xfrm>
            <a:off x="4549140" y="2176272"/>
            <a:ext cx="0" cy="164592"/>
          </a:xfrm>
          <a:prstGeom prst="line">
            <a:avLst/>
          </a:prstGeom>
          <a:noFill/>
          <a:ln w="20320">
            <a:solidFill>
              <a:srgbClr val="D994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49" name="Shape 47"/>
          <p:cNvSpPr/>
          <p:nvPr/>
        </p:nvSpPr>
        <p:spPr>
          <a:xfrm>
            <a:off x="4549140" y="2761488"/>
            <a:ext cx="0" cy="164592"/>
          </a:xfrm>
          <a:prstGeom prst="line">
            <a:avLst/>
          </a:prstGeom>
          <a:noFill/>
          <a:ln w="20320">
            <a:solidFill>
              <a:srgbClr val="D994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50" name="Shape 48"/>
          <p:cNvSpPr/>
          <p:nvPr/>
        </p:nvSpPr>
        <p:spPr>
          <a:xfrm>
            <a:off x="4549140" y="3346704"/>
            <a:ext cx="0" cy="155448"/>
          </a:xfrm>
          <a:prstGeom prst="line">
            <a:avLst/>
          </a:prstGeom>
          <a:noFill/>
          <a:ln w="20320">
            <a:solidFill>
              <a:srgbClr val="D994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51" name="Shape 49"/>
          <p:cNvSpPr/>
          <p:nvPr/>
        </p:nvSpPr>
        <p:spPr>
          <a:xfrm>
            <a:off x="3900103" y="4254293"/>
            <a:ext cx="1417320" cy="749808"/>
          </a:xfrm>
          <a:prstGeom prst="diamond">
            <a:avLst/>
          </a:prstGeom>
          <a:solidFill>
            <a:srgbClr val="DCE7F7"/>
          </a:solidFill>
          <a:ln w="12700">
            <a:solidFill>
              <a:srgbClr val="2E6CC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3941227" y="4240127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Aprovado?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111350" y="5000833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614270" y="5014549"/>
            <a:ext cx="0" cy="192024"/>
          </a:xfrm>
          <a:prstGeom prst="line">
            <a:avLst/>
          </a:prstGeom>
          <a:noFill/>
          <a:ln w="17780">
            <a:solidFill>
              <a:srgbClr val="C0504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55" name="Shape 53"/>
          <p:cNvSpPr/>
          <p:nvPr/>
        </p:nvSpPr>
        <p:spPr>
          <a:xfrm>
            <a:off x="3674487" y="5271516"/>
            <a:ext cx="1874520" cy="384048"/>
          </a:xfrm>
          <a:prstGeom prst="roundRect">
            <a:avLst>
              <a:gd name="adj" fmla="val 28571"/>
            </a:avLst>
          </a:prstGeom>
          <a:solidFill>
            <a:srgbClr val="F4DAD8"/>
          </a:solidFill>
          <a:ln w="12700">
            <a:solidFill>
              <a:srgbClr val="C0504D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6" name="Text 54"/>
          <p:cNvSpPr/>
          <p:nvPr/>
        </p:nvSpPr>
        <p:spPr>
          <a:xfrm>
            <a:off x="3706491" y="5308558"/>
            <a:ext cx="1874520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Restrição · </a:t>
            </a:r>
            <a:r>
              <a:rPr lang="en-US" sz="800" b="1" dirty="0" err="1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</a:t>
            </a: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</a:t>
            </a:r>
            <a:r>
              <a:rPr lang="en-US" sz="800" b="1" dirty="0" err="1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</a:t>
            </a: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800" b="1" dirty="0" err="1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519172" y="5074920"/>
            <a:ext cx="882396" cy="0"/>
          </a:xfrm>
          <a:prstGeom prst="line">
            <a:avLst/>
          </a:prstGeom>
          <a:noFill/>
          <a:ln w="20320">
            <a:solidFill>
              <a:srgbClr val="2E7D3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58" name="Shape 56"/>
          <p:cNvSpPr/>
          <p:nvPr/>
        </p:nvSpPr>
        <p:spPr>
          <a:xfrm flipV="1">
            <a:off x="3401568" y="1207008"/>
            <a:ext cx="0" cy="3867912"/>
          </a:xfrm>
          <a:prstGeom prst="line">
            <a:avLst/>
          </a:prstGeom>
          <a:noFill/>
          <a:ln w="20320">
            <a:solidFill>
              <a:srgbClr val="2E7D3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59" name="Shape 57"/>
          <p:cNvSpPr/>
          <p:nvPr/>
        </p:nvSpPr>
        <p:spPr>
          <a:xfrm>
            <a:off x="3401568" y="1207008"/>
            <a:ext cx="210312" cy="0"/>
          </a:xfrm>
          <a:prstGeom prst="line">
            <a:avLst/>
          </a:prstGeom>
          <a:noFill/>
          <a:ln w="20320">
            <a:solidFill>
              <a:srgbClr val="2E7D3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60" name="Text 58"/>
          <p:cNvSpPr/>
          <p:nvPr/>
        </p:nvSpPr>
        <p:spPr>
          <a:xfrm>
            <a:off x="5106876" y="435739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806441" y="1005839"/>
            <a:ext cx="2788912" cy="969265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2" name="Shape 60"/>
          <p:cNvSpPr/>
          <p:nvPr/>
        </p:nvSpPr>
        <p:spPr>
          <a:xfrm>
            <a:off x="5806439" y="1005840"/>
            <a:ext cx="123445" cy="969264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Shape 61"/>
          <p:cNvSpPr/>
          <p:nvPr/>
        </p:nvSpPr>
        <p:spPr>
          <a:xfrm>
            <a:off x="5989320" y="1124712"/>
            <a:ext cx="402336" cy="402336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4" name="Text 62"/>
          <p:cNvSpPr/>
          <p:nvPr/>
        </p:nvSpPr>
        <p:spPr>
          <a:xfrm>
            <a:off x="5989320" y="1124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6464808" y="1091565"/>
            <a:ext cx="203911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com Gestor</a:t>
            </a:r>
            <a:endParaRPr lang="en-US" sz="1150" dirty="0"/>
          </a:p>
          <a:p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técnico ·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</a:t>
            </a:r>
            <a:endParaRPr lang="en-US" sz="800" dirty="0">
              <a:solidFill>
                <a:srgbClr val="6B74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Competências · fit com a equipe</a:t>
            </a:r>
            <a:b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(Vagas para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SR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acima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é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realizada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superior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imediato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gestor da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gerência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</p:txBody>
      </p:sp>
      <p:sp>
        <p:nvSpPr>
          <p:cNvPr id="66" name="Shape 64"/>
          <p:cNvSpPr/>
          <p:nvPr/>
        </p:nvSpPr>
        <p:spPr>
          <a:xfrm>
            <a:off x="5326428" y="4629197"/>
            <a:ext cx="333756" cy="0"/>
          </a:xfrm>
          <a:prstGeom prst="line">
            <a:avLst/>
          </a:prstGeom>
          <a:noFill/>
          <a:ln w="20320">
            <a:solidFill>
              <a:srgbClr val="2E7D3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67" name="Shape 65"/>
          <p:cNvSpPr/>
          <p:nvPr/>
        </p:nvSpPr>
        <p:spPr>
          <a:xfrm flipH="1" flipV="1">
            <a:off x="5614788" y="1380370"/>
            <a:ext cx="41147" cy="3256468"/>
          </a:xfrm>
          <a:prstGeom prst="line">
            <a:avLst/>
          </a:prstGeom>
          <a:noFill/>
          <a:ln w="20320">
            <a:solidFill>
              <a:srgbClr val="2E7D3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68" name="Shape 66"/>
          <p:cNvSpPr/>
          <p:nvPr/>
        </p:nvSpPr>
        <p:spPr>
          <a:xfrm>
            <a:off x="5605459" y="1389701"/>
            <a:ext cx="210312" cy="0"/>
          </a:xfrm>
          <a:prstGeom prst="line">
            <a:avLst/>
          </a:prstGeom>
          <a:noFill/>
          <a:ln w="20320">
            <a:solidFill>
              <a:srgbClr val="2E7D3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69" name="Shape 67"/>
          <p:cNvSpPr/>
          <p:nvPr/>
        </p:nvSpPr>
        <p:spPr>
          <a:xfrm>
            <a:off x="7200900" y="1986534"/>
            <a:ext cx="0" cy="164592"/>
          </a:xfrm>
          <a:prstGeom prst="line">
            <a:avLst/>
          </a:prstGeom>
          <a:noFill/>
          <a:ln w="22860">
            <a:solidFill>
              <a:srgbClr val="2E6C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70" name="Shape 68"/>
          <p:cNvSpPr/>
          <p:nvPr/>
        </p:nvSpPr>
        <p:spPr>
          <a:xfrm>
            <a:off x="6423660" y="2164651"/>
            <a:ext cx="1554480" cy="749808"/>
          </a:xfrm>
          <a:prstGeom prst="diamond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1" name="Text 69"/>
          <p:cNvSpPr/>
          <p:nvPr/>
        </p:nvSpPr>
        <p:spPr>
          <a:xfrm>
            <a:off x="6423660" y="2098167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 err="1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Finalista</a:t>
            </a:r>
            <a:r>
              <a:rPr lang="en-US" sz="9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009893" y="2290191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 flipH="1">
            <a:off x="5742432" y="2539555"/>
            <a:ext cx="681228" cy="0"/>
          </a:xfrm>
          <a:prstGeom prst="line">
            <a:avLst/>
          </a:prstGeom>
          <a:noFill/>
          <a:ln w="17780">
            <a:solidFill>
              <a:srgbClr val="C0504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74" name="Shape 72"/>
          <p:cNvSpPr/>
          <p:nvPr/>
        </p:nvSpPr>
        <p:spPr>
          <a:xfrm flipH="1">
            <a:off x="5726388" y="2539556"/>
            <a:ext cx="16044" cy="3362516"/>
          </a:xfrm>
          <a:prstGeom prst="line">
            <a:avLst/>
          </a:prstGeom>
          <a:noFill/>
          <a:ln w="17780">
            <a:solidFill>
              <a:srgbClr val="C0504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75" name="Shape 73"/>
          <p:cNvSpPr/>
          <p:nvPr/>
        </p:nvSpPr>
        <p:spPr>
          <a:xfrm>
            <a:off x="5726388" y="5902071"/>
            <a:ext cx="310896" cy="0"/>
          </a:xfrm>
          <a:prstGeom prst="line">
            <a:avLst/>
          </a:prstGeom>
          <a:noFill/>
          <a:ln w="17780">
            <a:solidFill>
              <a:srgbClr val="C0504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76" name="Shape 74"/>
          <p:cNvSpPr/>
          <p:nvPr/>
        </p:nvSpPr>
        <p:spPr>
          <a:xfrm>
            <a:off x="6083046" y="5815757"/>
            <a:ext cx="2542032" cy="255858"/>
          </a:xfrm>
          <a:prstGeom prst="roundRect">
            <a:avLst>
              <a:gd name="adj" fmla="val 17857"/>
            </a:avLst>
          </a:prstGeom>
          <a:solidFill>
            <a:srgbClr val="F4DAD8"/>
          </a:solidFill>
          <a:ln w="12700">
            <a:solidFill>
              <a:srgbClr val="C0504D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7" name="Text 75"/>
          <p:cNvSpPr/>
          <p:nvPr/>
        </p:nvSpPr>
        <p:spPr>
          <a:xfrm>
            <a:off x="6030368" y="5689147"/>
            <a:ext cx="2542032" cy="5120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</a:t>
            </a:r>
            <a:r>
              <a:rPr lang="en-US" sz="800" b="1" dirty="0" err="1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finalista</a:t>
            </a: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</a:t>
            </a:r>
            <a:r>
              <a:rPr lang="en-US" sz="800" b="1" dirty="0" err="1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</a:t>
            </a: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feedback </a:t>
            </a:r>
            <a:r>
              <a:rPr lang="en-US" sz="800" b="1" dirty="0" err="1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</a:t>
            </a: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b="1" dirty="0" err="1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</a:t>
            </a: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</p:txBody>
      </p:sp>
      <p:sp>
        <p:nvSpPr>
          <p:cNvPr id="78" name="Text 76"/>
          <p:cNvSpPr/>
          <p:nvPr/>
        </p:nvSpPr>
        <p:spPr>
          <a:xfrm>
            <a:off x="7132321" y="2825115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5806440" y="3085719"/>
            <a:ext cx="278892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0" name="Shape 78"/>
          <p:cNvSpPr/>
          <p:nvPr/>
        </p:nvSpPr>
        <p:spPr>
          <a:xfrm>
            <a:off x="5806440" y="3085719"/>
            <a:ext cx="91440" cy="73152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7780">
            <a:noFill/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81" name="Shape 79"/>
          <p:cNvSpPr/>
          <p:nvPr/>
        </p:nvSpPr>
        <p:spPr>
          <a:xfrm>
            <a:off x="5989320" y="3204591"/>
            <a:ext cx="402336" cy="402336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2" name="Text 80"/>
          <p:cNvSpPr/>
          <p:nvPr/>
        </p:nvSpPr>
        <p:spPr>
          <a:xfrm>
            <a:off x="5989320" y="320459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7200900" y="2944368"/>
            <a:ext cx="0" cy="141350"/>
          </a:xfrm>
          <a:prstGeom prst="line">
            <a:avLst/>
          </a:prstGeom>
          <a:noFill/>
          <a:ln w="22860">
            <a:solidFill>
              <a:srgbClr val="2E6C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85" name="Shape 83"/>
          <p:cNvSpPr/>
          <p:nvPr/>
        </p:nvSpPr>
        <p:spPr>
          <a:xfrm>
            <a:off x="5806440" y="3963543"/>
            <a:ext cx="278892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6" name="Shape 84"/>
          <p:cNvSpPr/>
          <p:nvPr/>
        </p:nvSpPr>
        <p:spPr>
          <a:xfrm>
            <a:off x="5806440" y="3963543"/>
            <a:ext cx="91440" cy="786384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7" name="Shape 85"/>
          <p:cNvSpPr/>
          <p:nvPr/>
        </p:nvSpPr>
        <p:spPr>
          <a:xfrm>
            <a:off x="5989320" y="4082415"/>
            <a:ext cx="402336" cy="402336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8" name="Text 86"/>
          <p:cNvSpPr/>
          <p:nvPr/>
        </p:nvSpPr>
        <p:spPr>
          <a:xfrm>
            <a:off x="5989320" y="40824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90" name="Shape 88"/>
          <p:cNvSpPr/>
          <p:nvPr/>
        </p:nvSpPr>
        <p:spPr>
          <a:xfrm>
            <a:off x="7200900" y="3817239"/>
            <a:ext cx="0" cy="146304"/>
          </a:xfrm>
          <a:prstGeom prst="line">
            <a:avLst/>
          </a:prstGeom>
          <a:noFill/>
          <a:ln w="22860">
            <a:solidFill>
              <a:srgbClr val="2E6C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91" name="Shape 89"/>
          <p:cNvSpPr/>
          <p:nvPr/>
        </p:nvSpPr>
        <p:spPr>
          <a:xfrm>
            <a:off x="5806440" y="4914519"/>
            <a:ext cx="2788920" cy="822960"/>
          </a:xfrm>
          <a:prstGeom prst="roundRect">
            <a:avLst>
              <a:gd name="adj" fmla="val 10000"/>
            </a:avLst>
          </a:prstGeom>
          <a:solidFill>
            <a:srgbClr val="EAF5EC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2" name="Shape 90"/>
          <p:cNvSpPr/>
          <p:nvPr/>
        </p:nvSpPr>
        <p:spPr>
          <a:xfrm>
            <a:off x="5806440" y="4914519"/>
            <a:ext cx="91440" cy="822960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3" name="Shape 91"/>
          <p:cNvSpPr/>
          <p:nvPr/>
        </p:nvSpPr>
        <p:spPr>
          <a:xfrm>
            <a:off x="5989320" y="5033391"/>
            <a:ext cx="402336" cy="402336"/>
          </a:xfrm>
          <a:prstGeom prst="ellipse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4" name="Text 92"/>
          <p:cNvSpPr/>
          <p:nvPr/>
        </p:nvSpPr>
        <p:spPr>
          <a:xfrm>
            <a:off x="5989320" y="503339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95" name="Text 93"/>
          <p:cNvSpPr/>
          <p:nvPr/>
        </p:nvSpPr>
        <p:spPr>
          <a:xfrm>
            <a:off x="6464808" y="4941951"/>
            <a:ext cx="2039112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Concluída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do novo colaborador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à equipe e à empresa</a:t>
            </a:r>
            <a:endParaRPr lang="en-US" sz="1150" dirty="0"/>
          </a:p>
        </p:txBody>
      </p:sp>
      <p:sp>
        <p:nvSpPr>
          <p:cNvPr id="96" name="Shape 94"/>
          <p:cNvSpPr/>
          <p:nvPr/>
        </p:nvSpPr>
        <p:spPr>
          <a:xfrm>
            <a:off x="7200900" y="4749927"/>
            <a:ext cx="0" cy="164592"/>
          </a:xfrm>
          <a:prstGeom prst="line">
            <a:avLst/>
          </a:prstGeom>
          <a:noFill/>
          <a:ln w="22860">
            <a:solidFill>
              <a:srgbClr val="2E7D3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97" name="Shape 95"/>
          <p:cNvSpPr/>
          <p:nvPr/>
        </p:nvSpPr>
        <p:spPr>
          <a:xfrm>
            <a:off x="8887968" y="1005840"/>
            <a:ext cx="303580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8" name="Shape 96"/>
          <p:cNvSpPr/>
          <p:nvPr/>
        </p:nvSpPr>
        <p:spPr>
          <a:xfrm>
            <a:off x="8887968" y="1005840"/>
            <a:ext cx="3035808" cy="365760"/>
          </a:xfrm>
          <a:prstGeom prst="roundRect">
            <a:avLst>
              <a:gd name="adj" fmla="val 20000"/>
            </a:avLst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9" name="Shape 97"/>
          <p:cNvSpPr/>
          <p:nvPr/>
        </p:nvSpPr>
        <p:spPr>
          <a:xfrm>
            <a:off x="8887968" y="1207008"/>
            <a:ext cx="3035808" cy="182880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1" name="Text 99"/>
          <p:cNvSpPr/>
          <p:nvPr/>
        </p:nvSpPr>
        <p:spPr>
          <a:xfrm>
            <a:off x="8933688" y="1005840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UTILIZADOS</a:t>
            </a:r>
            <a:endParaRPr lang="en-US" sz="1050" dirty="0"/>
          </a:p>
        </p:txBody>
      </p:sp>
      <p:sp>
        <p:nvSpPr>
          <p:cNvPr id="102" name="Text 100"/>
          <p:cNvSpPr/>
          <p:nvPr/>
        </p:nvSpPr>
        <p:spPr>
          <a:xfrm>
            <a:off x="9015984" y="1444752"/>
            <a:ext cx="281635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Pandapé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endParaRPr lang="en-US" sz="840" dirty="0">
              <a:solidFill>
                <a:srgbClr val="3A414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Docusign</a:t>
            </a:r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endParaRPr lang="en-US" sz="840" dirty="0"/>
          </a:p>
          <a:p>
            <a:pPr>
              <a:spcAft>
                <a:spcPts val="300"/>
              </a:spcAft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Outlook</a:t>
            </a:r>
            <a:endParaRPr lang="en-US" sz="840" dirty="0"/>
          </a:p>
        </p:txBody>
      </p:sp>
      <p:sp>
        <p:nvSpPr>
          <p:cNvPr id="103" name="Shape 101"/>
          <p:cNvSpPr/>
          <p:nvPr/>
        </p:nvSpPr>
        <p:spPr>
          <a:xfrm>
            <a:off x="8887968" y="2962656"/>
            <a:ext cx="3035808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4" name="Shape 102"/>
          <p:cNvSpPr/>
          <p:nvPr/>
        </p:nvSpPr>
        <p:spPr>
          <a:xfrm>
            <a:off x="8887968" y="2962656"/>
            <a:ext cx="3035808" cy="365760"/>
          </a:xfrm>
          <a:prstGeom prst="roundRect">
            <a:avLst>
              <a:gd name="adj" fmla="val 20000"/>
            </a:avLst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5" name="Shape 103"/>
          <p:cNvSpPr/>
          <p:nvPr/>
        </p:nvSpPr>
        <p:spPr>
          <a:xfrm>
            <a:off x="8887968" y="3163824"/>
            <a:ext cx="3035808" cy="182880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7" name="Text 105"/>
          <p:cNvSpPr/>
          <p:nvPr/>
        </p:nvSpPr>
        <p:spPr>
          <a:xfrm>
            <a:off x="8933688" y="2962656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DECISÃO</a:t>
            </a:r>
            <a:endParaRPr lang="en-US" sz="1050" dirty="0"/>
          </a:p>
        </p:txBody>
      </p:sp>
      <p:sp>
        <p:nvSpPr>
          <p:cNvPr id="108" name="Text 106"/>
          <p:cNvSpPr/>
          <p:nvPr/>
        </p:nvSpPr>
        <p:spPr>
          <a:xfrm>
            <a:off x="9015984" y="3401568"/>
            <a:ext cx="2816352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Aprovação da Requisição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Aprovação RH Custos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Aprovação Entrevista RH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Aprovação </a:t>
            </a:r>
            <a:r>
              <a:rPr lang="en-US" sz="84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</a:t>
            </a: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Patrimonial e </a:t>
            </a:r>
            <a:r>
              <a:rPr lang="en-US" sz="84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conflito</a:t>
            </a: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interesses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Aprovação Gestor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Aceite da Proposta</a:t>
            </a:r>
            <a:endParaRPr lang="en-US" sz="840" dirty="0"/>
          </a:p>
        </p:txBody>
      </p:sp>
      <p:sp>
        <p:nvSpPr>
          <p:cNvPr id="109" name="Shape 107"/>
          <p:cNvSpPr/>
          <p:nvPr/>
        </p:nvSpPr>
        <p:spPr>
          <a:xfrm>
            <a:off x="8887968" y="4791456"/>
            <a:ext cx="303580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0" name="Shape 108"/>
          <p:cNvSpPr/>
          <p:nvPr/>
        </p:nvSpPr>
        <p:spPr>
          <a:xfrm>
            <a:off x="8887968" y="4791456"/>
            <a:ext cx="3035808" cy="365760"/>
          </a:xfrm>
          <a:prstGeom prst="roundRect">
            <a:avLst>
              <a:gd name="adj" fmla="val 20000"/>
            </a:avLst>
          </a:prstGeom>
          <a:solidFill>
            <a:srgbClr val="C0504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1" name="Shape 109"/>
          <p:cNvSpPr/>
          <p:nvPr/>
        </p:nvSpPr>
        <p:spPr>
          <a:xfrm>
            <a:off x="8887968" y="4992624"/>
            <a:ext cx="3035808" cy="182880"/>
          </a:xfrm>
          <a:prstGeom prst="rect">
            <a:avLst/>
          </a:prstGeom>
          <a:solidFill>
            <a:srgbClr val="C0504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3" name="Text 111"/>
          <p:cNvSpPr/>
          <p:nvPr/>
        </p:nvSpPr>
        <p:spPr>
          <a:xfrm>
            <a:off x="8933688" y="4791456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POSSÍVEIS ENCERRAMENTOS</a:t>
            </a:r>
            <a:endParaRPr lang="en-US" sz="1050" dirty="0"/>
          </a:p>
        </p:txBody>
      </p:sp>
      <p:sp>
        <p:nvSpPr>
          <p:cNvPr id="114" name="Text 112"/>
          <p:cNvSpPr/>
          <p:nvPr/>
        </p:nvSpPr>
        <p:spPr>
          <a:xfrm>
            <a:off x="9015984" y="5230368"/>
            <a:ext cx="2816352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Reprovação na Entrevista RH</a:t>
            </a:r>
            <a:endParaRPr lang="en-US" sz="840" dirty="0"/>
          </a:p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Restrição na </a:t>
            </a:r>
            <a:r>
              <a:rPr lang="en-US" sz="84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</a:t>
            </a: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Patrimonial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84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Reprovação</a:t>
            </a: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4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conflito</a:t>
            </a: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84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intersses</a:t>
            </a:r>
            <a:endParaRPr lang="en-US" sz="840" dirty="0"/>
          </a:p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Reprovação pelo Gestor</a:t>
            </a:r>
            <a:endParaRPr lang="en-US" sz="840" dirty="0"/>
          </a:p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Recusa da Proposta</a:t>
            </a:r>
            <a:endParaRPr lang="en-US" sz="840" dirty="0"/>
          </a:p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Reabertura da vaga</a:t>
            </a:r>
            <a:endParaRPr lang="en-US" sz="840" dirty="0"/>
          </a:p>
        </p:txBody>
      </p:sp>
      <p:sp>
        <p:nvSpPr>
          <p:cNvPr id="115" name="Text 113"/>
          <p:cNvSpPr/>
          <p:nvPr/>
        </p:nvSpPr>
        <p:spPr>
          <a:xfrm>
            <a:off x="41148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Legenda: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1435608" y="6619510"/>
            <a:ext cx="237744" cy="201168"/>
          </a:xfrm>
          <a:prstGeom prst="roundRect">
            <a:avLst>
              <a:gd name="adj" fmla="val 22727"/>
            </a:avLst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7" name="Text 115"/>
          <p:cNvSpPr/>
          <p:nvPr/>
        </p:nvSpPr>
        <p:spPr>
          <a:xfrm>
            <a:off x="1719072" y="656464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3142086" y="6597388"/>
            <a:ext cx="237744" cy="201168"/>
          </a:xfrm>
          <a:prstGeom prst="diamond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9" name="Text 117"/>
          <p:cNvSpPr/>
          <p:nvPr/>
        </p:nvSpPr>
        <p:spPr>
          <a:xfrm>
            <a:off x="3425550" y="654252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5012029" y="6609828"/>
            <a:ext cx="237744" cy="201168"/>
          </a:xfrm>
          <a:prstGeom prst="roundRect">
            <a:avLst>
              <a:gd name="adj" fmla="val 22727"/>
            </a:avLst>
          </a:prstGeom>
          <a:solidFill>
            <a:srgbClr val="F4DA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1" name="Text 119"/>
          <p:cNvSpPr/>
          <p:nvPr/>
        </p:nvSpPr>
        <p:spPr>
          <a:xfrm>
            <a:off x="5228081" y="6586199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6784848" y="6660277"/>
            <a:ext cx="237744" cy="201168"/>
          </a:xfrm>
          <a:prstGeom prst="roundRect">
            <a:avLst>
              <a:gd name="adj" fmla="val 22727"/>
            </a:avLst>
          </a:prstGeom>
          <a:solidFill>
            <a:srgbClr val="EAF5EC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23" name="Text 121"/>
          <p:cNvSpPr/>
          <p:nvPr/>
        </p:nvSpPr>
        <p:spPr>
          <a:xfrm>
            <a:off x="7022592" y="6596269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800" dirty="0"/>
          </a:p>
        </p:txBody>
      </p:sp>
      <p:sp>
        <p:nvSpPr>
          <p:cNvPr id="106" name="Text 81">
            <a:extLst>
              <a:ext uri="{FF2B5EF4-FFF2-40B4-BE49-F238E27FC236}">
                <a16:creationId xmlns:a16="http://schemas.microsoft.com/office/drawing/2014/main" id="{DFE9B93F-A8F1-F532-A0DD-A6F98CE14BF9}"/>
              </a:ext>
            </a:extLst>
          </p:cNvPr>
          <p:cNvSpPr/>
          <p:nvPr/>
        </p:nvSpPr>
        <p:spPr>
          <a:xfrm>
            <a:off x="6464808" y="3099952"/>
            <a:ext cx="203911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Proposta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RH Custos  (Email)·  Aprovação Gestor (Pandapé)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Formalização da oferta ao candidato</a:t>
            </a:r>
            <a:endParaRPr lang="en-US" sz="1150" dirty="0"/>
          </a:p>
        </p:txBody>
      </p:sp>
      <p:sp>
        <p:nvSpPr>
          <p:cNvPr id="112" name="Text 87">
            <a:extLst>
              <a:ext uri="{FF2B5EF4-FFF2-40B4-BE49-F238E27FC236}">
                <a16:creationId xmlns:a16="http://schemas.microsoft.com/office/drawing/2014/main" id="{4365813C-25D2-D4FB-B20F-880DE6CADB47}"/>
              </a:ext>
            </a:extLst>
          </p:cNvPr>
          <p:cNvSpPr/>
          <p:nvPr/>
        </p:nvSpPr>
        <p:spPr>
          <a:xfrm>
            <a:off x="6473952" y="3923981"/>
            <a:ext cx="203911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Formalização &amp; Assinatura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por e-mail da proposta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eletrônica via Docusign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Aceite do candidato</a:t>
            </a:r>
            <a:endParaRPr lang="en-US" sz="1150" dirty="0"/>
          </a:p>
        </p:txBody>
      </p:sp>
      <p:sp>
        <p:nvSpPr>
          <p:cNvPr id="127" name="Shape 43">
            <a:extLst>
              <a:ext uri="{FF2B5EF4-FFF2-40B4-BE49-F238E27FC236}">
                <a16:creationId xmlns:a16="http://schemas.microsoft.com/office/drawing/2014/main" id="{9F59C0D1-38B4-C245-8941-23223170314B}"/>
              </a:ext>
            </a:extLst>
          </p:cNvPr>
          <p:cNvSpPr/>
          <p:nvPr/>
        </p:nvSpPr>
        <p:spPr>
          <a:xfrm>
            <a:off x="3628115" y="3592621"/>
            <a:ext cx="18745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9" name="Text 44">
            <a:extLst>
              <a:ext uri="{FF2B5EF4-FFF2-40B4-BE49-F238E27FC236}">
                <a16:creationId xmlns:a16="http://schemas.microsoft.com/office/drawing/2014/main" id="{F455F79C-A98F-FFE5-1243-F56C7488EB33}"/>
              </a:ext>
            </a:extLst>
          </p:cNvPr>
          <p:cNvSpPr/>
          <p:nvPr/>
        </p:nvSpPr>
        <p:spPr>
          <a:xfrm>
            <a:off x="3706491" y="3594309"/>
            <a:ext cx="1874520" cy="42062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RH : </a:t>
            </a:r>
            <a:r>
              <a:rPr lang="en-US" sz="870" b="1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r>
              <a:rPr lang="en-US" sz="87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870" b="1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</a:t>
            </a:r>
            <a:r>
              <a:rPr lang="en-US" sz="87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870" b="1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conflito</a:t>
            </a:r>
            <a:r>
              <a:rPr lang="en-US" sz="87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interesses</a:t>
            </a:r>
            <a:endParaRPr lang="en-US" sz="870" dirty="0"/>
          </a:p>
        </p:txBody>
      </p:sp>
      <p:sp>
        <p:nvSpPr>
          <p:cNvPr id="131" name="Shape 48">
            <a:extLst>
              <a:ext uri="{FF2B5EF4-FFF2-40B4-BE49-F238E27FC236}">
                <a16:creationId xmlns:a16="http://schemas.microsoft.com/office/drawing/2014/main" id="{F2FF1BAD-2780-1348-0897-BFEFC9D45995}"/>
              </a:ext>
            </a:extLst>
          </p:cNvPr>
          <p:cNvSpPr/>
          <p:nvPr/>
        </p:nvSpPr>
        <p:spPr>
          <a:xfrm>
            <a:off x="4608231" y="4058942"/>
            <a:ext cx="0" cy="155448"/>
          </a:xfrm>
          <a:prstGeom prst="line">
            <a:avLst/>
          </a:prstGeom>
          <a:noFill/>
          <a:ln w="20320">
            <a:solidFill>
              <a:srgbClr val="D994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35" name="Shape 74">
            <a:extLst>
              <a:ext uri="{FF2B5EF4-FFF2-40B4-BE49-F238E27FC236}">
                <a16:creationId xmlns:a16="http://schemas.microsoft.com/office/drawing/2014/main" id="{254C667B-4039-37FC-A049-4DE6A8D5BDD8}"/>
              </a:ext>
            </a:extLst>
          </p:cNvPr>
          <p:cNvSpPr/>
          <p:nvPr/>
        </p:nvSpPr>
        <p:spPr>
          <a:xfrm>
            <a:off x="6083046" y="6147662"/>
            <a:ext cx="2542032" cy="394862"/>
          </a:xfrm>
          <a:prstGeom prst="roundRect">
            <a:avLst>
              <a:gd name="adj" fmla="val 17857"/>
            </a:avLst>
          </a:prstGeom>
          <a:solidFill>
            <a:srgbClr val="F4DAD8"/>
          </a:solidFill>
          <a:ln w="12700">
            <a:solidFill>
              <a:srgbClr val="C0504D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3" name="CaixaDeTexto 132">
            <a:extLst>
              <a:ext uri="{FF2B5EF4-FFF2-40B4-BE49-F238E27FC236}">
                <a16:creationId xmlns:a16="http://schemas.microsoft.com/office/drawing/2014/main" id="{01100CD5-9013-D50B-19E2-6444930F2231}"/>
              </a:ext>
            </a:extLst>
          </p:cNvPr>
          <p:cNvSpPr txBox="1"/>
          <p:nvPr/>
        </p:nvSpPr>
        <p:spPr>
          <a:xfrm>
            <a:off x="5985447" y="6176253"/>
            <a:ext cx="27441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OBS:  Em </a:t>
            </a:r>
            <a:r>
              <a:rPr lang="en-US" sz="800" b="1" dirty="0" err="1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</a:t>
            </a: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800" b="1" dirty="0" err="1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desistência</a:t>
            </a: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b="1" dirty="0" err="1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b="1" dirty="0" err="1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</a:t>
            </a: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b="1" dirty="0" err="1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recusada</a:t>
            </a: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 </a:t>
            </a:r>
            <a:r>
              <a:rPr lang="en-US" sz="800" b="1" dirty="0" err="1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recritador</a:t>
            </a: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b="1" dirty="0" err="1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</a:t>
            </a: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nova </a:t>
            </a:r>
            <a:r>
              <a:rPr lang="en-US" sz="800" b="1" dirty="0" err="1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</a:t>
            </a: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b="1" dirty="0" err="1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nova </a:t>
            </a:r>
            <a:r>
              <a:rPr lang="en-US" sz="800" b="1" dirty="0" err="1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</a:t>
            </a: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630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686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Executiva do Processo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-1869640" y="576072"/>
            <a:ext cx="3657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do tempo — 8 etapas</a:t>
            </a:r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868680" y="3493008"/>
            <a:ext cx="10469880" cy="54864"/>
          </a:xfrm>
          <a:prstGeom prst="rect">
            <a:avLst/>
          </a:prstGeom>
          <a:solidFill>
            <a:srgbClr val="D7DCE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 flipV="1">
            <a:off x="868680" y="3017520"/>
            <a:ext cx="0" cy="182880"/>
          </a:xfrm>
          <a:prstGeom prst="line">
            <a:avLst/>
          </a:prstGeom>
          <a:noFill/>
          <a:ln w="17780">
            <a:solidFill>
              <a:srgbClr val="1F4E9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19456" y="1810512"/>
            <a:ext cx="12984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219456" y="1810512"/>
            <a:ext cx="1298448" cy="82296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74320" y="1920240"/>
            <a:ext cx="11887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Requisição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 da vaga </a:t>
            </a:r>
            <a:r>
              <a:rPr lang="en-US" sz="83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</a:t>
            </a:r>
            <a:r>
              <a:rPr lang="en-US" sz="83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gestor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</a:t>
            </a:r>
            <a:r>
              <a:rPr lang="en-US" sz="83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</a:t>
            </a:r>
            <a:r>
              <a:rPr lang="en-US" sz="83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gestor superior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RH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" y="3264408"/>
            <a:ext cx="512064" cy="512064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12648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64377" y="3840480"/>
            <a:ext cx="0" cy="182880"/>
          </a:xfrm>
          <a:prstGeom prst="line">
            <a:avLst/>
          </a:prstGeom>
          <a:noFill/>
          <a:ln w="17780">
            <a:solidFill>
              <a:srgbClr val="D994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1715153" y="4023360"/>
            <a:ext cx="12984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1715153" y="4023360"/>
            <a:ext cx="1298448" cy="82296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770017" y="4133088"/>
            <a:ext cx="11887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Divulgação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 na Pandapé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08345" y="3264408"/>
            <a:ext cx="512064" cy="512064"/>
          </a:xfrm>
          <a:prstGeom prst="ellipse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2108345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 flipV="1">
            <a:off x="3860074" y="3017520"/>
            <a:ext cx="0" cy="182880"/>
          </a:xfrm>
          <a:prstGeom prst="line">
            <a:avLst/>
          </a:prstGeom>
          <a:noFill/>
          <a:ln w="17780">
            <a:solidFill>
              <a:srgbClr val="1F4E9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3210850" y="1810512"/>
            <a:ext cx="12984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210850" y="1810512"/>
            <a:ext cx="1298448" cy="82296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265714" y="1920240"/>
            <a:ext cx="11887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currículos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04042" y="3264408"/>
            <a:ext cx="512064" cy="512064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3604042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355771" y="3840480"/>
            <a:ext cx="0" cy="182880"/>
          </a:xfrm>
          <a:prstGeom prst="line">
            <a:avLst/>
          </a:prstGeom>
          <a:noFill/>
          <a:ln w="17780">
            <a:solidFill>
              <a:srgbClr val="D994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4706547" y="4023360"/>
            <a:ext cx="12984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4706547" y="4023360"/>
            <a:ext cx="1298448" cy="82296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4761411" y="4133088"/>
            <a:ext cx="11887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e gestor</a:t>
            </a:r>
            <a:br>
              <a:rPr lang="en-US" sz="83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99739" y="3264408"/>
            <a:ext cx="512064" cy="512064"/>
          </a:xfrm>
          <a:prstGeom prst="ellipse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5099739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 flipV="1">
            <a:off x="6851469" y="3017520"/>
            <a:ext cx="0" cy="182880"/>
          </a:xfrm>
          <a:prstGeom prst="line">
            <a:avLst/>
          </a:prstGeom>
          <a:noFill/>
          <a:ln w="17780">
            <a:solidFill>
              <a:srgbClr val="1F4E9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6202245" y="1810512"/>
            <a:ext cx="12984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6202245" y="1810512"/>
            <a:ext cx="1298448" cy="82296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6257109" y="1920240"/>
            <a:ext cx="11887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e validações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595437" y="3264408"/>
            <a:ext cx="512064" cy="512064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6595437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8347166" y="3840480"/>
            <a:ext cx="0" cy="182880"/>
          </a:xfrm>
          <a:prstGeom prst="line">
            <a:avLst/>
          </a:prstGeom>
          <a:noFill/>
          <a:ln w="17780">
            <a:solidFill>
              <a:srgbClr val="D994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7697942" y="4023360"/>
            <a:ext cx="12984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9" name="Shape 37"/>
          <p:cNvSpPr/>
          <p:nvPr/>
        </p:nvSpPr>
        <p:spPr>
          <a:xfrm>
            <a:off x="7697942" y="4023360"/>
            <a:ext cx="1298448" cy="82296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7752806" y="4133088"/>
            <a:ext cx="11887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e negociação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091134" y="3264408"/>
            <a:ext cx="512064" cy="512064"/>
          </a:xfrm>
          <a:prstGeom prst="ellipse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8091134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 flipV="1">
            <a:off x="9842863" y="3017520"/>
            <a:ext cx="0" cy="182880"/>
          </a:xfrm>
          <a:prstGeom prst="line">
            <a:avLst/>
          </a:prstGeom>
          <a:noFill/>
          <a:ln w="17780">
            <a:solidFill>
              <a:srgbClr val="1F4E9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9193639" y="1810512"/>
            <a:ext cx="12984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>
            <a:off x="9193639" y="1810512"/>
            <a:ext cx="1298448" cy="82296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9248503" y="1920240"/>
            <a:ext cx="11887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 err="1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Finalização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via </a:t>
            </a:r>
            <a:r>
              <a:rPr lang="en-US" sz="83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DOcusign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586831" y="3264408"/>
            <a:ext cx="512064" cy="512064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9586831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11338560" y="3840480"/>
            <a:ext cx="0" cy="182880"/>
          </a:xfrm>
          <a:prstGeom prst="line">
            <a:avLst/>
          </a:prstGeom>
          <a:noFill/>
          <a:ln w="17780">
            <a:solidFill>
              <a:srgbClr val="D994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50" name="Shape 48"/>
          <p:cNvSpPr/>
          <p:nvPr/>
        </p:nvSpPr>
        <p:spPr>
          <a:xfrm>
            <a:off x="10689336" y="4023360"/>
            <a:ext cx="12984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1" name="Shape 49"/>
          <p:cNvSpPr/>
          <p:nvPr/>
        </p:nvSpPr>
        <p:spPr>
          <a:xfrm>
            <a:off x="10689336" y="4023360"/>
            <a:ext cx="1298448" cy="82296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10744200" y="4133088"/>
            <a:ext cx="11887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do colaborador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11082528" y="3264408"/>
            <a:ext cx="512064" cy="512064"/>
          </a:xfrm>
          <a:prstGeom prst="ellipse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11082528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365760" y="53492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pedido à integração — um </a:t>
            </a:r>
            <a:r>
              <a:rPr lang="en-US" sz="1200" i="1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lang="en-US" sz="12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estruturado, auditável e orientado a decisões.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353507" y="5806440"/>
            <a:ext cx="2606040" cy="749808"/>
          </a:xfrm>
          <a:prstGeom prst="roundRect">
            <a:avLst>
              <a:gd name="adj" fmla="val 12195"/>
            </a:avLst>
          </a:prstGeom>
          <a:solidFill>
            <a:srgbClr val="F4F6F9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7" name="Shape 55"/>
          <p:cNvSpPr/>
          <p:nvPr/>
        </p:nvSpPr>
        <p:spPr>
          <a:xfrm>
            <a:off x="353507" y="5806440"/>
            <a:ext cx="91440" cy="749808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Text 56"/>
          <p:cNvSpPr/>
          <p:nvPr/>
        </p:nvSpPr>
        <p:spPr>
          <a:xfrm>
            <a:off x="518099" y="5806440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4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59" name="Text 57"/>
          <p:cNvSpPr/>
          <p:nvPr/>
        </p:nvSpPr>
        <p:spPr>
          <a:xfrm>
            <a:off x="1286195" y="5806440"/>
            <a:ext cx="1600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principais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3313054" y="5806440"/>
            <a:ext cx="2606040" cy="749808"/>
          </a:xfrm>
          <a:prstGeom prst="roundRect">
            <a:avLst>
              <a:gd name="adj" fmla="val 12195"/>
            </a:avLst>
          </a:prstGeom>
          <a:solidFill>
            <a:srgbClr val="F4F6F9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1" name="Shape 59"/>
          <p:cNvSpPr/>
          <p:nvPr/>
        </p:nvSpPr>
        <p:spPr>
          <a:xfrm>
            <a:off x="3313054" y="5806440"/>
            <a:ext cx="91440" cy="74980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Text 60"/>
          <p:cNvSpPr/>
          <p:nvPr/>
        </p:nvSpPr>
        <p:spPr>
          <a:xfrm>
            <a:off x="3477646" y="5806440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>
              <a:solidFill>
                <a:schemeClr val="accent2"/>
              </a:solidFill>
            </a:endParaRPr>
          </a:p>
        </p:txBody>
      </p:sp>
      <p:sp>
        <p:nvSpPr>
          <p:cNvPr id="63" name="Text 61"/>
          <p:cNvSpPr/>
          <p:nvPr/>
        </p:nvSpPr>
        <p:spPr>
          <a:xfrm>
            <a:off x="4245742" y="5806440"/>
            <a:ext cx="1600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decisão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272601" y="5806440"/>
            <a:ext cx="2606040" cy="749808"/>
          </a:xfrm>
          <a:prstGeom prst="roundRect">
            <a:avLst>
              <a:gd name="adj" fmla="val 12195"/>
            </a:avLst>
          </a:prstGeom>
          <a:solidFill>
            <a:srgbClr val="F4F6F9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5" name="Shape 63"/>
          <p:cNvSpPr/>
          <p:nvPr/>
        </p:nvSpPr>
        <p:spPr>
          <a:xfrm>
            <a:off x="6272601" y="5806440"/>
            <a:ext cx="91440" cy="749808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6" name="Text 64"/>
          <p:cNvSpPr/>
          <p:nvPr/>
        </p:nvSpPr>
        <p:spPr>
          <a:xfrm>
            <a:off x="6437193" y="5806440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4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67" name="Text 65"/>
          <p:cNvSpPr/>
          <p:nvPr/>
        </p:nvSpPr>
        <p:spPr>
          <a:xfrm>
            <a:off x="7205289" y="5806440"/>
            <a:ext cx="1600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integrados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9232148" y="5806440"/>
            <a:ext cx="2606040" cy="749808"/>
          </a:xfrm>
          <a:prstGeom prst="roundRect">
            <a:avLst>
              <a:gd name="adj" fmla="val 12195"/>
            </a:avLst>
          </a:prstGeom>
          <a:solidFill>
            <a:srgbClr val="F4F6F9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9" name="Shape 67"/>
          <p:cNvSpPr/>
          <p:nvPr/>
        </p:nvSpPr>
        <p:spPr>
          <a:xfrm>
            <a:off x="9232148" y="5806440"/>
            <a:ext cx="91440" cy="74980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0" name="Text 68"/>
          <p:cNvSpPr/>
          <p:nvPr/>
        </p:nvSpPr>
        <p:spPr>
          <a:xfrm>
            <a:off x="9396740" y="5806440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>
              <a:solidFill>
                <a:schemeClr val="accent2"/>
              </a:solidFill>
            </a:endParaRPr>
          </a:p>
        </p:txBody>
      </p:sp>
      <p:sp>
        <p:nvSpPr>
          <p:cNvPr id="71" name="Text 69"/>
          <p:cNvSpPr/>
          <p:nvPr/>
        </p:nvSpPr>
        <p:spPr>
          <a:xfrm>
            <a:off x="10164836" y="5806440"/>
            <a:ext cx="1600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possíveis encerramentos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2234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863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de Onboarding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-471434" y="256032"/>
            <a:ext cx="2148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4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das 10 etapas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11480" y="960120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411480" y="960120"/>
            <a:ext cx="91440" cy="93268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594360" y="1069848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594360" y="1069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69848" y="100584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do candidato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· Pandapé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69848" y="15727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Processo admissional iniciado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11480" y="2020824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411480" y="2020824"/>
            <a:ext cx="91440" cy="93268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594360" y="2130552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594360" y="2130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69848" y="2066544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do ASO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· Saúde Ocupacional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69848" y="26334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Exame admissional agendado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11480" y="3081528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7"/>
          <p:cNvSpPr/>
          <p:nvPr/>
        </p:nvSpPr>
        <p:spPr>
          <a:xfrm>
            <a:off x="411480" y="3081528"/>
            <a:ext cx="91440" cy="93268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594360" y="3191256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594360" y="3191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69848" y="3127248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Recebimento e organização da documentação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69848" y="36941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Documentação conferida e arquivada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11480" y="4142232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3"/>
          <p:cNvSpPr/>
          <p:nvPr/>
        </p:nvSpPr>
        <p:spPr>
          <a:xfrm>
            <a:off x="411480" y="4142232"/>
            <a:ext cx="91440" cy="93268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4"/>
          <p:cNvSpPr/>
          <p:nvPr/>
        </p:nvSpPr>
        <p:spPr>
          <a:xfrm>
            <a:off x="594360" y="4251960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594360" y="4251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069848" y="4187952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Abetura</a:t>
            </a: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chamado</a:t>
            </a: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1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admissão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· </a:t>
            </a:r>
            <a:r>
              <a:rPr lang="en-US" sz="850" dirty="0" err="1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Pipefy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69848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Colaborador apto para a integração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11480" y="5202936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2" name="Shape 29"/>
          <p:cNvSpPr/>
          <p:nvPr/>
        </p:nvSpPr>
        <p:spPr>
          <a:xfrm>
            <a:off x="411480" y="5202936"/>
            <a:ext cx="91440" cy="93268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Shape 30"/>
          <p:cNvSpPr/>
          <p:nvPr/>
        </p:nvSpPr>
        <p:spPr>
          <a:xfrm>
            <a:off x="594360" y="5312664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4" name="Text 31"/>
          <p:cNvSpPr/>
          <p:nvPr/>
        </p:nvSpPr>
        <p:spPr>
          <a:xfrm>
            <a:off x="594360" y="5312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1069848" y="5248656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no Linx- </a:t>
            </a:r>
            <a:r>
              <a:rPr lang="en-US" sz="11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Vexia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 err="1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Vexia</a:t>
            </a: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Linx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1069848" y="581558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Admissão registrada no sistema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6400800" y="960120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8" name="Shape 35"/>
          <p:cNvSpPr/>
          <p:nvPr/>
        </p:nvSpPr>
        <p:spPr>
          <a:xfrm>
            <a:off x="6400800" y="960120"/>
            <a:ext cx="91440" cy="93268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Shape 36"/>
          <p:cNvSpPr/>
          <p:nvPr/>
        </p:nvSpPr>
        <p:spPr>
          <a:xfrm>
            <a:off x="6583680" y="1069848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0" name="Text 37"/>
          <p:cNvSpPr/>
          <p:nvPr/>
        </p:nvSpPr>
        <p:spPr>
          <a:xfrm>
            <a:off x="6583680" y="1069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6400800" y="2020824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4" name="Shape 41"/>
          <p:cNvSpPr/>
          <p:nvPr/>
        </p:nvSpPr>
        <p:spPr>
          <a:xfrm>
            <a:off x="6400800" y="2020824"/>
            <a:ext cx="91440" cy="93268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Shape 42"/>
          <p:cNvSpPr/>
          <p:nvPr/>
        </p:nvSpPr>
        <p:spPr>
          <a:xfrm>
            <a:off x="6583680" y="2130552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6" name="Text 43"/>
          <p:cNvSpPr/>
          <p:nvPr/>
        </p:nvSpPr>
        <p:spPr>
          <a:xfrm>
            <a:off x="6583680" y="2130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7068499" y="1069848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Pré-Integração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· sexta anterior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6958958" y="1538805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Colaborador preparado para o 1º dia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6400800" y="3081528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0" name="Shape 47"/>
          <p:cNvSpPr/>
          <p:nvPr/>
        </p:nvSpPr>
        <p:spPr>
          <a:xfrm>
            <a:off x="6400800" y="3081528"/>
            <a:ext cx="91440" cy="93268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Shape 48"/>
          <p:cNvSpPr/>
          <p:nvPr/>
        </p:nvSpPr>
        <p:spPr>
          <a:xfrm>
            <a:off x="6583680" y="3191256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2" name="Text 49"/>
          <p:cNvSpPr/>
          <p:nvPr/>
        </p:nvSpPr>
        <p:spPr>
          <a:xfrm>
            <a:off x="6583680" y="3191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7082028" y="210312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dia de </a:t>
            </a:r>
            <a:r>
              <a:rPr lang="en-US" sz="11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</a:t>
            </a: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Institucional</a:t>
            </a: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/RH/</a:t>
            </a:r>
            <a:r>
              <a:rPr lang="en-US" sz="11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</a:t>
            </a: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11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</a:t>
            </a: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Digital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6986016" y="26232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Integração administrativa concluída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6400800" y="4142232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6" name="Shape 53"/>
          <p:cNvSpPr/>
          <p:nvPr/>
        </p:nvSpPr>
        <p:spPr>
          <a:xfrm>
            <a:off x="6400800" y="4142232"/>
            <a:ext cx="91440" cy="93268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Shape 54"/>
          <p:cNvSpPr/>
          <p:nvPr/>
        </p:nvSpPr>
        <p:spPr>
          <a:xfrm>
            <a:off x="6583680" y="4251960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8" name="Text 55"/>
          <p:cNvSpPr/>
          <p:nvPr/>
        </p:nvSpPr>
        <p:spPr>
          <a:xfrm>
            <a:off x="6583680" y="4251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7059168" y="4187952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Capacitação</a:t>
            </a: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 </a:t>
            </a:r>
            <a:r>
              <a:rPr lang="en-US" sz="8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</a:t>
            </a:r>
            <a:r>
              <a:rPr lang="en-US" sz="8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(NRs/</a:t>
            </a:r>
            <a:r>
              <a:rPr lang="en-US" sz="8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Treinamentos</a:t>
            </a:r>
            <a:r>
              <a:rPr lang="en-US" sz="8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/On the job)</a:t>
            </a: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 </a:t>
            </a:r>
            <a:r>
              <a:rPr lang="en-US" sz="11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</a:t>
            </a: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Padrinho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· 45 dias</a:t>
            </a:r>
            <a:endParaRPr lang="en-US" sz="1100" dirty="0"/>
          </a:p>
        </p:txBody>
      </p:sp>
      <p:sp>
        <p:nvSpPr>
          <p:cNvPr id="60" name="Text 57"/>
          <p:cNvSpPr/>
          <p:nvPr/>
        </p:nvSpPr>
        <p:spPr>
          <a:xfrm>
            <a:off x="7059168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Acompanhamento estruturado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6400800" y="5202936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2" name="Shape 59"/>
          <p:cNvSpPr/>
          <p:nvPr/>
        </p:nvSpPr>
        <p:spPr>
          <a:xfrm>
            <a:off x="6400800" y="5202936"/>
            <a:ext cx="91440" cy="93268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Shape 60"/>
          <p:cNvSpPr/>
          <p:nvPr/>
        </p:nvSpPr>
        <p:spPr>
          <a:xfrm>
            <a:off x="6583680" y="5312664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4" name="Text 61"/>
          <p:cNvSpPr/>
          <p:nvPr/>
        </p:nvSpPr>
        <p:spPr>
          <a:xfrm>
            <a:off x="6583680" y="5312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65" name="Text 62"/>
          <p:cNvSpPr/>
          <p:nvPr/>
        </p:nvSpPr>
        <p:spPr>
          <a:xfrm>
            <a:off x="7059168" y="5248656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 do Onboarding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· Gestor</a:t>
            </a:r>
            <a:endParaRPr lang="en-US" sz="1100" dirty="0"/>
          </a:p>
        </p:txBody>
      </p:sp>
      <p:sp>
        <p:nvSpPr>
          <p:cNvPr id="66" name="Text 63"/>
          <p:cNvSpPr/>
          <p:nvPr/>
        </p:nvSpPr>
        <p:spPr>
          <a:xfrm>
            <a:off x="7059168" y="581558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Colaborador integrado</a:t>
            </a: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>
            <a:off x="3086100" y="1892808"/>
            <a:ext cx="0" cy="128016"/>
          </a:xfrm>
          <a:prstGeom prst="line">
            <a:avLst/>
          </a:prstGeom>
          <a:noFill/>
          <a:ln w="20320">
            <a:solidFill>
              <a:srgbClr val="E45D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68" name="Shape 65"/>
          <p:cNvSpPr/>
          <p:nvPr/>
        </p:nvSpPr>
        <p:spPr>
          <a:xfrm>
            <a:off x="9075420" y="1892808"/>
            <a:ext cx="0" cy="128016"/>
          </a:xfrm>
          <a:prstGeom prst="line">
            <a:avLst/>
          </a:prstGeom>
          <a:noFill/>
          <a:ln w="20320">
            <a:solidFill>
              <a:srgbClr val="E45D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69" name="Shape 66"/>
          <p:cNvSpPr/>
          <p:nvPr/>
        </p:nvSpPr>
        <p:spPr>
          <a:xfrm>
            <a:off x="3086100" y="2953512"/>
            <a:ext cx="0" cy="128016"/>
          </a:xfrm>
          <a:prstGeom prst="line">
            <a:avLst/>
          </a:prstGeom>
          <a:noFill/>
          <a:ln w="20320">
            <a:solidFill>
              <a:srgbClr val="E45D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70" name="Shape 67"/>
          <p:cNvSpPr/>
          <p:nvPr/>
        </p:nvSpPr>
        <p:spPr>
          <a:xfrm>
            <a:off x="9075420" y="2953512"/>
            <a:ext cx="0" cy="128016"/>
          </a:xfrm>
          <a:prstGeom prst="line">
            <a:avLst/>
          </a:prstGeom>
          <a:noFill/>
          <a:ln w="20320">
            <a:solidFill>
              <a:srgbClr val="E45D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71" name="Shape 68"/>
          <p:cNvSpPr/>
          <p:nvPr/>
        </p:nvSpPr>
        <p:spPr>
          <a:xfrm>
            <a:off x="3086100" y="4014216"/>
            <a:ext cx="0" cy="128016"/>
          </a:xfrm>
          <a:prstGeom prst="line">
            <a:avLst/>
          </a:prstGeom>
          <a:noFill/>
          <a:ln w="20320">
            <a:solidFill>
              <a:srgbClr val="E45D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72" name="Shape 69"/>
          <p:cNvSpPr/>
          <p:nvPr/>
        </p:nvSpPr>
        <p:spPr>
          <a:xfrm>
            <a:off x="9075420" y="4014216"/>
            <a:ext cx="0" cy="128016"/>
          </a:xfrm>
          <a:prstGeom prst="line">
            <a:avLst/>
          </a:prstGeom>
          <a:noFill/>
          <a:ln w="20320">
            <a:solidFill>
              <a:srgbClr val="E45D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73" name="Shape 70"/>
          <p:cNvSpPr/>
          <p:nvPr/>
        </p:nvSpPr>
        <p:spPr>
          <a:xfrm>
            <a:off x="3086100" y="5074920"/>
            <a:ext cx="0" cy="128016"/>
          </a:xfrm>
          <a:prstGeom prst="line">
            <a:avLst/>
          </a:prstGeom>
          <a:noFill/>
          <a:ln w="20320">
            <a:solidFill>
              <a:srgbClr val="E45D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74" name="Shape 71"/>
          <p:cNvSpPr/>
          <p:nvPr/>
        </p:nvSpPr>
        <p:spPr>
          <a:xfrm>
            <a:off x="9075420" y="5074920"/>
            <a:ext cx="0" cy="128016"/>
          </a:xfrm>
          <a:prstGeom prst="line">
            <a:avLst/>
          </a:prstGeom>
          <a:noFill/>
          <a:ln w="20320">
            <a:solidFill>
              <a:srgbClr val="E45D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75" name="Text 50">
            <a:extLst>
              <a:ext uri="{FF2B5EF4-FFF2-40B4-BE49-F238E27FC236}">
                <a16:creationId xmlns:a16="http://schemas.microsoft.com/office/drawing/2014/main" id="{4D10A19B-CFB6-549F-94DA-4AFCACBFAA35}"/>
              </a:ext>
            </a:extLst>
          </p:cNvPr>
          <p:cNvSpPr/>
          <p:nvPr/>
        </p:nvSpPr>
        <p:spPr>
          <a:xfrm>
            <a:off x="7059168" y="3145536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e Terceiro </a:t>
            </a:r>
            <a:r>
              <a:rPr lang="en-US" sz="11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</a:t>
            </a: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1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Introdutório</a:t>
            </a: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Mineração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SSMA/Planta/</a:t>
            </a:r>
            <a:r>
              <a:rPr lang="en-US" sz="850" dirty="0" err="1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Geotecnia</a:t>
            </a: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/Patrimonial</a:t>
            </a:r>
            <a:endParaRPr lang="en-US" sz="1100" dirty="0"/>
          </a:p>
        </p:txBody>
      </p:sp>
      <p:sp>
        <p:nvSpPr>
          <p:cNvPr id="77" name="Text 51">
            <a:extLst>
              <a:ext uri="{FF2B5EF4-FFF2-40B4-BE49-F238E27FC236}">
                <a16:creationId xmlns:a16="http://schemas.microsoft.com/office/drawing/2014/main" id="{A58AFC7C-1FAF-18D6-F5E9-645140316772}"/>
              </a:ext>
            </a:extLst>
          </p:cNvPr>
          <p:cNvSpPr/>
          <p:nvPr/>
        </p:nvSpPr>
        <p:spPr>
          <a:xfrm>
            <a:off x="6958958" y="36521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850" b="1" dirty="0" err="1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</a:t>
            </a:r>
            <a:r>
              <a:rPr lang="en-US" sz="850" b="1" dirty="0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b="1" dirty="0" err="1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mineração</a:t>
            </a:r>
            <a:r>
              <a:rPr lang="en-US" sz="850" b="1" dirty="0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b="1" dirty="0" err="1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concluída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2234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863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— Etapas 1 a 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-43133" y="259828"/>
            <a:ext cx="2148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4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e admissão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372889"/>
              </p:ext>
            </p:extLst>
          </p:nvPr>
        </p:nvGraphicFramePr>
        <p:xfrm>
          <a:off x="365760" y="1024128"/>
          <a:ext cx="11457432" cy="4901184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2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Responsável / Sistema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Atividades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Aprovação do candidato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 · Pandapé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Movimentação do candidato para a etapa Contratação;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Envio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do link para submissão da documentação obrigatória.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 admissional iniciado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Agendamento do ASO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 · Saúde Ocupacional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Encaminhamento dos dados do candidato: nome, cargo, centro de custo e telefone.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Exame admissional agendado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 Recebimento e organização da documentação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Inclusão na Planilha de Controle de Admissões; recebimento e conferência dos documentos pessoais; organização do Book do Colaborador.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Documentação conferida e arquivada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5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 </a:t>
                      </a:r>
                      <a:r>
                        <a:rPr lang="en-US" sz="1000" b="1" dirty="0" err="1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Abetura</a:t>
                      </a:r>
                      <a:r>
                        <a:rPr lang="en-US" sz="100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</a:t>
                      </a:r>
                      <a:r>
                        <a:rPr lang="en-US" sz="1000" b="1" dirty="0" err="1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chamado</a:t>
                      </a:r>
                      <a:r>
                        <a:rPr lang="en-US" sz="100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para </a:t>
                      </a:r>
                      <a:r>
                        <a:rPr lang="en-US" sz="1000" b="1" dirty="0" err="1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admissão</a:t>
                      </a:r>
                      <a:endParaRPr lang="en-US" sz="1000" dirty="0"/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Conferências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(documentação, ASO,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etc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 –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Enviar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chamado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para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Vexia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executar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ad,issão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no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Colaborador apto para a integração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 Cadastro no Linx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Vexia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Vexia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envia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para RH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documentação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admissão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cadastro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nos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benefícios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Admissão registrada no sistema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2234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863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— Etapas 6 a 10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89782" y="263623"/>
            <a:ext cx="2148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4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e acompanhamento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364989"/>
              </p:ext>
            </p:extLst>
          </p:nvPr>
        </p:nvGraphicFramePr>
        <p:xfrm>
          <a:off x="365760" y="1024128"/>
          <a:ext cx="11457432" cy="4901184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2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Responsável / Sistema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Atividades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 </a:t>
                      </a:r>
                      <a:r>
                        <a:rPr lang="en-US" sz="950" b="1" dirty="0" err="1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Comunicação</a:t>
                      </a:r>
                      <a:r>
                        <a:rPr lang="en-US" sz="95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Pré-</a:t>
                      </a:r>
                      <a:r>
                        <a:rPr lang="en-US" sz="950" b="1" dirty="0" err="1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 -· sexta anterior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Envio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aplicativo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mensagem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- Guia de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Integração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local e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horário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do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ônibus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informações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da NR-22 e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orientações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acesso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à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unidade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 err="1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Colaborador</a:t>
                      </a:r>
                      <a:r>
                        <a:rPr lang="en-US" sz="900" b="1" dirty="0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900" b="1" dirty="0" err="1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preparado</a:t>
                      </a:r>
                      <a:r>
                        <a:rPr lang="en-US" sz="900" b="1" dirty="0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para o 1º </a:t>
                      </a:r>
                      <a:r>
                        <a:rPr lang="en-US" sz="900" b="1" dirty="0" err="1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5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 </a:t>
                      </a:r>
                      <a:r>
                        <a:rPr lang="en-US" sz="950" b="1" kern="1200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Primeiro </a:t>
                      </a:r>
                      <a:r>
                        <a:rPr lang="en-US" sz="950" b="1" kern="1200" dirty="0" err="1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</a:t>
                      </a:r>
                      <a:r>
                        <a:rPr lang="en-US" sz="950" b="1" kern="1200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</a:t>
                      </a:r>
                      <a:r>
                        <a:rPr lang="en-US" sz="950" b="1" kern="1200" dirty="0" err="1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Integração</a:t>
                      </a:r>
                      <a:r>
                        <a:rPr lang="en-US" sz="950" b="1" kern="1200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r>
                        <a:rPr lang="en-US" sz="950" b="1" kern="1200" dirty="0" err="1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Institucional</a:t>
                      </a:r>
                      <a:r>
                        <a:rPr lang="en-US" sz="950" b="1" kern="1200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/RH/</a:t>
                      </a:r>
                      <a:r>
                        <a:rPr lang="en-US" sz="950" b="1" kern="1200" dirty="0" err="1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Assinatura</a:t>
                      </a:r>
                      <a:r>
                        <a:rPr lang="en-US" sz="950" b="1" kern="1200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do </a:t>
                      </a:r>
                      <a:r>
                        <a:rPr lang="en-US" sz="950" b="1" kern="1200" dirty="0" err="1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Contrato</a:t>
                      </a:r>
                      <a:r>
                        <a:rPr lang="en-US" sz="950" b="1" kern="1200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Digital</a:t>
                      </a:r>
                    </a:p>
                    <a:p>
                      <a:pPr marL="0" indent="0" algn="l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 · Primeiro </a:t>
                      </a:r>
                      <a:r>
                        <a:rPr lang="en-US" sz="90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 de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uniforme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Integração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Institucional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Código de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conduta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  RH: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ponto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benefícios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seguro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vida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adiantamento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salarial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assinatura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dos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formulários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obrigatórios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Assinatura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digital do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contrato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 err="1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Integração</a:t>
                      </a:r>
                      <a:r>
                        <a:rPr lang="en-US" sz="900" b="1" dirty="0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900" b="1" dirty="0" err="1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Insitucional</a:t>
                      </a:r>
                      <a:r>
                        <a:rPr lang="en-US" sz="900" b="1" dirty="0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 RH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8 - 2º e 3º - </a:t>
                      </a:r>
                      <a:r>
                        <a:rPr lang="en-US" sz="950" b="1" dirty="0" err="1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</a:t>
                      </a:r>
                      <a:r>
                        <a:rPr lang="en-US" sz="95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Integração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SSMA/Planta/</a:t>
                      </a:r>
                      <a:r>
                        <a:rPr lang="en-US" sz="900" kern="120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Geotecnia</a:t>
                      </a:r>
                      <a:r>
                        <a:rPr lang="en-US" sz="900" kern="120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/Patrimon</a:t>
                      </a:r>
                      <a:r>
                        <a:rPr lang="en-US" sz="900" dirty="0">
                          <a:solidFill>
                            <a:srgbClr val="5B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ial</a:t>
                      </a:r>
                      <a:endParaRPr lang="en-US" sz="1000" dirty="0"/>
                    </a:p>
                    <a:p>
                      <a:pPr marL="0" indent="0" algn="l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200"/>
                        </a:spcAft>
                        <a:buNone/>
                      </a:pPr>
                      <a:r>
                        <a:rPr lang="en-US" sz="900" b="1" dirty="0" err="1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Treinamento</a:t>
                      </a:r>
                      <a:r>
                        <a:rPr lang="en-US" sz="90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900" b="1" dirty="0" err="1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Introdutório</a:t>
                      </a:r>
                      <a:r>
                        <a:rPr lang="en-US" sz="90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</a:t>
                      </a:r>
                      <a:r>
                        <a:rPr lang="en-US" sz="900" b="1" dirty="0" err="1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Mineração</a:t>
                      </a:r>
                      <a:r>
                        <a:rPr lang="en-US" sz="90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NR22</a:t>
                      </a:r>
                      <a:endParaRPr lang="en-US" sz="900" dirty="0"/>
                    </a:p>
                    <a:p>
                      <a:pPr marL="0" indent="0" algn="l">
                        <a:buNone/>
                      </a:pP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 err="1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Integração</a:t>
                      </a:r>
                      <a:r>
                        <a:rPr lang="en-US" sz="900" b="1" dirty="0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900" b="1" dirty="0" err="1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concluída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5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 </a:t>
                      </a:r>
                      <a:r>
                        <a:rPr lang="en-US" sz="1000" b="1" dirty="0" err="1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Capacitação</a:t>
                      </a:r>
                      <a:r>
                        <a:rPr lang="en-US" sz="100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na </a:t>
                      </a:r>
                      <a:r>
                        <a:rPr lang="en-US" sz="1000" b="1" dirty="0" err="1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função</a:t>
                      </a:r>
                      <a:r>
                        <a:rPr lang="en-US" sz="100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 </a:t>
                      </a:r>
                      <a:r>
                        <a:rPr lang="en-US" sz="1000" b="1" dirty="0" err="1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Programa</a:t>
                      </a:r>
                      <a:r>
                        <a:rPr lang="en-US" sz="100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Padrinho</a:t>
                      </a:r>
                      <a:endParaRPr lang="en-US" sz="1000" dirty="0"/>
                    </a:p>
                    <a:p>
                      <a:pPr marL="0" indent="0" algn="l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 · 45 dias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 e Gestor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programam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treinamentos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obrigatórios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para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função</a:t>
                      </a:r>
                      <a:endParaRPr lang="en-US" sz="870" dirty="0">
                        <a:solidFill>
                          <a:srgbClr val="3A414C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Padrinho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acomapanha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primeiros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45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dias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–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Capacitação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na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função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 on the job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Avaliação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(Forms) 45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dias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preenchido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pelo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gestor</a:t>
                      </a: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 com acompanhamento estruturado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 Encerramento do Onboarding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 · Gestor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Confirmação do Programa Padrinho e dos treinamentos; reunião de acompanhamento com gestor e colaborador;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Encerramento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da jornada.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Colaborador integrado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9" name="Image 2" descr="/home/deborah-andrade846/PPT---RH/rh/aura_logo_trim.png">
            <a:extLst>
              <a:ext uri="{FF2B5EF4-FFF2-40B4-BE49-F238E27FC236}">
                <a16:creationId xmlns:a16="http://schemas.microsoft.com/office/drawing/2014/main" id="{3EF7A217-E2A4-B8E0-8F9A-6BC0451E7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3955" y="6178564"/>
            <a:ext cx="895422" cy="5239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</TotalTime>
  <Words>986</Words>
  <Application>Microsoft Office PowerPoint</Application>
  <PresentationFormat>Widescreen</PresentationFormat>
  <Paragraphs>232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Fluxo do Processo de Recrutamento e Seleção</dc:title>
  <dc:subject>PptxGenJS Presentation</dc:subject>
  <dc:creator>Déborah Giovana de Andrade Gonçalves</dc:creator>
  <cp:lastModifiedBy>Elaine Medeiros de Souza C Xavier</cp:lastModifiedBy>
  <cp:revision>7</cp:revision>
  <dcterms:created xsi:type="dcterms:W3CDTF">2026-07-02T11:47:14Z</dcterms:created>
  <dcterms:modified xsi:type="dcterms:W3CDTF">2026-07-03T11:56:39Z</dcterms:modified>
</cp:coreProperties>
</file>