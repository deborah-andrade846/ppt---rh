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a Stefani Pedroso Claudino Canteiro" userId="4402df32-e72f-4f3c-b139-56c6ec8f1257" providerId="ADAL" clId="{446E0DE8-9696-4C95-8695-542C38B53044}"/>
    <pc:docChg chg="modSld">
      <pc:chgData name="Natalia Stefani Pedroso Claudino Canteiro" userId="4402df32-e72f-4f3c-b139-56c6ec8f1257" providerId="ADAL" clId="{446E0DE8-9696-4C95-8695-542C38B53044}" dt="2026-07-09T14:59:20.473" v="8" actId="20577"/>
      <pc:docMkLst>
        <pc:docMk/>
      </pc:docMkLst>
      <pc:sldChg chg="modSp mod">
        <pc:chgData name="Natalia Stefani Pedroso Claudino Canteiro" userId="4402df32-e72f-4f3c-b139-56c6ec8f1257" providerId="ADAL" clId="{446E0DE8-9696-4C95-8695-542C38B53044}" dt="2026-07-09T14:59:20.473" v="8" actId="20577"/>
        <pc:sldMkLst>
          <pc:docMk/>
          <pc:sldMk cId="0" sldId="257"/>
        </pc:sldMkLst>
        <pc:spChg chg="mod">
          <ac:chgData name="Natalia Stefani Pedroso Claudino Canteiro" userId="4402df32-e72f-4f3c-b139-56c6ec8f1257" providerId="ADAL" clId="{446E0DE8-9696-4C95-8695-542C38B53044}" dt="2026-07-09T14:59:20.473" v="8" actId="20577"/>
          <ac:spMkLst>
            <pc:docMk/>
            <pc:sldMk cId="0" sldId="257"/>
            <ac:spMk id="44" creationId="{00000000-0000-0000-0000-000000000000}"/>
          </ac:spMkLst>
        </pc:spChg>
      </pc:sldChg>
    </pc:docChg>
  </pc:docChgLst>
  <pc:docChgLst>
    <pc:chgData name="Santos, Rosineia Dias da Rocha" userId="e08c2bf6-8308-4f9d-95c8-eb8d9dc7f1b1" providerId="ADAL" clId="{4250413A-567C-4870-BCFA-A5E515397D82}"/>
    <pc:docChg chg="modSld">
      <pc:chgData name="Santos, Rosineia Dias da Rocha" userId="e08c2bf6-8308-4f9d-95c8-eb8d9dc7f1b1" providerId="ADAL" clId="{4250413A-567C-4870-BCFA-A5E515397D82}" dt="2026-07-06T14:18:30.724" v="4" actId="20577"/>
      <pc:docMkLst>
        <pc:docMk/>
      </pc:docMkLst>
      <pc:sldChg chg="modSp mod">
        <pc:chgData name="Santos, Rosineia Dias da Rocha" userId="e08c2bf6-8308-4f9d-95c8-eb8d9dc7f1b1" providerId="ADAL" clId="{4250413A-567C-4870-BCFA-A5E515397D82}" dt="2026-07-06T14:18:30.724" v="4" actId="20577"/>
        <pc:sldMkLst>
          <pc:docMk/>
          <pc:sldMk cId="0" sldId="257"/>
        </pc:sldMkLst>
        <pc:spChg chg="mod">
          <ac:chgData name="Santos, Rosineia Dias da Rocha" userId="e08c2bf6-8308-4f9d-95c8-eb8d9dc7f1b1" providerId="ADAL" clId="{4250413A-567C-4870-BCFA-A5E515397D82}" dt="2026-07-06T14:18:30.724" v="4" actId="20577"/>
          <ac:spMkLst>
            <pc:docMk/>
            <pc:sldMk cId="0" sldId="257"/>
            <ac:spMk id="4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76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630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480560" y="0"/>
            <a:ext cx="109728" cy="68580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535174" y="0"/>
            <a:ext cx="2448306" cy="2400299"/>
          </a:xfrm>
          <a:prstGeom prst="ellipse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37160" y="4663440"/>
            <a:ext cx="2194560" cy="2194560"/>
          </a:xfrm>
          <a:prstGeom prst="ellipse">
            <a:avLst/>
          </a:prstGeom>
          <a:solidFill>
            <a:srgbClr val="2E6C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 flipH="1">
            <a:off x="1234440" y="246888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240280" y="246888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0280" y="2468880"/>
            <a:ext cx="0" cy="201168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234440" y="3474720"/>
            <a:ext cx="2011680" cy="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234440" y="347472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 flipH="1">
            <a:off x="2240280" y="347472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068830" y="2160270"/>
            <a:ext cx="342900" cy="3429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931670" y="2480310"/>
            <a:ext cx="617220" cy="388620"/>
          </a:xfrm>
          <a:prstGeom prst="roundRect">
            <a:avLst>
              <a:gd name="adj" fmla="val 41176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097280" y="32004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987552" y="3456432"/>
            <a:ext cx="493776" cy="310896"/>
          </a:xfrm>
          <a:prstGeom prst="roundRect">
            <a:avLst>
              <a:gd name="adj" fmla="val 411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108960" y="32004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999232" y="3456432"/>
            <a:ext cx="493776" cy="310896"/>
          </a:xfrm>
          <a:prstGeom prst="roundRect">
            <a:avLst>
              <a:gd name="adj" fmla="val 411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096262" y="4199382"/>
            <a:ext cx="288036" cy="288036"/>
          </a:xfrm>
          <a:prstGeom prst="ellipse">
            <a:avLst/>
          </a:prstGeom>
          <a:solidFill>
            <a:srgbClr val="2E6C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981048" y="4468216"/>
            <a:ext cx="518465" cy="326441"/>
          </a:xfrm>
          <a:prstGeom prst="roundRect">
            <a:avLst>
              <a:gd name="adj" fmla="val 41176"/>
            </a:avLst>
          </a:prstGeom>
          <a:solidFill>
            <a:srgbClr val="2E6C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83480" y="205740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lvl="0">
              <a:lnSpc>
                <a:spcPct val="102000"/>
              </a:lnSpc>
              <a:defRPr/>
            </a:pPr>
            <a:r>
              <a:rPr lang="en-US" sz="36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3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36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3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endParaRPr lang="en-US" sz="3600" dirty="0">
              <a:solidFill>
                <a:prstClr val="black"/>
              </a:solidFill>
            </a:endParaRPr>
          </a:p>
          <a:p>
            <a:pPr lvl="0">
              <a:lnSpc>
                <a:spcPct val="102000"/>
              </a:lnSpc>
              <a:defRPr/>
            </a:pPr>
            <a:r>
              <a:rPr lang="en-US" sz="3600" b="1" dirty="0" err="1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</a:t>
            </a:r>
            <a:r>
              <a:rPr lang="en-US" sz="36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Seleção</a:t>
            </a:r>
            <a:endParaRPr lang="en-US" sz="3600" dirty="0">
              <a:solidFill>
                <a:prstClr val="black"/>
              </a:solidFill>
            </a:endParaRPr>
          </a:p>
          <a:p>
            <a:pPr indent="0">
              <a:lnSpc>
                <a:spcPct val="102000"/>
              </a:lnSpc>
              <a:buNone/>
              <a:defRPr/>
            </a:pPr>
            <a:r>
              <a:rPr lang="en-US" sz="3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36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</a:t>
            </a:r>
            <a:r>
              <a:rPr lang="en-US" sz="3600" b="1" dirty="0" err="1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</a:t>
            </a:r>
            <a:endParaRPr lang="en-US" sz="3600" b="1" dirty="0">
              <a:solidFill>
                <a:srgbClr val="E45D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29200" y="3886200"/>
            <a:ext cx="1554480" cy="54864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983480" y="40690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Etapas, aprovações, sistemas utilizados e pontos de decisão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83480" y="6172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IS de R&amp;S</a:t>
            </a:r>
            <a:endParaRPr lang="en-US" sz="1000" dirty="0"/>
          </a:p>
        </p:txBody>
      </p:sp>
      <p:pic>
        <p:nvPicPr>
          <p:cNvPr id="29" name="Image 2" descr="/home/deborah-andrade846/PPT---RH/rh/aura_logo_trim.png">
            <a:extLst>
              <a:ext uri="{FF2B5EF4-FFF2-40B4-BE49-F238E27FC236}">
                <a16:creationId xmlns:a16="http://schemas.microsoft.com/office/drawing/2014/main" id="{CBD6640B-33BF-A40C-A740-EEC19D640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51892"/>
            <a:ext cx="1757680" cy="1028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42" y="0"/>
            <a:ext cx="12191695" cy="786384"/>
          </a:xfrm>
          <a:prstGeom prst="rect">
            <a:avLst/>
          </a:prstGeom>
          <a:solidFill>
            <a:srgbClr val="1630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502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do Processo de Recrutamento e Seleção – Aura Serra Grande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91440" cy="82296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033272"/>
            <a:ext cx="2039112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de Vaga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Docusign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 abertura da vaga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· Centro de custo ·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993392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11480" y="1993392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4360" y="2112264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020824"/>
            <a:ext cx="212826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da Vaga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na Pandapé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permanência de 7 dias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cartaz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e-mail e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Colaboradores.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91440" cy="73152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94360" y="3063240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848" y="2971800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Currículos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técnica dos currículos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com os requisitos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candidatos aderentes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840480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11480" y="3840480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94360" y="395935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9436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9848" y="3867912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RH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comportamental · histórico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· alinhamento cultural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Pretensão salarial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805940" y="1828800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805940" y="2779776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805940" y="3675888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1805940" y="4626864"/>
            <a:ext cx="0" cy="64008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1097280" y="4686300"/>
            <a:ext cx="1417320" cy="777240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097280" y="46863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" y="487013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 flipH="1">
            <a:off x="640080" y="5074920"/>
            <a:ext cx="452628" cy="0"/>
          </a:xfrm>
          <a:prstGeom prst="line">
            <a:avLst/>
          </a:prstGeom>
          <a:noFill/>
          <a:ln w="1905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1440" y="534924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91440" y="5349240"/>
            <a:ext cx="14173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 ·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feedback e é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5093208"/>
            <a:ext cx="155448" cy="256032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2496312" y="487504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11880" y="1005840"/>
            <a:ext cx="1874520" cy="402336"/>
          </a:xfrm>
          <a:prstGeom prst="roundRect">
            <a:avLst>
              <a:gd name="adj" fmla="val 22727"/>
            </a:avLst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3611880" y="100584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Patrimonial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11880" y="1399032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paralelo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11880" y="1755648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611880" y="1755648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dados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pessoais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candidato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3611880" y="2368295"/>
            <a:ext cx="1874520" cy="795529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3625596" y="2537460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pt-BR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olicitação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feita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Patrimonial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através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e-mail. Em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ex-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solicitado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Departamento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DP o histórico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4570668" y="1596205"/>
            <a:ext cx="0" cy="109728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4549140" y="2176272"/>
            <a:ext cx="0" cy="164592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4549140" y="3250692"/>
            <a:ext cx="0" cy="155448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3840480" y="3511296"/>
            <a:ext cx="1417320" cy="749808"/>
          </a:xfrm>
          <a:prstGeom prst="diamond">
            <a:avLst/>
          </a:prstGeom>
          <a:solidFill>
            <a:srgbClr val="DCE7F7"/>
          </a:solidFill>
          <a:ln w="12700">
            <a:solidFill>
              <a:srgbClr val="2E6CC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3867913" y="351129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091940" y="422521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49140" y="4261104"/>
            <a:ext cx="0" cy="192024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3611880" y="4453128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3611880" y="4453128"/>
            <a:ext cx="18745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·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19172" y="5074920"/>
            <a:ext cx="882396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 flipV="1">
            <a:off x="3401568" y="1207008"/>
            <a:ext cx="0" cy="3867912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3401568" y="1207008"/>
            <a:ext cx="210312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5097780" y="36118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966148" y="1096201"/>
            <a:ext cx="2606033" cy="80943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5887384" y="1099780"/>
            <a:ext cx="114528" cy="805851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6016479" y="112471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6016427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490715" y="1091565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Gestor</a:t>
            </a:r>
            <a:endParaRPr lang="en-US" sz="1150" dirty="0"/>
          </a:p>
          <a:p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técnico ·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</a:t>
            </a:r>
            <a:endParaRPr lang="en-US" sz="800" dirty="0">
              <a:solidFill>
                <a:srgbClr val="6B74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· fit com a equipe</a:t>
            </a:r>
            <a:b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(Vagas para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SR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é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superior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gerentes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</p:txBody>
      </p:sp>
      <p:sp>
        <p:nvSpPr>
          <p:cNvPr id="66" name="Shape 64"/>
          <p:cNvSpPr/>
          <p:nvPr/>
        </p:nvSpPr>
        <p:spPr>
          <a:xfrm>
            <a:off x="5262372" y="3886200"/>
            <a:ext cx="333756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65"/>
          <p:cNvSpPr/>
          <p:nvPr/>
        </p:nvSpPr>
        <p:spPr>
          <a:xfrm flipV="1">
            <a:off x="5596128" y="1399032"/>
            <a:ext cx="0" cy="2487168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6"/>
          <p:cNvSpPr/>
          <p:nvPr/>
        </p:nvSpPr>
        <p:spPr>
          <a:xfrm>
            <a:off x="5596128" y="1399032"/>
            <a:ext cx="210312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7200900" y="1986534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6533386" y="2164651"/>
            <a:ext cx="1444753" cy="615125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6423660" y="2098167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Finalista</a:t>
            </a: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054814" y="217389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 flipH="1">
            <a:off x="5742432" y="2539555"/>
            <a:ext cx="681228" cy="0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5742432" y="2539555"/>
            <a:ext cx="0" cy="3720819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5743918" y="6260374"/>
            <a:ext cx="310896" cy="0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74"/>
          <p:cNvSpPr/>
          <p:nvPr/>
        </p:nvSpPr>
        <p:spPr>
          <a:xfrm>
            <a:off x="6161532" y="6034526"/>
            <a:ext cx="2368295" cy="407289"/>
          </a:xfrm>
          <a:prstGeom prst="roundRect">
            <a:avLst>
              <a:gd name="adj" fmla="val 17857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6072821" y="5998464"/>
            <a:ext cx="249936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finalista  →  retorna à nova triagem ou nova publicação da vaga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200900" y="2793301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852160" y="4000069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1" name="Shape 79"/>
          <p:cNvSpPr/>
          <p:nvPr/>
        </p:nvSpPr>
        <p:spPr>
          <a:xfrm>
            <a:off x="5963487" y="414760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2" name="Text 80"/>
          <p:cNvSpPr/>
          <p:nvPr/>
        </p:nvSpPr>
        <p:spPr>
          <a:xfrm>
            <a:off x="5972930" y="4147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dirty="0">
                <a:solidFill>
                  <a:schemeClr val="bg1"/>
                </a:solidFill>
              </a:rPr>
              <a:t>7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84" name="Shape 82"/>
          <p:cNvSpPr/>
          <p:nvPr/>
        </p:nvSpPr>
        <p:spPr>
          <a:xfrm>
            <a:off x="7200900" y="2855405"/>
            <a:ext cx="0" cy="141350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6" name="Shape 84"/>
          <p:cNvSpPr/>
          <p:nvPr/>
        </p:nvSpPr>
        <p:spPr>
          <a:xfrm>
            <a:off x="5824728" y="4018405"/>
            <a:ext cx="100583" cy="731521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0" name="Shape 88"/>
          <p:cNvSpPr/>
          <p:nvPr/>
        </p:nvSpPr>
        <p:spPr>
          <a:xfrm>
            <a:off x="7200900" y="3830351"/>
            <a:ext cx="0" cy="146304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1" name="Shape 89"/>
          <p:cNvSpPr/>
          <p:nvPr/>
        </p:nvSpPr>
        <p:spPr>
          <a:xfrm>
            <a:off x="6012408" y="5211008"/>
            <a:ext cx="2410649" cy="660512"/>
          </a:xfrm>
          <a:prstGeom prst="roundRect">
            <a:avLst>
              <a:gd name="adj" fmla="val 10000"/>
            </a:avLst>
          </a:prstGeom>
          <a:solidFill>
            <a:srgbClr val="EAF5EC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2" name="Shape 90"/>
          <p:cNvSpPr/>
          <p:nvPr/>
        </p:nvSpPr>
        <p:spPr>
          <a:xfrm>
            <a:off x="6007209" y="5175504"/>
            <a:ext cx="71246" cy="697005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3" name="Shape 91"/>
          <p:cNvSpPr/>
          <p:nvPr/>
        </p:nvSpPr>
        <p:spPr>
          <a:xfrm>
            <a:off x="6190488" y="5325820"/>
            <a:ext cx="402336" cy="402336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4" name="Text 92"/>
          <p:cNvSpPr/>
          <p:nvPr/>
        </p:nvSpPr>
        <p:spPr>
          <a:xfrm>
            <a:off x="6204203" y="531417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6684264" y="5119125"/>
            <a:ext cx="2039112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Concluída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 novo colaborador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à equipe e à empresa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7208748" y="4897562"/>
            <a:ext cx="0" cy="164592"/>
          </a:xfrm>
          <a:prstGeom prst="line">
            <a:avLst/>
          </a:prstGeom>
          <a:noFill/>
          <a:ln w="2286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7" name="Shape 95"/>
          <p:cNvSpPr/>
          <p:nvPr/>
        </p:nvSpPr>
        <p:spPr>
          <a:xfrm>
            <a:off x="8887968" y="1005840"/>
            <a:ext cx="303580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8" name="Shape 96"/>
          <p:cNvSpPr/>
          <p:nvPr/>
        </p:nvSpPr>
        <p:spPr>
          <a:xfrm>
            <a:off x="8887968" y="1005840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9" name="Shape 97"/>
          <p:cNvSpPr/>
          <p:nvPr/>
        </p:nvSpPr>
        <p:spPr>
          <a:xfrm>
            <a:off x="8887968" y="1207008"/>
            <a:ext cx="3035808" cy="18288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Text 99"/>
          <p:cNvSpPr/>
          <p:nvPr/>
        </p:nvSpPr>
        <p:spPr>
          <a:xfrm>
            <a:off x="8933688" y="100584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UTILIZADOS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9015984" y="1444752"/>
            <a:ext cx="28163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Portal de Serviços (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Gen.te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Mobile)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Teams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Outlook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Pandapé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Docusign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GOV.BR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Business</a:t>
            </a:r>
            <a:endParaRPr lang="en-US" sz="840" dirty="0"/>
          </a:p>
        </p:txBody>
      </p:sp>
      <p:sp>
        <p:nvSpPr>
          <p:cNvPr id="103" name="Shape 101"/>
          <p:cNvSpPr/>
          <p:nvPr/>
        </p:nvSpPr>
        <p:spPr>
          <a:xfrm>
            <a:off x="8887968" y="2962656"/>
            <a:ext cx="303580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4" name="Shape 102"/>
          <p:cNvSpPr/>
          <p:nvPr/>
        </p:nvSpPr>
        <p:spPr>
          <a:xfrm>
            <a:off x="8887968" y="29626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5" name="Shape 103"/>
          <p:cNvSpPr/>
          <p:nvPr/>
        </p:nvSpPr>
        <p:spPr>
          <a:xfrm>
            <a:off x="8887968" y="3163824"/>
            <a:ext cx="3035808" cy="18288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7" name="Text 105"/>
          <p:cNvSpPr/>
          <p:nvPr/>
        </p:nvSpPr>
        <p:spPr>
          <a:xfrm>
            <a:off x="8933688" y="29626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DECISÃO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9015984" y="3401568"/>
            <a:ext cx="2816352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da Requisição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RH Custos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Entrevista RH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Patrimonial/DP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Gestor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Aceite da Proposta</a:t>
            </a:r>
            <a:endParaRPr lang="en-US" sz="840" dirty="0"/>
          </a:p>
        </p:txBody>
      </p:sp>
      <p:sp>
        <p:nvSpPr>
          <p:cNvPr id="109" name="Shape 107"/>
          <p:cNvSpPr/>
          <p:nvPr/>
        </p:nvSpPr>
        <p:spPr>
          <a:xfrm>
            <a:off x="8887968" y="4791456"/>
            <a:ext cx="30358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0" name="Shape 108"/>
          <p:cNvSpPr/>
          <p:nvPr/>
        </p:nvSpPr>
        <p:spPr>
          <a:xfrm>
            <a:off x="8887968" y="47914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C050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1" name="Shape 109"/>
          <p:cNvSpPr/>
          <p:nvPr/>
        </p:nvSpPr>
        <p:spPr>
          <a:xfrm>
            <a:off x="8887968" y="4992624"/>
            <a:ext cx="3035808" cy="18288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3" name="Text 111"/>
          <p:cNvSpPr/>
          <p:nvPr/>
        </p:nvSpPr>
        <p:spPr>
          <a:xfrm>
            <a:off x="8933688" y="47914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ENCERRAMENTOS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9015984" y="5230368"/>
            <a:ext cx="281635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na Entrevista RH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Restrição na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Patrimonial e/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DP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pelo Gestor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Recusa da Proposta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Reabertura da vaga</a:t>
            </a:r>
            <a:endParaRPr lang="en-US" sz="840" dirty="0"/>
          </a:p>
        </p:txBody>
      </p:sp>
      <p:sp>
        <p:nvSpPr>
          <p:cNvPr id="115" name="Text 113"/>
          <p:cNvSpPr/>
          <p:nvPr/>
        </p:nvSpPr>
        <p:spPr>
          <a:xfrm>
            <a:off x="41148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Legenda: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344168" y="65105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7" name="Text 115"/>
          <p:cNvSpPr/>
          <p:nvPr/>
        </p:nvSpPr>
        <p:spPr>
          <a:xfrm>
            <a:off x="162763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3127248" y="6510528"/>
            <a:ext cx="237744" cy="201168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9" name="Text 117"/>
          <p:cNvSpPr/>
          <p:nvPr/>
        </p:nvSpPr>
        <p:spPr>
          <a:xfrm>
            <a:off x="341071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4910328" y="65105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F4DA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1" name="Text 119"/>
          <p:cNvSpPr/>
          <p:nvPr/>
        </p:nvSpPr>
        <p:spPr>
          <a:xfrm>
            <a:off x="519379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6784848" y="65105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EAF5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3" name="Text 121"/>
          <p:cNvSpPr/>
          <p:nvPr/>
        </p:nvSpPr>
        <p:spPr>
          <a:xfrm>
            <a:off x="706831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800" dirty="0"/>
          </a:p>
        </p:txBody>
      </p:sp>
      <p:sp>
        <p:nvSpPr>
          <p:cNvPr id="100" name="Shape 77">
            <a:extLst>
              <a:ext uri="{FF2B5EF4-FFF2-40B4-BE49-F238E27FC236}">
                <a16:creationId xmlns:a16="http://schemas.microsoft.com/office/drawing/2014/main" id="{86F4268B-C94A-C6C2-FFBF-F0995FAD1982}"/>
              </a:ext>
            </a:extLst>
          </p:cNvPr>
          <p:cNvSpPr/>
          <p:nvPr/>
        </p:nvSpPr>
        <p:spPr>
          <a:xfrm>
            <a:off x="5824728" y="3042419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6" name="Shape 79">
            <a:extLst>
              <a:ext uri="{FF2B5EF4-FFF2-40B4-BE49-F238E27FC236}">
                <a16:creationId xmlns:a16="http://schemas.microsoft.com/office/drawing/2014/main" id="{FEBE3CC0-1346-A9DB-7100-17B15C9D8527}"/>
              </a:ext>
            </a:extLst>
          </p:cNvPr>
          <p:cNvSpPr/>
          <p:nvPr/>
        </p:nvSpPr>
        <p:spPr>
          <a:xfrm>
            <a:off x="5929884" y="3197293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5" name="Text 86">
            <a:extLst>
              <a:ext uri="{FF2B5EF4-FFF2-40B4-BE49-F238E27FC236}">
                <a16:creationId xmlns:a16="http://schemas.microsoft.com/office/drawing/2014/main" id="{BED4D297-D535-AD69-2D5D-034BE68AF781}"/>
              </a:ext>
            </a:extLst>
          </p:cNvPr>
          <p:cNvSpPr/>
          <p:nvPr/>
        </p:nvSpPr>
        <p:spPr>
          <a:xfrm>
            <a:off x="5913235" y="319247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26" name="Text 81">
            <a:extLst>
              <a:ext uri="{FF2B5EF4-FFF2-40B4-BE49-F238E27FC236}">
                <a16:creationId xmlns:a16="http://schemas.microsoft.com/office/drawing/2014/main" id="{45E893C1-29B6-060B-6778-9E0B60D977C8}"/>
              </a:ext>
            </a:extLst>
          </p:cNvPr>
          <p:cNvSpPr/>
          <p:nvPr/>
        </p:nvSpPr>
        <p:spPr>
          <a:xfrm>
            <a:off x="6405371" y="4027501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Proposta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RH Custos  ·  Aprovação Gestor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da oferta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candidato -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candidato com a carta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assinada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gov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Docusign.</a:t>
            </a:r>
            <a:endParaRPr lang="en-US" sz="1150" dirty="0"/>
          </a:p>
        </p:txBody>
      </p:sp>
      <p:sp>
        <p:nvSpPr>
          <p:cNvPr id="127" name="Text 81">
            <a:extLst>
              <a:ext uri="{FF2B5EF4-FFF2-40B4-BE49-F238E27FC236}">
                <a16:creationId xmlns:a16="http://schemas.microsoft.com/office/drawing/2014/main" id="{415F6365-D0FC-CE0F-4A2E-4966CBA9269C}"/>
              </a:ext>
            </a:extLst>
          </p:cNvPr>
          <p:cNvSpPr/>
          <p:nvPr/>
        </p:nvSpPr>
        <p:spPr>
          <a:xfrm>
            <a:off x="6383945" y="3070141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caráter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para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seleções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cargos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seniores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cargos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críticos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28" name="Shape 78">
            <a:extLst>
              <a:ext uri="{FF2B5EF4-FFF2-40B4-BE49-F238E27FC236}">
                <a16:creationId xmlns:a16="http://schemas.microsoft.com/office/drawing/2014/main" id="{CA15953C-B5DA-85B9-88CF-0F5902A99065}"/>
              </a:ext>
            </a:extLst>
          </p:cNvPr>
          <p:cNvSpPr/>
          <p:nvPr/>
        </p:nvSpPr>
        <p:spPr>
          <a:xfrm>
            <a:off x="5806440" y="3060652"/>
            <a:ext cx="106795" cy="7066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7780">
            <a:noFill/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do Processo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1869640" y="576072"/>
            <a:ext cx="3657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— 8 etapas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3493008"/>
            <a:ext cx="10469880" cy="54864"/>
          </a:xfrm>
          <a:prstGeom prst="rect">
            <a:avLst/>
          </a:prstGeom>
          <a:solidFill>
            <a:srgbClr val="D7DCE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 flipV="1">
            <a:off x="868680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19456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19456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da vaga pelo gestor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12648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64377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715153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715153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770017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na Pandapé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08345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108345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 flipV="1">
            <a:off x="3860074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210850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210850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265714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currículos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04042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604042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355771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706547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706547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761411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e gestor</a:t>
            </a:r>
            <a:b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99739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099739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 flipV="1">
            <a:off x="6851469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202244" y="1810512"/>
            <a:ext cx="1480457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202245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257108" y="1920240"/>
            <a:ext cx="1298447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200" b="1" dirty="0">
              <a:solidFill>
                <a:srgbClr val="1630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endParaRPr lang="en-US" sz="1200" dirty="0">
              <a:solidFill>
                <a:srgbClr val="16305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Finalistas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595437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95437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347166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7697942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7697942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7752806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</a:t>
            </a: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3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</a:t>
            </a: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3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3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 gestor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1134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091134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 flipV="1">
            <a:off x="9842863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9193639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9193639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9248503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spcAft>
                <a:spcPts val="400"/>
              </a:spcAft>
            </a:pPr>
            <a:r>
              <a:rPr lang="en-US" sz="120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900" dirty="0">
              <a:solidFill>
                <a:srgbClr val="6B74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9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</a:t>
            </a: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salarial</a:t>
            </a:r>
            <a:endParaRPr lang="en-US" sz="900" dirty="0">
              <a:solidFill>
                <a:srgbClr val="6B74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9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900" dirty="0">
              <a:solidFill>
                <a:srgbClr val="6B74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</a:t>
            </a:r>
            <a:r>
              <a:rPr lang="en-US" sz="9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9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</a:t>
            </a: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candidato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586831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9586831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1338560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10689336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10689336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10744200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do colaborador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1082528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11082528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pedido à integração — um fluxo estruturado, auditável e orientado a decisões.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53507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353507" y="5806440"/>
            <a:ext cx="91440" cy="749808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518099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1286195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principais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313054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3313054" y="5806440"/>
            <a:ext cx="91440" cy="74980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3477646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4245742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decisão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272601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6272601" y="5806440"/>
            <a:ext cx="91440" cy="749808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6437193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7205289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integrados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232148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9232148" y="5806440"/>
            <a:ext cx="91440" cy="74980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9396740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71" name="Text 69"/>
          <p:cNvSpPr/>
          <p:nvPr/>
        </p:nvSpPr>
        <p:spPr>
          <a:xfrm>
            <a:off x="10164836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encerramentos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Onboarding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471434" y="256032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das 10 etapas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96012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11480" y="960120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94360" y="1069848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94360" y="1069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9848" y="10058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do candidato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Pandapé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69848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Processo admissional iniciado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11480" y="202082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11480" y="2020824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94360" y="213055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9436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9848" y="206654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do ASO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Saúde Ocupacional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69848" y="2633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Exame admissional agendado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11480" y="3081528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411480" y="3081528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594360" y="3191256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94360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69848" y="312724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 e organização da documentação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69848" y="36941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Documentação conferida e </a:t>
            </a:r>
            <a:r>
              <a:rPr lang="en-US" sz="850" b="1" dirty="0" err="1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enviada</a:t>
            </a: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o DP.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11480" y="414223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11480" y="4142232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594360" y="4251960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9436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69848" y="418795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Pré-Admissional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</a:t>
            </a:r>
            <a:r>
              <a:rPr lang="en-US" sz="850" dirty="0" err="1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69848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Colaborador apto para a integração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5202936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411480" y="5202936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594360" y="5312664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594360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69848" y="524865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no FPW /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Forponto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</a:t>
            </a:r>
            <a:r>
              <a:rPr lang="en-US" sz="850" dirty="0" err="1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</a:t>
            </a: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Departamento </a:t>
            </a:r>
            <a:r>
              <a:rPr lang="en-US" sz="850" dirty="0" err="1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69848" y="5815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Admissão registrada no sistema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400800" y="96012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Shape 35"/>
          <p:cNvSpPr/>
          <p:nvPr/>
        </p:nvSpPr>
        <p:spPr>
          <a:xfrm>
            <a:off x="6400800" y="960120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6583680" y="1069848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6583680" y="1069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059168" y="10058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Contratual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DocuSign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7059168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Contrato formalizado e assinado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400800" y="202082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Shape 41"/>
          <p:cNvSpPr/>
          <p:nvPr/>
        </p:nvSpPr>
        <p:spPr>
          <a:xfrm>
            <a:off x="6400800" y="2020824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2"/>
          <p:cNvSpPr/>
          <p:nvPr/>
        </p:nvSpPr>
        <p:spPr>
          <a:xfrm>
            <a:off x="6583680" y="213055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Text 43"/>
          <p:cNvSpPr/>
          <p:nvPr/>
        </p:nvSpPr>
        <p:spPr>
          <a:xfrm>
            <a:off x="658368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059168" y="206654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Pré-Integração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sexta anterior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059168" y="2633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Colaborador preparado para o 1º dia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400800" y="3081528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0" name="Shape 47"/>
          <p:cNvSpPr/>
          <p:nvPr/>
        </p:nvSpPr>
        <p:spPr>
          <a:xfrm>
            <a:off x="6400800" y="3081528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8"/>
          <p:cNvSpPr/>
          <p:nvPr/>
        </p:nvSpPr>
        <p:spPr>
          <a:xfrm>
            <a:off x="6583680" y="3191256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2" name="Text 49"/>
          <p:cNvSpPr/>
          <p:nvPr/>
        </p:nvSpPr>
        <p:spPr>
          <a:xfrm>
            <a:off x="6583680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059168" y="312724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dia de Integração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7059168" y="36941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Integração administrativa concluída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400800" y="414223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6" name="Shape 53"/>
          <p:cNvSpPr/>
          <p:nvPr/>
        </p:nvSpPr>
        <p:spPr>
          <a:xfrm>
            <a:off x="6400800" y="4142232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4"/>
          <p:cNvSpPr/>
          <p:nvPr/>
        </p:nvSpPr>
        <p:spPr>
          <a:xfrm>
            <a:off x="6583680" y="4251960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8" name="Text 55"/>
          <p:cNvSpPr/>
          <p:nvPr/>
        </p:nvSpPr>
        <p:spPr>
          <a:xfrm>
            <a:off x="658368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7059168" y="418795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Job –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45 </a:t>
            </a:r>
            <a:r>
              <a:rPr lang="en-US" sz="850" dirty="0" err="1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7059168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Acompanhamento estruturado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400800" y="5202936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Shape 59"/>
          <p:cNvSpPr/>
          <p:nvPr/>
        </p:nvSpPr>
        <p:spPr>
          <a:xfrm>
            <a:off x="6400800" y="5202936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60"/>
          <p:cNvSpPr/>
          <p:nvPr/>
        </p:nvSpPr>
        <p:spPr>
          <a:xfrm>
            <a:off x="6583680" y="5312664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4" name="Text 61"/>
          <p:cNvSpPr/>
          <p:nvPr/>
        </p:nvSpPr>
        <p:spPr>
          <a:xfrm>
            <a:off x="6583680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7059168" y="524865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do Onboarding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Gestor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7059168" y="5815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Colaborador integrado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3086100" y="1892808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5"/>
          <p:cNvSpPr/>
          <p:nvPr/>
        </p:nvSpPr>
        <p:spPr>
          <a:xfrm>
            <a:off x="9075420" y="1892808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6"/>
          <p:cNvSpPr/>
          <p:nvPr/>
        </p:nvSpPr>
        <p:spPr>
          <a:xfrm>
            <a:off x="3086100" y="2953512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7"/>
          <p:cNvSpPr/>
          <p:nvPr/>
        </p:nvSpPr>
        <p:spPr>
          <a:xfrm>
            <a:off x="9075420" y="2953512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8"/>
          <p:cNvSpPr/>
          <p:nvPr/>
        </p:nvSpPr>
        <p:spPr>
          <a:xfrm>
            <a:off x="3086100" y="4014216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69"/>
          <p:cNvSpPr/>
          <p:nvPr/>
        </p:nvSpPr>
        <p:spPr>
          <a:xfrm>
            <a:off x="9075420" y="4014216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0"/>
          <p:cNvSpPr/>
          <p:nvPr/>
        </p:nvSpPr>
        <p:spPr>
          <a:xfrm>
            <a:off x="3086100" y="5074920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1"/>
          <p:cNvSpPr/>
          <p:nvPr/>
        </p:nvSpPr>
        <p:spPr>
          <a:xfrm>
            <a:off x="9075420" y="5074920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— Etapas 1 a 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43133" y="259828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e admissão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046177"/>
              </p:ext>
            </p:extLst>
          </p:nvPr>
        </p:nvGraphicFramePr>
        <p:xfrm>
          <a:off x="365760" y="1024128"/>
          <a:ext cx="11457432" cy="490118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/ 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Aprovação do candidato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Pandapé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Movimentação do candidato para a etapa Contratação; envio automático do link para submissão da documentação obrigatória.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 admissional iniciado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Agendamento do ASO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Saúde Ocupacional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Encaminhamento dos dados do candidato: nome, cargo, centro de custo 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telefone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registrados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compartilhada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com a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Sáude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– Controle de ASOs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admissionais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 admissional agendado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Recebimento e organização da documentação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Inclusão na Planilha de Controle de Admissões; recebimento e conferência dos documentos pessoais; organização do Book do Colaborador.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Documentação conferida e arquivada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Checklist Pré-Admissional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Conferências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(documentação, ASO, FPW, DocuSign,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uniforme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crachá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ponto, benefícios, NR-22,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…).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 apto para a integração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Cadastro no FPW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FPW / </a:t>
                      </a:r>
                      <a:r>
                        <a:rPr lang="en-US" sz="90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Forponto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Pré-requisitos: documentação completa e ASO apto.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Admissão registrada no sistema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— Etapas 6 a 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9782" y="263623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acompanhamento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259950"/>
              </p:ext>
            </p:extLst>
          </p:nvPr>
        </p:nvGraphicFramePr>
        <p:xfrm>
          <a:off x="365760" y="1024128"/>
          <a:ext cx="11457432" cy="490118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/ 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Assinatura Contratual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DocuSign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Documentos: Contrato de Trabalho e Ficha de Registro.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formalizado e assinado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Comunicação Pré-Integração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sexta anterior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com Guia de Integração, local e horário, rota do ônibus, informações da NR-22 e orientações de acesso à unidade.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 preparado para o 1º 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Primeiro dia de Integração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de uniforme; Integração RH: registro de ponto, benefícios, seguro de vida, adiantamento salarial e assinatura dos formulários obrigatórios.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 administrativa concluída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 </a:t>
                      </a:r>
                      <a:r>
                        <a:rPr lang="en-US" sz="95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</a:t>
                      </a: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 The Job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45 dias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Padrinho acompanha a adaptação e os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treinamentos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obrigatórios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preenchimento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); Jornada de Experiência (em implantação): acompanhamento periódico, feedbacks 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melhorias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com acompanhamento estruturado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 Encerramento do Onboarding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Gestor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estor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assinado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ambas as partes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contendo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das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previstas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durante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 jornada do candidato.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 integrado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Image 2" descr="/home/deborah-andrade846/PPT---RH/rh/aura_logo_trim.png">
            <a:extLst>
              <a:ext uri="{FF2B5EF4-FFF2-40B4-BE49-F238E27FC236}">
                <a16:creationId xmlns:a16="http://schemas.microsoft.com/office/drawing/2014/main" id="{3EF7A217-E2A4-B8E0-8F9A-6BC0451E7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955" y="6178564"/>
            <a:ext cx="895422" cy="5239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e1add0a-0ab6-4713-8a48-76beb70e12fd}" enabled="0" method="" siteId="{ae1add0a-0ab6-4713-8a48-76beb70e12f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952</Words>
  <Application>Microsoft Office PowerPoint</Application>
  <PresentationFormat>Widescreen</PresentationFormat>
  <Paragraphs>224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do Processo de Recrutamento e Seleção</dc:title>
  <dc:subject>PptxGenJS Presentation</dc:subject>
  <dc:creator>Déborah Giovana de Andrade Gonçalves</dc:creator>
  <cp:lastModifiedBy>Natalia Stefani Pedroso Claudino Canteiro</cp:lastModifiedBy>
  <cp:revision>4</cp:revision>
  <dcterms:created xsi:type="dcterms:W3CDTF">2026-07-02T11:47:14Z</dcterms:created>
  <dcterms:modified xsi:type="dcterms:W3CDTF">2026-07-09T14:59:31Z</dcterms:modified>
</cp:coreProperties>
</file>