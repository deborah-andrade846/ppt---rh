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4614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F4614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2D3D70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84048"/>
            <a:ext cx="1737360" cy="292608"/>
          </a:xfrm>
          <a:prstGeom prst="roundRect">
            <a:avLst>
              <a:gd name="adj" fmla="val 21875"/>
            </a:avLst>
          </a:prstGeom>
          <a:solidFill>
            <a:srgbClr val="F4614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INOVAÇÃO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858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EXTRATOR UNIVERSAL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horas de digitação manual a dados estruturados em 30 segundos.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F461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99,8% redução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324612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F461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zero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extração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24612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F461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zero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licença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324612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F461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246120"/>
            <a:ext cx="192024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Déborah Gonçalves  ·  Célula de Gestão de Contratos  ·  Aura Minerals — Apoena  ·  GAFI  ·  Gestor: Cleisson Bento</a:t>
            </a:r>
            <a:endParaRPr lang="en-US" sz="900" dirty="0"/>
          </a:p>
        </p:txBody>
      </p:sp>
      <p:pic>
        <p:nvPicPr>
          <p:cNvPr id="18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480560"/>
            <a:ext cx="1005840" cy="365760"/>
          </a:xfrm>
          <a:prstGeom prst="rect">
            <a:avLst/>
          </a:prstGeom>
        </p:spPr>
      </p:pic>
      <p:pic>
        <p:nvPicPr>
          <p:cNvPr id="19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453128"/>
            <a:ext cx="82296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 w="12700">
            <a:solidFill>
              <a:srgbClr val="F4614D"/>
            </a:solidFill>
            <a:prstDash val="solid"/>
          </a:ln>
        </p:spPr>
      </p:sp>
      <p:pic>
        <p:nvPicPr>
          <p:cNvPr id="4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0"/>
            <a:ext cx="822960" cy="301752"/>
          </a:xfrm>
          <a:prstGeom prst="rect">
            <a:avLst/>
          </a:prstGeom>
        </p:spPr>
      </p:pic>
      <p:pic>
        <p:nvPicPr>
          <p:cNvPr id="5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27448"/>
            <a:ext cx="86868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E"/>
                </a:solidFill>
              </a:rPr>
              <a:t>O Problema: Processo Manual Insustentável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274320" y="1005840"/>
            <a:ext cx="4114800" cy="352044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Shape 4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 ANTES DA SOLUÇÃO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8 a 16 horas por contrato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3 contratos/mês para processar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😫  1 analista 100% dedicado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Erros de digitação frequentes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Risco de multas e retrabalho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Processo manual e desgastante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005840"/>
            <a:ext cx="4114800" cy="35204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🟢  DEPOIS DA SOLUÇÃO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920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30 segundos por contrato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9204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Dados estruturados automaticamente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9204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erros de transcrição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9204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Processamento seguro e auditável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9204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Custo zero de licenciamento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92040" y="3794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Analista liberado para análise estratégica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206240" y="2331720"/>
            <a:ext cx="548640" cy="548640"/>
          </a:xfrm>
          <a:prstGeom prst="ellipse">
            <a:avLst/>
          </a:prstGeom>
          <a:solidFill>
            <a:srgbClr val="F4614D"/>
          </a:solidFill>
          <a:ln/>
        </p:spPr>
      </p:sp>
      <p:sp>
        <p:nvSpPr>
          <p:cNvPr id="26" name="Text 22"/>
          <p:cNvSpPr/>
          <p:nvPr/>
        </p:nvSpPr>
        <p:spPr>
          <a:xfrm>
            <a:off x="420624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 w="12700">
            <a:solidFill>
              <a:srgbClr val="F4614D"/>
            </a:solidFill>
            <a:prstDash val="solid"/>
          </a:ln>
        </p:spPr>
      </p:sp>
      <p:pic>
        <p:nvPicPr>
          <p:cNvPr id="4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0"/>
            <a:ext cx="822960" cy="301752"/>
          </a:xfrm>
          <a:prstGeom prst="rect">
            <a:avLst/>
          </a:prstGeom>
        </p:spPr>
      </p:pic>
      <p:pic>
        <p:nvPicPr>
          <p:cNvPr id="5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27448"/>
            <a:ext cx="86868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Inovação: Motor Inteligente de Interpretação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AABB"/>
                </a:solidFill>
              </a:rPr>
              <a:t>Não é apenas um conversor de PDF. É um sistema que lê, interpreta e organiza dados com inteligência cirúrgica.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65760" y="141732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24304A"/>
          </a:solidFill>
          <a:ln w="19050">
            <a:solidFill>
              <a:srgbClr val="F4614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1572768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614D"/>
                </a:solidFill>
              </a:rPr>
              <a:t>INTELIGÊNCIA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02920" y="27249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Interpretação contextual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02920" y="30723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baseada em regras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02920" y="34198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adaptáveis por área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200400" y="141732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1B3040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6240" y="1572768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0040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AUTOMAÇÃO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337560" y="27249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Processamento em lote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3337560" y="30723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Arraste + clique =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337560" y="34198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dados prontos no Excel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35040" y="141732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2E2A1A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0" y="1572768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35040" y="23042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SEGURANÇA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172200" y="27249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Políticas de acesso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172200" y="30723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Trilha de auditoria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172200" y="34198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</a:rPr>
              <a:t>Governança de dados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65760" y="4572000"/>
            <a:ext cx="8412480" cy="201168"/>
          </a:xfrm>
          <a:prstGeom prst="roundRect">
            <a:avLst>
              <a:gd name="adj" fmla="val 18182"/>
            </a:avLst>
          </a:prstGeom>
          <a:solidFill>
            <a:srgbClr val="F4614D">
              <a:alpha val="15000"/>
            </a:srgbClr>
          </a:solidFill>
          <a:ln w="12700">
            <a:solidFill>
              <a:srgbClr val="F4614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614D"/>
                </a:solidFill>
              </a:rPr>
              <a:t>Inteligência Cirúrgica: a inovação está em escolher exatamente o que absorver — não em apenas converter.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 w="12700">
            <a:solidFill>
              <a:srgbClr val="F4614D"/>
            </a:solidFill>
            <a:prstDash val="solid"/>
          </a:ln>
        </p:spPr>
      </p:sp>
      <p:pic>
        <p:nvPicPr>
          <p:cNvPr id="4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0"/>
            <a:ext cx="822960" cy="301752"/>
          </a:xfrm>
          <a:prstGeom prst="rect">
            <a:avLst/>
          </a:prstGeom>
        </p:spPr>
      </p:pic>
      <p:pic>
        <p:nvPicPr>
          <p:cNvPr id="5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27448"/>
            <a:ext cx="86868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E"/>
                </a:solidFill>
              </a:rPr>
              <a:t>Evidências: Resultados Reais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20040" y="960120"/>
            <a:ext cx="109728" cy="868680"/>
          </a:xfrm>
          <a:prstGeom prst="rect">
            <a:avLst/>
          </a:prstGeom>
          <a:solidFill>
            <a:srgbClr val="F4614D"/>
          </a:solidFill>
          <a:ln/>
        </p:spPr>
      </p:sp>
      <p:sp>
        <p:nvSpPr>
          <p:cNvPr id="8" name="Text 4"/>
          <p:cNvSpPr/>
          <p:nvPr/>
        </p:nvSpPr>
        <p:spPr>
          <a:xfrm>
            <a:off x="50292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614D"/>
                </a:solidFill>
              </a:rPr>
              <a:t>99,8%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5029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Redução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tempo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68880" y="960120"/>
            <a:ext cx="109728" cy="868680"/>
          </a:xfrm>
          <a:prstGeom prst="rect">
            <a:avLst/>
          </a:prstGeom>
          <a:solidFill>
            <a:srgbClr val="2D3D70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3D70"/>
                </a:solidFill>
              </a:rPr>
              <a:t>47h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6517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Economia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por mês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7720" y="960120"/>
            <a:ext cx="10972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480060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ZERO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48006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Erros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transcrição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766560" y="960120"/>
            <a:ext cx="10972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R$ 0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Custo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95A8"/>
                </a:solidFill>
              </a:rPr>
              <a:t>licença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1920240"/>
            <a:ext cx="8503920" cy="1828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0" name="Shape 16"/>
          <p:cNvSpPr/>
          <p:nvPr/>
        </p:nvSpPr>
        <p:spPr>
          <a:xfrm>
            <a:off x="320040" y="205740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1A2B5E"/>
          </a:solidFill>
          <a:ln/>
        </p:spPr>
      </p:sp>
      <p:sp>
        <p:nvSpPr>
          <p:cNvPr id="21" name="Text 17"/>
          <p:cNvSpPr/>
          <p:nvPr/>
        </p:nvSpPr>
        <p:spPr>
          <a:xfrm>
            <a:off x="32004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614D"/>
                </a:solidFill>
              </a:rPr>
              <a:t>O Motor de Inteligência (Core)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" y="2542032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A3B5E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25786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pdfplumber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286000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OCR e extração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02920" y="3108960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A3B5E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080" y="31455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Regex Engine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286000" y="31455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Regras de negócio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02920" y="3675888"/>
            <a:ext cx="3657600" cy="475488"/>
          </a:xfrm>
          <a:prstGeom prst="roundRect">
            <a:avLst>
              <a:gd name="adj" fmla="val 11538"/>
            </a:avLst>
          </a:prstGeom>
          <a:solidFill>
            <a:srgbClr val="2A3B5E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0080" y="37124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Pandas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2286000" y="37124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</a:rPr>
              <a:t>Estruturação de dados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0" y="2057400"/>
            <a:ext cx="4160520" cy="246888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663440" y="2103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Workflow Automatizado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102352" y="2542032"/>
            <a:ext cx="475488" cy="475488"/>
          </a:xfrm>
          <a:prstGeom prst="ellipse">
            <a:avLst/>
          </a:prstGeom>
          <a:solidFill>
            <a:srgbClr val="F4614D"/>
          </a:solidFill>
          <a:ln/>
        </p:spPr>
      </p:sp>
      <p:sp>
        <p:nvSpPr>
          <p:cNvPr id="34" name="Text 30"/>
          <p:cNvSpPr/>
          <p:nvPr/>
        </p:nvSpPr>
        <p:spPr>
          <a:xfrm>
            <a:off x="5102352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4800600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Ingestão em Lote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800600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5A8"/>
                </a:solidFill>
              </a:rPr>
              <a:t>Arraste PDFs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916168" y="2734056"/>
            <a:ext cx="228600" cy="73152"/>
          </a:xfrm>
          <a:prstGeom prst="rect">
            <a:avLst/>
          </a:prstGeom>
          <a:solidFill>
            <a:srgbClr val="8A95A8"/>
          </a:solidFill>
          <a:ln/>
        </p:spPr>
      </p:sp>
      <p:sp>
        <p:nvSpPr>
          <p:cNvPr id="38" name="Shape 34"/>
          <p:cNvSpPr/>
          <p:nvPr/>
        </p:nvSpPr>
        <p:spPr>
          <a:xfrm>
            <a:off x="6446520" y="2542032"/>
            <a:ext cx="475488" cy="475488"/>
          </a:xfrm>
          <a:prstGeom prst="ellipse">
            <a:avLst/>
          </a:prstGeom>
          <a:solidFill>
            <a:srgbClr val="2D3D70"/>
          </a:solidFill>
          <a:ln/>
        </p:spPr>
      </p:sp>
      <p:sp>
        <p:nvSpPr>
          <p:cNvPr id="39" name="Text 35"/>
          <p:cNvSpPr/>
          <p:nvPr/>
        </p:nvSpPr>
        <p:spPr>
          <a:xfrm>
            <a:off x="6446520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6144768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Limpeza (Regex)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144768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5A8"/>
                </a:solidFill>
              </a:rPr>
              <a:t>Regras aplicadas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7260336" y="2734056"/>
            <a:ext cx="228600" cy="73152"/>
          </a:xfrm>
          <a:prstGeom prst="rect">
            <a:avLst/>
          </a:prstGeom>
          <a:solidFill>
            <a:srgbClr val="8A95A8"/>
          </a:solidFill>
          <a:ln/>
        </p:spPr>
      </p:sp>
      <p:sp>
        <p:nvSpPr>
          <p:cNvPr id="43" name="Shape 39"/>
          <p:cNvSpPr/>
          <p:nvPr/>
        </p:nvSpPr>
        <p:spPr>
          <a:xfrm>
            <a:off x="7790688" y="254203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0"/>
          <p:cNvSpPr/>
          <p:nvPr/>
        </p:nvSpPr>
        <p:spPr>
          <a:xfrm>
            <a:off x="7790688" y="25420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7488936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E"/>
                </a:solidFill>
              </a:rPr>
              <a:t>Exportação .xlsx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7488936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5A8"/>
                </a:solidFill>
              </a:rPr>
              <a:t>Pronto para ERP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800600" y="3749040"/>
            <a:ext cx="3931920" cy="658368"/>
          </a:xfrm>
          <a:prstGeom prst="roundRect">
            <a:avLst>
              <a:gd name="adj" fmla="val 9722"/>
            </a:avLst>
          </a:prstGeom>
          <a:solidFill>
            <a:srgbClr val="E8F0FF"/>
          </a:solidFill>
          <a:ln w="12700">
            <a:solidFill>
              <a:srgbClr val="2D3D7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37760" y="377647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</a:t>
            </a:r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(MVP de validação) — versão de demonstração.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A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integração com sistemas corporativos.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5A8"/>
                </a:solidFill>
              </a:rPr>
              <a:t>📅  Implantado em 06/04/2026  ·  Célula de Gestão de Contratos  ·  Gestor: Cleisson Bento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 w="12700">
            <a:solidFill>
              <a:srgbClr val="F4614D"/>
            </a:solidFill>
            <a:prstDash val="solid"/>
          </a:ln>
        </p:spPr>
      </p:sp>
      <p:pic>
        <p:nvPicPr>
          <p:cNvPr id="4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0"/>
            <a:ext cx="822960" cy="301752"/>
          </a:xfrm>
          <a:prstGeom prst="rect">
            <a:avLst/>
          </a:prstGeom>
        </p:spPr>
      </p:pic>
      <p:pic>
        <p:nvPicPr>
          <p:cNvPr id="5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27448"/>
            <a:ext cx="86868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Escalabilidade: Um Motor, Múltiplas Áreas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AABB"/>
                </a:solidFill>
              </a:rPr>
              <a:t>O mesmo motor de extração, adaptado para diferentes documentos em toda a companhia.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0040" y="137160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1E3B2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20040" y="13716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0" name="Text 6"/>
          <p:cNvSpPr/>
          <p:nvPr/>
        </p:nvSpPr>
        <p:spPr>
          <a:xfrm>
            <a:off x="320040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182880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Gestão de Contratos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14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0"/>
                </a:solidFill>
              </a:rPr>
              <a:t>3 contratos/mês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48640" y="352044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✅ IMPLANTADO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2496312" y="137160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3A2E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496312" y="13716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/>
        </p:spPr>
      </p:sp>
      <p:sp>
        <p:nvSpPr>
          <p:cNvPr id="18" name="Text 13"/>
          <p:cNvSpPr/>
          <p:nvPr/>
        </p:nvSpPr>
        <p:spPr>
          <a:xfrm>
            <a:off x="2496312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2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2112" y="182880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87752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Jurídico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587752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0"/>
                </a:solidFill>
              </a:rPr>
              <a:t>Petições, Sentenças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724912" y="352044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724912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🔜 MAPEADO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672584" y="137160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1A1E3A"/>
          </a:solidFill>
          <a:ln w="19050">
            <a:solidFill>
              <a:srgbClr val="7B8F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72584" y="13716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7B8FF8"/>
          </a:solidFill>
          <a:ln/>
        </p:spPr>
      </p:sp>
      <p:sp>
        <p:nvSpPr>
          <p:cNvPr id="26" name="Text 20"/>
          <p:cNvSpPr/>
          <p:nvPr/>
        </p:nvSpPr>
        <p:spPr>
          <a:xfrm>
            <a:off x="4672584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3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8384" y="182880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64024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RH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764024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0"/>
                </a:solidFill>
              </a:rPr>
              <a:t>Currículos, Fichas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901184" y="352044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7B8FF8">
              <a:alpha val="25000"/>
            </a:srgbClr>
          </a:solidFill>
          <a:ln w="12700">
            <a:solidFill>
              <a:srgbClr val="7B8FF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901184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8FF8"/>
                </a:solidFill>
              </a:rPr>
              <a:t>📋 PLANEJADO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6848856" y="1371600"/>
            <a:ext cx="2011680" cy="3063240"/>
          </a:xfrm>
          <a:prstGeom prst="roundRect">
            <a:avLst>
              <a:gd name="adj" fmla="val 4545"/>
            </a:avLst>
          </a:prstGeom>
          <a:solidFill>
            <a:srgbClr val="2E1A18"/>
          </a:solidFill>
          <a:ln w="19050">
            <a:solidFill>
              <a:srgbClr val="F9836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848856" y="13716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9836F"/>
          </a:solidFill>
          <a:ln/>
        </p:spPr>
      </p:sp>
      <p:sp>
        <p:nvSpPr>
          <p:cNvPr id="34" name="Text 27"/>
          <p:cNvSpPr/>
          <p:nvPr/>
        </p:nvSpPr>
        <p:spPr>
          <a:xfrm>
            <a:off x="6848856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4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34656" y="1828800"/>
            <a:ext cx="640080" cy="6400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40296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Logística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940296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0"/>
                </a:solidFill>
              </a:rPr>
              <a:t>Notas Fiscais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7077456" y="352044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F9836F">
              <a:alpha val="25000"/>
            </a:srgbClr>
          </a:solidFill>
          <a:ln w="12700">
            <a:solidFill>
              <a:srgbClr val="F9836F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077456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836F"/>
                </a:solidFill>
              </a:rPr>
              <a:t>🚚 PLANEJADO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320040" y="4572000"/>
            <a:ext cx="8503920" cy="274320"/>
          </a:xfrm>
          <a:prstGeom prst="roundRect">
            <a:avLst>
              <a:gd name="adj" fmla="val 20000"/>
            </a:avLst>
          </a:prstGeom>
          <a:solidFill>
            <a:srgbClr val="F4614D">
              <a:alpha val="20000"/>
            </a:srgbClr>
          </a:solidFill>
          <a:ln w="12700">
            <a:solidFill>
              <a:srgbClr val="F4614D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320040" y="4572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614D"/>
                </a:solidFill>
              </a:rPr>
              <a:t>🎯  Objetivo final: HUB de Automação Documental da Aura Minerals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 w="12700">
            <a:solidFill>
              <a:srgbClr val="F4614D"/>
            </a:solidFill>
            <a:prstDash val="solid"/>
          </a:ln>
        </p:spPr>
      </p:sp>
      <p:pic>
        <p:nvPicPr>
          <p:cNvPr id="4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0"/>
            <a:ext cx="822960" cy="301752"/>
          </a:xfrm>
          <a:prstGeom prst="rect">
            <a:avLst/>
          </a:prstGeom>
        </p:spPr>
      </p:pic>
      <p:pic>
        <p:nvPicPr>
          <p:cNvPr id="5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27448"/>
            <a:ext cx="86868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5E"/>
                </a:solidFill>
              </a:rPr>
              <a:t>Impacto Estratégico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274320" y="100584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1115568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💰 Economia Direta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47 horas economizadas/mês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75% da jornada liberada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1993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Custo zero de licença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ROI imediato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00584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63440" y="1115568"/>
            <a:ext cx="73152" cy="1371600"/>
          </a:xfrm>
          <a:prstGeom prst="rect">
            <a:avLst/>
          </a:prstGeom>
          <a:solidFill>
            <a:srgbClr val="2D3D70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D70"/>
                </a:solidFill>
              </a:rPr>
              <a:t>🎯 Qualidade &amp; Governança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632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Erro zero em transcrições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4632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Dados padronizados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46320" y="1993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Rastreabilidade total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4632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Auditoria automática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74320" y="27432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74320" y="2852928"/>
            <a:ext cx="73152" cy="1371600"/>
          </a:xfrm>
          <a:prstGeom prst="rect">
            <a:avLst/>
          </a:prstGeom>
          <a:solidFill>
            <a:srgbClr val="F4614D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614D"/>
                </a:solidFill>
              </a:rPr>
              <a:t>📈 Capacidade Operacional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Analista focado em análise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3456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Resposta ágil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Engajamento da equipe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Processo sem gargalo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63440" y="27432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63440" y="2852928"/>
            <a:ext cx="73152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6"/>
          <p:cNvSpPr/>
          <p:nvPr/>
        </p:nvSpPr>
        <p:spPr>
          <a:xfrm>
            <a:off x="484632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🚀 Potencial de Crescimento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4632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Motor adaptável por domínio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46320" y="3456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Expansão para Jurídico, RH, Log.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846320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Plataforma reutilizável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846320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235"/>
                </a:solidFill>
              </a:rPr>
              <a:t>• Tecnologia aberta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8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6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APOENA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 w="12700">
            <a:solidFill>
              <a:srgbClr val="F4614D"/>
            </a:solidFill>
            <a:prstDash val="solid"/>
          </a:ln>
        </p:spPr>
      </p:sp>
      <p:pic>
        <p:nvPicPr>
          <p:cNvPr id="4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754880"/>
            <a:ext cx="822960" cy="301752"/>
          </a:xfrm>
          <a:prstGeom prst="rect">
            <a:avLst/>
          </a:prstGeom>
        </p:spPr>
      </p:pic>
      <p:pic>
        <p:nvPicPr>
          <p:cNvPr id="5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27448"/>
            <a:ext cx="86868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Visão de Futuro: Expansão Multissetorial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051560"/>
            <a:ext cx="2651760" cy="2697480"/>
          </a:xfrm>
          <a:prstGeom prst="roundRect">
            <a:avLst>
              <a:gd name="adj" fmla="val 3448"/>
            </a:avLst>
          </a:prstGeom>
          <a:solidFill>
            <a:srgbClr val="1E2B48"/>
          </a:solidFill>
          <a:ln w="19050">
            <a:solidFill>
              <a:srgbClr val="F4614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614D"/>
                </a:solidFill>
              </a:rPr>
              <a:t>01</a:t>
            </a:r>
            <a:endParaRPr lang="en-US" sz="2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169164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Transformação em API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02920" y="28163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B"/>
                </a:solidFill>
              </a:rPr>
              <a:t>Desacoplar o motor Python para integração com sistemas corporativos.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3200400" y="1051560"/>
            <a:ext cx="2651760" cy="2697480"/>
          </a:xfrm>
          <a:prstGeom prst="roundRect">
            <a:avLst>
              <a:gd name="adj" fmla="val 3448"/>
            </a:avLst>
          </a:prstGeom>
          <a:solidFill>
            <a:srgbClr val="1E2B4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02</a:t>
            </a:r>
            <a:endParaRPr lang="en-US" sz="2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6240" y="169164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9184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Integração Corporativa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337560" y="28163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B"/>
                </a:solidFill>
              </a:rPr>
              <a:t>Conectar o extrator a ferramentas homologadas (Power Apps, SAP).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035040" y="1051560"/>
            <a:ext cx="2651760" cy="2697480"/>
          </a:xfrm>
          <a:prstGeom prst="roundRect">
            <a:avLst>
              <a:gd name="adj" fmla="val 3448"/>
            </a:avLst>
          </a:prstGeom>
          <a:solidFill>
            <a:srgbClr val="1E2B4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03</a:t>
            </a:r>
            <a:endParaRPr lang="en-US" sz="2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0" y="1691640"/>
            <a:ext cx="640080" cy="6400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2648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Escala Operacional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172200" y="28163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B"/>
                </a:solidFill>
              </a:rPr>
              <a:t>Automatizar processos do RH, Jurídico e Logística com o mesmo motor.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65760" y="385876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4614D">
              <a:alpha val="12000"/>
            </a:srgbClr>
          </a:solidFill>
          <a:ln w="19050">
            <a:solidFill>
              <a:srgbClr val="F4614D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391363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Projeto implantado em 06/04/2026. Resultados comprovados. Escalabilidade mapeada.
</a:t>
            </a:r>
            <a:pPr algn="ctr" indent="0" marL="0">
              <a:buNone/>
            </a:pPr>
            <a:r>
              <a:rPr lang="en-US" sz="1100" i="1" dirty="0">
                <a:solidFill>
                  <a:srgbClr val="D0C0FF"/>
                </a:solidFill>
              </a:rPr>
              <a:t>Pronto para ser o próximo ativo estratégico da Aura Minerals.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943600" cy="5943600"/>
          </a:xfrm>
          <a:prstGeom prst="ellipse">
            <a:avLst/>
          </a:prstGeom>
          <a:solidFill>
            <a:srgbClr val="F461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F4614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INOVE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</a:rPr>
              <a:t>SEMPRE!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614D"/>
                </a:solidFill>
              </a:rPr>
              <a:t>Inovar é Escalar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0C0"/>
                </a:solidFill>
              </a:rPr>
              <a:t>Vamos construir o futuro juntos?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1E2B48"/>
          </a:solidFill>
          <a:ln w="15240">
            <a:solidFill>
              <a:srgbClr val="F46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39312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Déborah Giovana de Andrade Gonçalves
</a:t>
            </a:r>
            <a:pPr indent="0" marL="0">
              <a:buNone/>
            </a:pPr>
            <a:r>
              <a:rPr lang="en-US" sz="1000" dirty="0">
                <a:solidFill>
                  <a:srgbClr val="A0AABB"/>
                </a:solidFill>
              </a:rPr>
              <a:t>Proponente · Extrator de Relatórios — Apoena
</a:t>
            </a:r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</a:rPr>
              <a:t>Célula de Gestão de Contratos  ·  GAFI  ·  Aura Minerals</a:t>
            </a:r>
            <a:endParaRPr lang="en-US" sz="1200" dirty="0"/>
          </a:p>
        </p:txBody>
      </p:sp>
      <p:pic>
        <p:nvPicPr>
          <p:cNvPr id="9" name="Image 0" descr="/home/projects/stackblitz-starters-k697jfjm/assets/aur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1097280" cy="402336"/>
          </a:xfrm>
          <a:prstGeom prst="rect">
            <a:avLst/>
          </a:prstGeom>
        </p:spPr>
      </p:pic>
      <p:pic>
        <p:nvPicPr>
          <p:cNvPr id="10" name="Image 1" descr="/home/projects/stackblitz-starters-k697jfjm/assets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81728"/>
            <a:ext cx="1005840" cy="4023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F4614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Storytech: Extrator de Relatórios — Apoena</dc:title>
  <dc:subject>PptxGenJS Presentation</dc:subject>
  <dc:creator>Déborah Giovana de Andrade Gonçalves</dc:creator>
  <cp:lastModifiedBy>Déborah Giovana de Andrade Gonçalves</cp:lastModifiedBy>
  <cp:revision>1</cp:revision>
  <dcterms:created xsi:type="dcterms:W3CDTF">2026-04-30T14:49:10Z</dcterms:created>
  <dcterms:modified xsi:type="dcterms:W3CDTF">2026-04-30T14:49:10Z</dcterms:modified>
</cp:coreProperties>
</file>