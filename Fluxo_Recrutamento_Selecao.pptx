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6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-1371600"/>
            <a:ext cx="2743200" cy="2743200"/>
          </a:xfrm>
          <a:prstGeom prst="ellipse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914400" y="5212080"/>
            <a:ext cx="2194560" cy="2194560"/>
          </a:xfrm>
          <a:prstGeom prst="ellipse">
            <a:avLst/>
          </a:prstGeom>
          <a:solidFill>
            <a:srgbClr val="2E6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1234440" y="2468879"/>
            <a:ext cx="1005840" cy="1005841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40280" y="2468879"/>
            <a:ext cx="1005840" cy="1005841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40280" y="2468879"/>
            <a:ext cx="0" cy="2011681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34440" y="3474720"/>
            <a:ext cx="2011680" cy="0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34440" y="3474720"/>
            <a:ext cx="1005840" cy="1005840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240280" y="3474720"/>
            <a:ext cx="1005840" cy="1005840"/>
          </a:xfrm>
          <a:prstGeom prst="line">
            <a:avLst/>
          </a:prstGeom>
          <a:ln w="15240">
            <a:solidFill>
              <a:srgbClr val="3E5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068830" y="2160270"/>
            <a:ext cx="342900" cy="342900"/>
          </a:xfrm>
          <a:prstGeom prst="ellipse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31670" y="2480310"/>
            <a:ext cx="617220" cy="388620"/>
          </a:xfrm>
          <a:prstGeom prst="roundRect">
            <a:avLst>
              <a:gd name="adj" fmla="val 50000"/>
            </a:avLst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320040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" y="3456432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08960" y="320040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999232" y="3456432"/>
            <a:ext cx="49377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96262" y="4199382"/>
            <a:ext cx="288036" cy="288036"/>
          </a:xfrm>
          <a:prstGeom prst="ellipse">
            <a:avLst/>
          </a:prstGeom>
          <a:solidFill>
            <a:srgbClr val="2E6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81047" y="4468215"/>
            <a:ext cx="518464" cy="326440"/>
          </a:xfrm>
          <a:prstGeom prst="roundRect">
            <a:avLst>
              <a:gd name="adj" fmla="val 50000"/>
            </a:avLst>
          </a:prstGeom>
          <a:solidFill>
            <a:srgbClr val="2E6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F5B301"/>
                </a:solidFill>
                <a:latin typeface="Calibri"/>
              </a:rPr>
              <a:t>RECURSOS HUMANOS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2057400"/>
            <a:ext cx="6675120" cy="1737360"/>
          </a:xfrm>
          <a:prstGeom prst="rect">
            <a:avLst/>
          </a:prstGeom>
          <a:noFill/>
        </p:spPr>
        <p:txBody>
          <a:bodyPr wrap="square" anchor="b" lIns="45720" rIns="45720" tIns="18288" bIns="18288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3400" b="1" i="0">
                <a:solidFill>
                  <a:srgbClr val="16305C"/>
                </a:solidFill>
                <a:latin typeface="Calibri"/>
              </a:rPr>
              <a:t>Fluxo do Processo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3400" b="1" i="0">
                <a:solidFill>
                  <a:srgbClr val="1F4E9B"/>
                </a:solidFill>
                <a:latin typeface="Calibri"/>
              </a:rPr>
              <a:t>Recrutamento e Seleção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3886200"/>
            <a:ext cx="1554480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4069080"/>
            <a:ext cx="65836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6B7480"/>
                </a:solidFill>
                <a:latin typeface="Calibri"/>
              </a:rPr>
              <a:t>Etapas, aprovações, sistemas utilizados e pontos de decisão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617220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6B7480"/>
                </a:solidFill>
                <a:latin typeface="Calibri"/>
              </a:rPr>
              <a:t>Apresentação executiva  ·  Processo de R&amp;S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8229600" cy="7863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Fluxo Completo do Processo de Recrutamento e Seleção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0"/>
            <a:ext cx="3291840" cy="7863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5B301"/>
                </a:solidFill>
                <a:latin typeface="Calibri"/>
              </a:rPr>
              <a:t>Fluxograma executivo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05840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05840"/>
            <a:ext cx="91440" cy="822960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1124712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033272"/>
            <a:ext cx="2039112" cy="768096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Requisição de Vaga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Origem: Portal de Serviços (HUB RH)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Gestor solicita abertura da vaga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Cargo · Centro de custo · Escopo · Contratação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93392"/>
            <a:ext cx="27889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993392"/>
            <a:ext cx="91440" cy="786384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112264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020824"/>
            <a:ext cx="2039112" cy="731520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Publicação da Vaga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Publicação na Pandapé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Quintas-feiras · permanência de 7 dias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Portal de Vagas · Aura Comunica (sexta)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944368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91440" cy="731520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063240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2971800"/>
            <a:ext cx="2039112" cy="676656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Triagem de Currículos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Avaliação técnica dos currículos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Compatibilidade com os requisitos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Seleção de candidatos aderentes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40480"/>
            <a:ext cx="27889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840480"/>
            <a:ext cx="91440" cy="786384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3959352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3867912"/>
            <a:ext cx="2039112" cy="731520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Entrevista RH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Avaliação comportamental · histórico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Motivação · alinhamento cultural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Pretensão salarial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05939" y="1828800"/>
            <a:ext cx="0" cy="164592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05939" y="2779776"/>
            <a:ext cx="0" cy="164592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05939" y="3675887"/>
            <a:ext cx="0" cy="164593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805939" y="4626864"/>
            <a:ext cx="0" cy="64008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Diamond 26"/>
          <p:cNvSpPr/>
          <p:nvPr/>
        </p:nvSpPr>
        <p:spPr>
          <a:xfrm>
            <a:off x="1097279" y="4686300"/>
            <a:ext cx="1417320" cy="777240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6305C"/>
                </a:solidFill>
                <a:latin typeface="Calibri"/>
              </a:rPr>
              <a:t>Aprovado?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782312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0504D"/>
                </a:solidFill>
                <a:latin typeface="Calibri"/>
              </a:rPr>
              <a:t>Não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40080" y="5074920"/>
            <a:ext cx="452627" cy="0"/>
          </a:xfrm>
          <a:prstGeom prst="line">
            <a:avLst/>
          </a:prstGeom>
          <a:ln w="19050">
            <a:solidFill>
              <a:srgbClr val="C050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1440" y="5349240"/>
            <a:ext cx="1417320" cy="384048"/>
          </a:xfrm>
          <a:prstGeom prst="roundRect">
            <a:avLst>
              <a:gd name="adj" fmla="val 28000"/>
            </a:avLst>
          </a:prstGeom>
          <a:solidFill>
            <a:srgbClr val="F4DAD8"/>
          </a:solidFill>
          <a:ln w="12700">
            <a:solidFill>
              <a:srgbClr val="C0504D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C0504D"/>
                </a:solidFill>
                <a:latin typeface="Calibri"/>
              </a:rPr>
              <a:t>Reprovado · processo encerrado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5093207"/>
            <a:ext cx="155448" cy="256033"/>
          </a:xfrm>
          <a:prstGeom prst="line">
            <a:avLst/>
          </a:prstGeom>
          <a:ln w="17780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89988" y="5056632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11880" y="1005840"/>
            <a:ext cx="1874519" cy="402336"/>
          </a:xfrm>
          <a:prstGeom prst="roundRect">
            <a:avLst>
              <a:gd name="adj" fmla="val 22000"/>
            </a:avLst>
          </a:prstGeom>
          <a:solidFill>
            <a:srgbClr val="F5B301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6305C"/>
                </a:solidFill>
                <a:latin typeface="Calibri"/>
              </a:rPr>
              <a:t>Triagem Patrimonial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1426464"/>
            <a:ext cx="1874519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1">
                <a:solidFill>
                  <a:srgbClr val="6B7480"/>
                </a:solidFill>
                <a:latin typeface="Calibri"/>
              </a:rPr>
              <a:t>fluxo paralelo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11880" y="1755648"/>
            <a:ext cx="1874519" cy="42062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69" b="1" i="0">
                <a:solidFill>
                  <a:srgbClr val="3A414C"/>
                </a:solidFill>
                <a:latin typeface="Calibri"/>
              </a:rPr>
              <a:t>Envio de Forms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1880" y="2340864"/>
            <a:ext cx="1874519" cy="42062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69" b="1" i="0">
                <a:solidFill>
                  <a:srgbClr val="3A414C"/>
                </a:solidFill>
                <a:latin typeface="Calibri"/>
              </a:rPr>
              <a:t>Preenchimento pelo candidato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11880" y="2926080"/>
            <a:ext cx="1874519" cy="42062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69" b="1" i="0">
                <a:solidFill>
                  <a:srgbClr val="3A414C"/>
                </a:solidFill>
                <a:latin typeface="Calibri"/>
              </a:rPr>
              <a:t>Pesquisa patrimonial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49140" y="2176272"/>
            <a:ext cx="0" cy="164592"/>
          </a:xfrm>
          <a:prstGeom prst="line">
            <a:avLst/>
          </a:prstGeom>
          <a:ln w="20320">
            <a:solidFill>
              <a:srgbClr val="D99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49140" y="2761488"/>
            <a:ext cx="0" cy="164592"/>
          </a:xfrm>
          <a:prstGeom prst="line">
            <a:avLst/>
          </a:prstGeom>
          <a:ln w="20320">
            <a:solidFill>
              <a:srgbClr val="D99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549140" y="1645920"/>
            <a:ext cx="0" cy="109728"/>
          </a:xfrm>
          <a:prstGeom prst="line">
            <a:avLst/>
          </a:prstGeom>
          <a:ln w="20320">
            <a:solidFill>
              <a:srgbClr val="D99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549140" y="3346704"/>
            <a:ext cx="0" cy="155448"/>
          </a:xfrm>
          <a:prstGeom prst="line">
            <a:avLst/>
          </a:prstGeom>
          <a:ln w="20320">
            <a:solidFill>
              <a:srgbClr val="D99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/>
          <p:cNvSpPr/>
          <p:nvPr/>
        </p:nvSpPr>
        <p:spPr>
          <a:xfrm>
            <a:off x="3840479" y="3511296"/>
            <a:ext cx="1417320" cy="749808"/>
          </a:xfrm>
          <a:prstGeom prst="diamond">
            <a:avLst/>
          </a:prstGeom>
          <a:solidFill>
            <a:srgbClr val="DCE7F7"/>
          </a:solidFill>
          <a:ln w="12700">
            <a:solidFill>
              <a:srgbClr val="2E6CC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6305C"/>
                </a:solidFill>
                <a:latin typeface="Calibri"/>
              </a:rPr>
              <a:t>Aprovado?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91939" y="4270248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0504D"/>
                </a:solidFill>
                <a:latin typeface="Calibri"/>
              </a:rPr>
              <a:t>Não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549140" y="4261104"/>
            <a:ext cx="0" cy="192024"/>
          </a:xfrm>
          <a:prstGeom prst="line">
            <a:avLst/>
          </a:prstGeom>
          <a:ln w="17780">
            <a:solidFill>
              <a:srgbClr val="C050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611880" y="4453128"/>
            <a:ext cx="1874519" cy="384048"/>
          </a:xfrm>
          <a:prstGeom prst="roundRect">
            <a:avLst>
              <a:gd name="adj" fmla="val 28000"/>
            </a:avLst>
          </a:prstGeom>
          <a:solidFill>
            <a:srgbClr val="F4DAD8"/>
          </a:solidFill>
          <a:ln w="12700">
            <a:solidFill>
              <a:srgbClr val="C0504D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C0504D"/>
                </a:solidFill>
                <a:latin typeface="Calibri"/>
              </a:rPr>
              <a:t>Restrição · processo encerrado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519172" y="5074920"/>
            <a:ext cx="882396" cy="0"/>
          </a:xfrm>
          <a:prstGeom prst="line">
            <a:avLst/>
          </a:prstGeom>
          <a:ln w="2032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401568" y="1207008"/>
            <a:ext cx="0" cy="3867912"/>
          </a:xfrm>
          <a:prstGeom prst="line">
            <a:avLst/>
          </a:prstGeom>
          <a:ln w="2032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401568" y="1207008"/>
            <a:ext cx="210312" cy="0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97779" y="3611880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06440" y="1005840"/>
            <a:ext cx="27889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06440" y="1005840"/>
            <a:ext cx="91440" cy="786384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989320" y="1124712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4807" y="1033272"/>
            <a:ext cx="2039112" cy="731520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Entrevista com Gestor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Conhecimento técnico · experiência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Competências · fit com a equipe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262372" y="3886200"/>
            <a:ext cx="333756" cy="0"/>
          </a:xfrm>
          <a:prstGeom prst="line">
            <a:avLst/>
          </a:prstGeom>
          <a:ln w="2032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596128" y="1399032"/>
            <a:ext cx="0" cy="2487168"/>
          </a:xfrm>
          <a:prstGeom prst="line">
            <a:avLst/>
          </a:prstGeom>
          <a:ln w="2032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596128" y="1399032"/>
            <a:ext cx="210312" cy="0"/>
          </a:xfrm>
          <a:prstGeom prst="line">
            <a:avLst/>
          </a:prstGeom>
          <a:ln w="2032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200900" y="1792224"/>
            <a:ext cx="0" cy="164591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Diamond 57"/>
          <p:cNvSpPr/>
          <p:nvPr/>
        </p:nvSpPr>
        <p:spPr>
          <a:xfrm>
            <a:off x="6423660" y="1956815"/>
            <a:ext cx="1554480" cy="749808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6305C"/>
                </a:solidFill>
                <a:latin typeface="Calibri"/>
              </a:rPr>
              <a:t>Candidato
Finalista?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0780" y="2313432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0504D"/>
                </a:solidFill>
                <a:latin typeface="Calibri"/>
              </a:rPr>
              <a:t>Não</a:t>
            </a:r>
          </a:p>
        </p:txBody>
      </p:sp>
      <p:cxnSp>
        <p:nvCxnSpPr>
          <p:cNvPr id="60" name="Connector 59"/>
          <p:cNvCxnSpPr/>
          <p:nvPr/>
        </p:nvCxnSpPr>
        <p:spPr>
          <a:xfrm flipH="1">
            <a:off x="5742432" y="2331720"/>
            <a:ext cx="681228" cy="0"/>
          </a:xfrm>
          <a:prstGeom prst="line">
            <a:avLst/>
          </a:prstGeom>
          <a:ln w="17780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742432" y="2331720"/>
            <a:ext cx="0" cy="3685032"/>
          </a:xfrm>
          <a:prstGeom prst="line">
            <a:avLst/>
          </a:prstGeom>
          <a:ln w="17780">
            <a:solidFill>
              <a:srgbClr val="C050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742432" y="6016752"/>
            <a:ext cx="310896" cy="0"/>
          </a:xfrm>
          <a:prstGeom prst="line">
            <a:avLst/>
          </a:prstGeom>
          <a:ln w="17780">
            <a:solidFill>
              <a:srgbClr val="C050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6053328" y="5760720"/>
            <a:ext cx="2542032" cy="512064"/>
          </a:xfrm>
          <a:prstGeom prst="roundRect">
            <a:avLst>
              <a:gd name="adj" fmla="val 16000"/>
            </a:avLst>
          </a:prstGeom>
          <a:solidFill>
            <a:srgbClr val="F4DAD8"/>
          </a:solidFill>
          <a:ln w="12700">
            <a:solidFill>
              <a:srgbClr val="C0504D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C0504D"/>
                </a:solidFill>
                <a:latin typeface="Calibri"/>
              </a:rPr>
              <a:t>Não finalista  →  retorna à nova triagem ou nova publicação da vaga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92340" y="2715768"/>
            <a:ext cx="502920" cy="219456"/>
          </a:xfrm>
          <a:prstGeom prst="rect">
            <a:avLst/>
          </a:prstGeom>
          <a:noFill/>
        </p:spPr>
        <p:txBody>
          <a:bodyPr wrap="square" anchor="ctr" lIns="9144" rIns="9144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2944368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806440" y="2944368"/>
            <a:ext cx="91440" cy="731520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989320" y="3063240"/>
            <a:ext cx="402336" cy="402336"/>
          </a:xfrm>
          <a:prstGeom prst="ellipse">
            <a:avLst/>
          </a:prstGeom>
          <a:solidFill>
            <a:srgbClr val="D99400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7" y="2971800"/>
            <a:ext cx="2039112" cy="676656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Carta Proposta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Aprovação RH Custos  ·  Aprovação Gestor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Formalização da oferta ao candidato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200900" y="2706624"/>
            <a:ext cx="0" cy="237744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5806440" y="3822191"/>
            <a:ext cx="278892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806440" y="3822191"/>
            <a:ext cx="91440" cy="786384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89320" y="3941063"/>
            <a:ext cx="402336" cy="402336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7" y="3849624"/>
            <a:ext cx="2039112" cy="731520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6305C"/>
                </a:solidFill>
                <a:latin typeface="Calibri"/>
              </a:rPr>
              <a:t>Formalização &amp; Assinatura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Envio por e-mail da proposta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Assinatura eletrônica via GOV.BR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Aceite do candidato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200900" y="3675887"/>
            <a:ext cx="0" cy="146304"/>
          </a:xfrm>
          <a:prstGeom prst="line">
            <a:avLst/>
          </a:prstGeom>
          <a:ln w="22860">
            <a:solidFill>
              <a:srgbClr val="2E6C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5806440" y="4773168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EAF5EC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806440" y="4773168"/>
            <a:ext cx="9144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989320" y="48920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64807" y="4800600"/>
            <a:ext cx="2039112" cy="768096"/>
          </a:xfrm>
          <a:prstGeom prst="rect">
            <a:avLst/>
          </a:prstGeom>
          <a:noFill/>
        </p:spPr>
        <p:txBody>
          <a:bodyPr wrap="square" anchor="ctr" lIns="18288" rIns="36576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B5E20"/>
                </a:solidFill>
                <a:latin typeface="Calibri"/>
              </a:rPr>
              <a:t>Seleção Concluída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Onboarding do novo colaborador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Integração à equipe e à empresa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200900" y="4608576"/>
            <a:ext cx="0" cy="164592"/>
          </a:xfrm>
          <a:prstGeom prst="line">
            <a:avLst/>
          </a:prstGeom>
          <a:ln w="2286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8887968" y="1005840"/>
            <a:ext cx="303580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887968" y="1005840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887968" y="1207008"/>
            <a:ext cx="3035808" cy="182880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933688" y="1005840"/>
            <a:ext cx="2944368" cy="36576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SISTEMAS UTILIZADOS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15984" y="1444752"/>
            <a:ext cx="2816352" cy="13350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Portal de Serviços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Teams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Outlook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Pandapé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Microsoft Forms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GOV.BR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Aura Comunica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87968" y="1005840"/>
            <a:ext cx="73152" cy="365760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887968" y="2962656"/>
            <a:ext cx="303580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887968" y="296265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887968" y="3163824"/>
            <a:ext cx="3035808" cy="182880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33688" y="2962656"/>
            <a:ext cx="2944368" cy="36576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PONTOS DE DECISÃO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15984" y="3401568"/>
            <a:ext cx="2816352" cy="12070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Aprovação da Requisição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Aprovação RH Custos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Aprovação Entrevista RH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Aprovação Triagem Patrimonial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Aprovação Gestor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Aceite da Proposta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7968" y="2962656"/>
            <a:ext cx="73152" cy="365760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8887968" y="4791456"/>
            <a:ext cx="303580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8887968" y="4791456"/>
            <a:ext cx="3035808" cy="365760"/>
          </a:xfrm>
          <a:prstGeom prst="roundRect">
            <a:avLst>
              <a:gd name="adj" fmla="val 10000"/>
            </a:avLst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87968" y="4992624"/>
            <a:ext cx="3035808" cy="1828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33688" y="4791456"/>
            <a:ext cx="2944368" cy="365760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POSSÍVEIS ENCERRAMENTOS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15984" y="5230368"/>
            <a:ext cx="2816352" cy="10789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Reprovação na Entrevista RH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Restrição na Triagem Patrimonial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Reprovação pelo Gestor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Recusa da Proposta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20"/>
              </a:spcAft>
            </a:pPr>
            <a:r>
              <a:rPr sz="840" b="0" i="0">
                <a:solidFill>
                  <a:srgbClr val="3A414C"/>
                </a:solidFill>
                <a:latin typeface="Calibri"/>
              </a:rPr>
              <a:t>•  Reabertura da vaga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887968" y="4791456"/>
            <a:ext cx="73152" cy="365760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6455664"/>
            <a:ext cx="822960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3A414C"/>
                </a:solidFill>
                <a:latin typeface="Calibri"/>
              </a:rPr>
              <a:t>Legenda:   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344168" y="6510527"/>
            <a:ext cx="237744" cy="201168"/>
          </a:xfrm>
          <a:prstGeom prst="roundRect">
            <a:avLst>
              <a:gd name="adj" fmla="val 20000"/>
            </a:avLst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27632" y="6455664"/>
            <a:ext cx="128016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Atividade</a:t>
            </a:r>
          </a:p>
        </p:txBody>
      </p:sp>
      <p:sp>
        <p:nvSpPr>
          <p:cNvPr id="101" name="Diamond 100"/>
          <p:cNvSpPr/>
          <p:nvPr/>
        </p:nvSpPr>
        <p:spPr>
          <a:xfrm>
            <a:off x="3127248" y="6510527"/>
            <a:ext cx="237744" cy="201168"/>
          </a:xfrm>
          <a:prstGeom prst="diamond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10712" y="6455664"/>
            <a:ext cx="128016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Decisão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10328" y="6510527"/>
            <a:ext cx="237744" cy="201168"/>
          </a:xfrm>
          <a:prstGeom prst="roundRect">
            <a:avLst>
              <a:gd name="adj" fmla="val 20000"/>
            </a:avLst>
          </a:prstGeom>
          <a:solidFill>
            <a:srgbClr val="F4D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93792" y="6455664"/>
            <a:ext cx="128016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Encerramento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84848" y="6510527"/>
            <a:ext cx="237744" cy="201168"/>
          </a:xfrm>
          <a:prstGeom prst="roundRect">
            <a:avLst>
              <a:gd name="adj" fmla="val 20000"/>
            </a:avLst>
          </a:prstGeom>
          <a:solidFill>
            <a:srgbClr val="EA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068312" y="6455664"/>
            <a:ext cx="128016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B7480"/>
                </a:solidFill>
                <a:latin typeface="Calibri"/>
              </a:rPr>
              <a:t>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0"/>
            <a:ext cx="8686800" cy="7863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Visão Executiva do Processo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0"/>
            <a:ext cx="3657600" cy="7863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5B301"/>
                </a:solidFill>
                <a:latin typeface="Calibri"/>
              </a:rPr>
              <a:t>Linha do tempo — 8 etapas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3008"/>
            <a:ext cx="10469880" cy="54864"/>
          </a:xfrm>
          <a:prstGeom prst="rect">
            <a:avLst/>
          </a:prstGeom>
          <a:solidFill>
            <a:srgbClr val="D7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868680" y="3017520"/>
            <a:ext cx="0" cy="182880"/>
          </a:xfrm>
          <a:prstGeom prst="line">
            <a:avLst/>
          </a:prstGeom>
          <a:ln w="17780">
            <a:solidFill>
              <a:srgbClr val="1F4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9456" y="1810511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9456" y="1810511"/>
            <a:ext cx="1298448" cy="82296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920239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Requisição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Abertura da vaga pelo gestor</a:t>
            </a:r>
          </a:p>
        </p:txBody>
      </p:sp>
      <p:sp>
        <p:nvSpPr>
          <p:cNvPr id="12" name="Oval 11"/>
          <p:cNvSpPr/>
          <p:nvPr/>
        </p:nvSpPr>
        <p:spPr>
          <a:xfrm>
            <a:off x="612647" y="3264408"/>
            <a:ext cx="512064" cy="512064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4377" y="3840480"/>
            <a:ext cx="0" cy="182880"/>
          </a:xfrm>
          <a:prstGeom prst="line">
            <a:avLst/>
          </a:prstGeom>
          <a:ln w="17780">
            <a:solidFill>
              <a:srgbClr val="D99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715153" y="4023360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5153" y="4023360"/>
            <a:ext cx="1298448" cy="82296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70017" y="4133088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Divulgação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Publicação na Pandapé</a:t>
            </a:r>
          </a:p>
        </p:txBody>
      </p:sp>
      <p:sp>
        <p:nvSpPr>
          <p:cNvPr id="17" name="Oval 16"/>
          <p:cNvSpPr/>
          <p:nvPr/>
        </p:nvSpPr>
        <p:spPr>
          <a:xfrm>
            <a:off x="2108345" y="3264408"/>
            <a:ext cx="512064" cy="512064"/>
          </a:xfrm>
          <a:prstGeom prst="ellipse">
            <a:avLst/>
          </a:prstGeom>
          <a:solidFill>
            <a:srgbClr val="D99400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860074" y="3017520"/>
            <a:ext cx="0" cy="182880"/>
          </a:xfrm>
          <a:prstGeom prst="line">
            <a:avLst/>
          </a:prstGeom>
          <a:ln w="17780">
            <a:solidFill>
              <a:srgbClr val="1F4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10850" y="1810511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10850" y="1810511"/>
            <a:ext cx="1298448" cy="82296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5714" y="1920239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Triagem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Análise de currículos</a:t>
            </a:r>
          </a:p>
        </p:txBody>
      </p:sp>
      <p:sp>
        <p:nvSpPr>
          <p:cNvPr id="22" name="Oval 21"/>
          <p:cNvSpPr/>
          <p:nvPr/>
        </p:nvSpPr>
        <p:spPr>
          <a:xfrm>
            <a:off x="3604042" y="3264408"/>
            <a:ext cx="512064" cy="512064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55771" y="3840480"/>
            <a:ext cx="0" cy="182880"/>
          </a:xfrm>
          <a:prstGeom prst="line">
            <a:avLst/>
          </a:prstGeom>
          <a:ln w="17780">
            <a:solidFill>
              <a:srgbClr val="D99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706547" y="4023360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6547" y="4023360"/>
            <a:ext cx="1298448" cy="82296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61411" y="4133088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Entrevistas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RH e gestor</a:t>
            </a:r>
          </a:p>
        </p:txBody>
      </p:sp>
      <p:sp>
        <p:nvSpPr>
          <p:cNvPr id="27" name="Oval 26"/>
          <p:cNvSpPr/>
          <p:nvPr/>
        </p:nvSpPr>
        <p:spPr>
          <a:xfrm>
            <a:off x="5099739" y="3264408"/>
            <a:ext cx="512064" cy="512064"/>
          </a:xfrm>
          <a:prstGeom prst="ellipse">
            <a:avLst/>
          </a:prstGeom>
          <a:solidFill>
            <a:srgbClr val="D99400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6851468" y="3017520"/>
            <a:ext cx="0" cy="182880"/>
          </a:xfrm>
          <a:prstGeom prst="line">
            <a:avLst/>
          </a:prstGeom>
          <a:ln w="17780">
            <a:solidFill>
              <a:srgbClr val="1F4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02244" y="1810511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2244" y="1810511"/>
            <a:ext cx="1298448" cy="82296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7108" y="1920239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Aprovação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Decisões e validações</a:t>
            </a:r>
          </a:p>
        </p:txBody>
      </p:sp>
      <p:sp>
        <p:nvSpPr>
          <p:cNvPr id="32" name="Oval 31"/>
          <p:cNvSpPr/>
          <p:nvPr/>
        </p:nvSpPr>
        <p:spPr>
          <a:xfrm>
            <a:off x="6595436" y="3264408"/>
            <a:ext cx="512064" cy="512064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47165" y="3840480"/>
            <a:ext cx="0" cy="182880"/>
          </a:xfrm>
          <a:prstGeom prst="line">
            <a:avLst/>
          </a:prstGeom>
          <a:ln w="17780">
            <a:solidFill>
              <a:srgbClr val="D99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697941" y="4023360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697941" y="4023360"/>
            <a:ext cx="1298448" cy="82296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52805" y="4133088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Proposta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Carta e negociação</a:t>
            </a:r>
          </a:p>
        </p:txBody>
      </p:sp>
      <p:sp>
        <p:nvSpPr>
          <p:cNvPr id="37" name="Oval 36"/>
          <p:cNvSpPr/>
          <p:nvPr/>
        </p:nvSpPr>
        <p:spPr>
          <a:xfrm>
            <a:off x="8091133" y="3264408"/>
            <a:ext cx="512064" cy="512064"/>
          </a:xfrm>
          <a:prstGeom prst="ellipse">
            <a:avLst/>
          </a:prstGeom>
          <a:solidFill>
            <a:srgbClr val="D99400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842862" y="3017520"/>
            <a:ext cx="0" cy="182880"/>
          </a:xfrm>
          <a:prstGeom prst="line">
            <a:avLst/>
          </a:prstGeom>
          <a:ln w="17780">
            <a:solidFill>
              <a:srgbClr val="1F4E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193638" y="1810511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93638" y="1810511"/>
            <a:ext cx="1298448" cy="82296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8502" y="1920239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Admissão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Assinatura via GOV.BR</a:t>
            </a:r>
          </a:p>
        </p:txBody>
      </p:sp>
      <p:sp>
        <p:nvSpPr>
          <p:cNvPr id="42" name="Oval 41"/>
          <p:cNvSpPr/>
          <p:nvPr/>
        </p:nvSpPr>
        <p:spPr>
          <a:xfrm>
            <a:off x="9586830" y="3264408"/>
            <a:ext cx="512064" cy="512064"/>
          </a:xfrm>
          <a:prstGeom prst="ellipse">
            <a:avLst/>
          </a:prstGeom>
          <a:solidFill>
            <a:srgbClr val="1F4E9B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338560" y="3840480"/>
            <a:ext cx="0" cy="182880"/>
          </a:xfrm>
          <a:prstGeom prst="line">
            <a:avLst/>
          </a:prstGeom>
          <a:ln w="17780">
            <a:solidFill>
              <a:srgbClr val="D99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689336" y="4023360"/>
            <a:ext cx="1298448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DCE4"/>
            </a:solidFill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9336" y="4023360"/>
            <a:ext cx="1298448" cy="82296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133088"/>
            <a:ext cx="1188719" cy="1060704"/>
          </a:xfrm>
          <a:prstGeom prst="rect">
            <a:avLst/>
          </a:prstGeom>
          <a:noFill/>
        </p:spPr>
        <p:txBody>
          <a:bodyPr wrap="square" anchor="t" lIns="54864" rIns="54864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305C"/>
                </a:solidFill>
                <a:latin typeface="Calibri"/>
              </a:rPr>
              <a:t>Onboarding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30" b="0" i="0">
                <a:solidFill>
                  <a:srgbClr val="6B7480"/>
                </a:solidFill>
                <a:latin typeface="Calibri"/>
              </a:rPr>
              <a:t>Integração do colaborador</a:t>
            </a:r>
          </a:p>
        </p:txBody>
      </p:sp>
      <p:sp>
        <p:nvSpPr>
          <p:cNvPr id="47" name="Oval 46"/>
          <p:cNvSpPr/>
          <p:nvPr/>
        </p:nvSpPr>
        <p:spPr>
          <a:xfrm>
            <a:off x="11082528" y="3264408"/>
            <a:ext cx="512064" cy="512064"/>
          </a:xfrm>
          <a:prstGeom prst="ellipse">
            <a:avLst/>
          </a:prstGeom>
          <a:solidFill>
            <a:srgbClr val="D99400"/>
          </a:solidFill>
          <a:ln>
            <a:noFill/>
          </a:ln>
          <a:effectLst>
            <a:outerShdw blurRad="36576" dist="27432" dir="5400000" rotWithShape="0">
              <a:srgbClr val="1B2A44">
                <a:alpha val="18333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3507" y="5806440"/>
            <a:ext cx="2606040" cy="749808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3507" y="5806440"/>
            <a:ext cx="91440" cy="749808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8099" y="5806440"/>
            <a:ext cx="77724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1F4E9B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6195" y="5806440"/>
            <a:ext cx="16002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3A414C"/>
                </a:solidFill>
                <a:latin typeface="Calibri"/>
              </a:rPr>
              <a:t>etapas principais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13054" y="5806440"/>
            <a:ext cx="2606040" cy="749808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13054" y="5806440"/>
            <a:ext cx="91440" cy="749808"/>
          </a:xfrm>
          <a:prstGeom prst="rect">
            <a:avLst/>
          </a:prstGeom>
          <a:solidFill>
            <a:srgbClr val="D99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7646" y="5806440"/>
            <a:ext cx="77724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D99400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5742" y="5806440"/>
            <a:ext cx="16002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3A414C"/>
                </a:solidFill>
                <a:latin typeface="Calibri"/>
              </a:rPr>
              <a:t>pontos de decisão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72601" y="5806440"/>
            <a:ext cx="2606040" cy="749808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72601" y="5806440"/>
            <a:ext cx="91440" cy="749808"/>
          </a:xfrm>
          <a:prstGeom prst="rect">
            <a:avLst/>
          </a:prstGeom>
          <a:solidFill>
            <a:srgbClr val="1F4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37193" y="5806440"/>
            <a:ext cx="77724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1F4E9B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05289" y="5806440"/>
            <a:ext cx="16002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3A414C"/>
                </a:solidFill>
                <a:latin typeface="Calibri"/>
              </a:rPr>
              <a:t>sistemas integrados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32148" y="5806440"/>
            <a:ext cx="2606040" cy="749808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>
            <a:noFill/>
          </a:ln>
          <a:effectLst>
            <a:outerShdw blurRad="64008" dist="41148" dir="5400000" rotWithShape="0">
              <a:srgbClr val="1B2A4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232148" y="5806440"/>
            <a:ext cx="91440" cy="7498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396740" y="5806440"/>
            <a:ext cx="77724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C0504D"/>
                </a:solidFill>
                <a:latin typeface="Calibr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64836" y="5806440"/>
            <a:ext cx="1600200" cy="7498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3A414C"/>
                </a:solidFill>
                <a:latin typeface="Calibri"/>
              </a:rPr>
              <a:t>possíveis encerramentos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 i="1">
                <a:solidFill>
                  <a:srgbClr val="6B7480"/>
                </a:solidFill>
                <a:latin typeface="Calibri"/>
              </a:rPr>
              <a:t>Do pedido à integração — um fluxo estruturado, auditável e orientado a decisões.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