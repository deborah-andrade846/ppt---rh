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E1F5D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0" y="0"/>
            <a:ext cx="109728" cy="6858000"/>
          </a:xfrm>
          <a:prstGeom prst="rect">
            <a:avLst/>
          </a:prstGeom>
          <a:solidFill>
            <a:srgbClr val="E45D4A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0" y="-1463040"/>
            <a:ext cx="2743200" cy="2743200"/>
          </a:xfrm>
          <a:prstGeom prst="ellipse">
            <a:avLst/>
          </a:prstGeom>
          <a:solidFill>
            <a:srgbClr val="0D6665">
              <a:alpha val="5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1097280" y="5394960"/>
            <a:ext cx="2377440" cy="2377440"/>
          </a:xfrm>
          <a:prstGeom prst="ellipse">
            <a:avLst/>
          </a:prstGeom>
          <a:solidFill>
            <a:srgbClr val="C0402F">
              <a:alpha val="45000"/>
            </a:srgbClr>
          </a:solidFill>
          <a:ln/>
        </p:spPr>
      </p:sp>
      <p:pic>
        <p:nvPicPr>
          <p:cNvPr id="6" name="Image 0" descr="/home/user/PPT---RH/rh/mandala_whe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783080"/>
            <a:ext cx="4023360" cy="4023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4572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E4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HUMANOS</a:t>
            </a:r>
            <a:endParaRPr lang="en-US" sz="1200" dirty="0"/>
          </a:p>
        </p:txBody>
      </p:sp>
      <p:pic>
        <p:nvPicPr>
          <p:cNvPr id="8" name="Image 1" descr="/home/user/PPT---RH/rh/aura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943600"/>
            <a:ext cx="1188720" cy="6949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6400" y="2011680"/>
            <a:ext cx="6309360" cy="1737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do Processo de</a:t>
            </a:r>
            <a:endParaRPr lang="en-US" sz="33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E4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Recrutamento e Seleção</a:t>
            </a:r>
            <a:endParaRPr lang="en-US" sz="3300" dirty="0"/>
          </a:p>
        </p:txBody>
      </p:sp>
      <p:sp>
        <p:nvSpPr>
          <p:cNvPr id="10" name="Shape 6"/>
          <p:cNvSpPr/>
          <p:nvPr/>
        </p:nvSpPr>
        <p:spPr>
          <a:xfrm>
            <a:off x="5532120" y="3858768"/>
            <a:ext cx="1554480" cy="54864"/>
          </a:xfrm>
          <a:prstGeom prst="rect">
            <a:avLst/>
          </a:prstGeom>
          <a:solidFill>
            <a:srgbClr val="E45D4A"/>
          </a:solidFill>
          <a:ln/>
        </p:spPr>
      </p:sp>
      <p:sp>
        <p:nvSpPr>
          <p:cNvPr id="11" name="Text 7"/>
          <p:cNvSpPr/>
          <p:nvPr/>
        </p:nvSpPr>
        <p:spPr>
          <a:xfrm>
            <a:off x="5486400" y="4041648"/>
            <a:ext cx="6126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Etapas, aprovações, sistemas utilizados e pontos de decisão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5486400" y="6126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executiva  ·  Processo de R&amp;S</a:t>
            </a:r>
            <a:endParaRPr lang="en-US" sz="1000" dirty="0"/>
          </a:p>
        </p:txBody>
      </p:sp>
      <p:pic>
        <p:nvPicPr>
          <p:cNvPr id="13" name="Image 2" descr="/home/user/PPT---RH/rh/aura_logo_tri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0" y="5806440"/>
            <a:ext cx="1234440" cy="72237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2234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86384"/>
            <a:ext cx="12191695" cy="54864"/>
          </a:xfrm>
          <a:prstGeom prst="rect">
            <a:avLst/>
          </a:prstGeom>
          <a:solidFill>
            <a:srgbClr val="E45D4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78638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Completo do Processo de Recrutamento e Seleção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0" y="0"/>
            <a:ext cx="21488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4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Fluxograma executivo</a:t>
            </a:r>
            <a:endParaRPr lang="en-US" sz="1100" dirty="0"/>
          </a:p>
        </p:txBody>
      </p:sp>
      <p:pic>
        <p:nvPicPr>
          <p:cNvPr id="6" name="Image 0" descr="/home/user/PPT---RH/rh/aura_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7080" y="155448"/>
            <a:ext cx="813816" cy="47548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1005840"/>
            <a:ext cx="278892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31750" dir="5400000">
              <a:srgbClr val="1B2A44">
                <a:alpha val="3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11480" y="1005840"/>
            <a:ext cx="91440" cy="822960"/>
          </a:xfrm>
          <a:prstGeom prst="rect">
            <a:avLst/>
          </a:prstGeom>
          <a:solidFill>
            <a:srgbClr val="22346B"/>
          </a:solidFill>
          <a:ln/>
        </p:spPr>
      </p:sp>
      <p:sp>
        <p:nvSpPr>
          <p:cNvPr id="9" name="Shape 6"/>
          <p:cNvSpPr/>
          <p:nvPr/>
        </p:nvSpPr>
        <p:spPr>
          <a:xfrm>
            <a:off x="594360" y="1124712"/>
            <a:ext cx="402336" cy="402336"/>
          </a:xfrm>
          <a:prstGeom prst="ellipse">
            <a:avLst/>
          </a:prstGeom>
          <a:solidFill>
            <a:srgbClr val="22346B"/>
          </a:solidFill>
          <a:ln/>
          <a:effectLst>
            <a:outerShdw sx="100000" sy="100000" kx="0" ky="0" algn="bl" rotWithShape="0" blurRad="63500" dist="31750" dir="5400000">
              <a:srgbClr val="1B2A44">
                <a:alpha val="3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94360" y="11247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69848" y="1033272"/>
            <a:ext cx="2039112" cy="76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Requisição de Vaga</a:t>
            </a:r>
            <a:endParaRPr lang="en-US" sz="11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Origem: Portal de Serviços (HUB RH)</a:t>
            </a:r>
            <a:endParaRPr lang="en-US" sz="11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solicita abertura da vaga</a:t>
            </a:r>
            <a:endParaRPr lang="en-US" sz="11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 · Centro de custo · Escopo · Contratação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11480" y="1993392"/>
            <a:ext cx="278892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31750" dir="5400000">
              <a:srgbClr val="1B2A44">
                <a:alpha val="3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11480" y="1993392"/>
            <a:ext cx="91440" cy="786384"/>
          </a:xfrm>
          <a:prstGeom prst="rect">
            <a:avLst/>
          </a:prstGeom>
          <a:solidFill>
            <a:srgbClr val="22346B"/>
          </a:solidFill>
          <a:ln/>
        </p:spPr>
      </p:sp>
      <p:sp>
        <p:nvSpPr>
          <p:cNvPr id="14" name="Shape 11"/>
          <p:cNvSpPr/>
          <p:nvPr/>
        </p:nvSpPr>
        <p:spPr>
          <a:xfrm>
            <a:off x="594360" y="2112264"/>
            <a:ext cx="402336" cy="402336"/>
          </a:xfrm>
          <a:prstGeom prst="ellipse">
            <a:avLst/>
          </a:prstGeom>
          <a:solidFill>
            <a:srgbClr val="22346B"/>
          </a:solidFill>
          <a:ln/>
          <a:effectLst>
            <a:outerShdw sx="100000" sy="100000" kx="0" ky="0" algn="bl" rotWithShape="0" blurRad="63500" dist="31750" dir="5400000">
              <a:srgbClr val="1B2A44">
                <a:alpha val="3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94360" y="21122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069848" y="2020824"/>
            <a:ext cx="2039112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Publicação da Vaga</a:t>
            </a:r>
            <a:endParaRPr lang="en-US" sz="11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Publicação na Pandapé</a:t>
            </a:r>
            <a:endParaRPr lang="en-US" sz="11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Quintas-feiras · permanência de 7 dias</a:t>
            </a:r>
            <a:endParaRPr lang="en-US" sz="11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de Vagas · Aura Comunica (sexta)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11480" y="2944368"/>
            <a:ext cx="278892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31750" dir="5400000">
              <a:srgbClr val="1B2A44">
                <a:alpha val="3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11480" y="2944368"/>
            <a:ext cx="91440" cy="731520"/>
          </a:xfrm>
          <a:prstGeom prst="rect">
            <a:avLst/>
          </a:prstGeom>
          <a:solidFill>
            <a:srgbClr val="22346B"/>
          </a:solidFill>
          <a:ln/>
        </p:spPr>
      </p:sp>
      <p:sp>
        <p:nvSpPr>
          <p:cNvPr id="19" name="Shape 16"/>
          <p:cNvSpPr/>
          <p:nvPr/>
        </p:nvSpPr>
        <p:spPr>
          <a:xfrm>
            <a:off x="594360" y="3063240"/>
            <a:ext cx="402336" cy="402336"/>
          </a:xfrm>
          <a:prstGeom prst="ellipse">
            <a:avLst/>
          </a:prstGeom>
          <a:solidFill>
            <a:srgbClr val="22346B"/>
          </a:solidFill>
          <a:ln/>
          <a:effectLst>
            <a:outerShdw sx="100000" sy="100000" kx="0" ky="0" algn="bl" rotWithShape="0" blurRad="63500" dist="31750" dir="5400000">
              <a:srgbClr val="1B2A44">
                <a:alpha val="3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94360" y="3063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069848" y="2971800"/>
            <a:ext cx="203911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Triagem de Currículos</a:t>
            </a:r>
            <a:endParaRPr lang="en-US" sz="11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técnica dos currículos</a:t>
            </a:r>
            <a:endParaRPr lang="en-US" sz="11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Compatibilidade com os requisitos</a:t>
            </a:r>
            <a:endParaRPr lang="en-US" sz="11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Seleção de candidatos aderentes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411480" y="3840480"/>
            <a:ext cx="278892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31750" dir="5400000">
              <a:srgbClr val="1B2A44">
                <a:alpha val="3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11480" y="3840480"/>
            <a:ext cx="91440" cy="786384"/>
          </a:xfrm>
          <a:prstGeom prst="rect">
            <a:avLst/>
          </a:prstGeom>
          <a:solidFill>
            <a:srgbClr val="22346B"/>
          </a:solidFill>
          <a:ln/>
        </p:spPr>
      </p:sp>
      <p:sp>
        <p:nvSpPr>
          <p:cNvPr id="24" name="Shape 21"/>
          <p:cNvSpPr/>
          <p:nvPr/>
        </p:nvSpPr>
        <p:spPr>
          <a:xfrm>
            <a:off x="594360" y="3959352"/>
            <a:ext cx="402336" cy="402336"/>
          </a:xfrm>
          <a:prstGeom prst="ellipse">
            <a:avLst/>
          </a:prstGeom>
          <a:solidFill>
            <a:srgbClr val="22346B"/>
          </a:solidFill>
          <a:ln/>
          <a:effectLst>
            <a:outerShdw sx="100000" sy="100000" kx="0" ky="0" algn="bl" rotWithShape="0" blurRad="63500" dist="31750" dir="5400000">
              <a:srgbClr val="1B2A44">
                <a:alpha val="30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594360" y="3959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1069848" y="3867912"/>
            <a:ext cx="2039112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 RH</a:t>
            </a:r>
            <a:endParaRPr lang="en-US" sz="11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comportamental · histórico</a:t>
            </a:r>
            <a:endParaRPr lang="en-US" sz="11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Motivação · alinhamento cultural</a:t>
            </a:r>
            <a:endParaRPr lang="en-US" sz="11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Pretensão salarial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1805940" y="1828800"/>
            <a:ext cx="0" cy="164592"/>
          </a:xfrm>
          <a:prstGeom prst="line">
            <a:avLst/>
          </a:prstGeom>
          <a:noFill/>
          <a:ln w="22860">
            <a:solidFill>
              <a:srgbClr val="34528A"/>
            </a:solidFill>
            <a:prstDash val="solid"/>
            <a:headEnd type="none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1805940" y="2779776"/>
            <a:ext cx="0" cy="164592"/>
          </a:xfrm>
          <a:prstGeom prst="line">
            <a:avLst/>
          </a:prstGeom>
          <a:noFill/>
          <a:ln w="22860">
            <a:solidFill>
              <a:srgbClr val="34528A"/>
            </a:solidFill>
            <a:prstDash val="solid"/>
            <a:headEnd type="none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1805940" y="3675888"/>
            <a:ext cx="0" cy="164592"/>
          </a:xfrm>
          <a:prstGeom prst="line">
            <a:avLst/>
          </a:prstGeom>
          <a:noFill/>
          <a:ln w="22860">
            <a:solidFill>
              <a:srgbClr val="34528A"/>
            </a:solidFill>
            <a:prstDash val="solid"/>
            <a:headEnd type="none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1805940" y="4626864"/>
            <a:ext cx="0" cy="64008"/>
          </a:xfrm>
          <a:prstGeom prst="line">
            <a:avLst/>
          </a:prstGeom>
          <a:noFill/>
          <a:ln w="22860">
            <a:solidFill>
              <a:srgbClr val="34528A"/>
            </a:solidFill>
            <a:prstDash val="solid"/>
            <a:headEnd type="none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1097280" y="4686300"/>
            <a:ext cx="1417320" cy="777240"/>
          </a:xfrm>
          <a:prstGeom prst="diamond">
            <a:avLst/>
          </a:prstGeom>
          <a:solidFill>
            <a:srgbClr val="E45D4A"/>
          </a:solidFill>
          <a:ln w="12700">
            <a:solidFill>
              <a:srgbClr val="C0402F"/>
            </a:solidFill>
            <a:prstDash val="solid"/>
          </a:ln>
          <a:effectLst>
            <a:outerShdw sx="100000" sy="100000" kx="0" ky="0" algn="bl" rotWithShape="0" blurRad="63500" dist="31750" dir="5400000">
              <a:srgbClr val="1B2A44">
                <a:alpha val="30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1097280" y="46863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Aprovado?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393192" y="478231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 flipH="1">
            <a:off x="640080" y="5074920"/>
            <a:ext cx="452628" cy="0"/>
          </a:xfrm>
          <a:prstGeom prst="line">
            <a:avLst/>
          </a:prstGeom>
          <a:noFill/>
          <a:ln w="19050">
            <a:solidFill>
              <a:srgbClr val="B23A2E"/>
            </a:solidFill>
            <a:prstDash val="solid"/>
            <a:headEnd type="none"/>
            <a:tailEnd type="triangle"/>
          </a:ln>
        </p:spPr>
      </p:sp>
      <p:sp>
        <p:nvSpPr>
          <p:cNvPr id="35" name="Shape 32"/>
          <p:cNvSpPr/>
          <p:nvPr/>
        </p:nvSpPr>
        <p:spPr>
          <a:xfrm>
            <a:off x="91440" y="5349240"/>
            <a:ext cx="1417320" cy="384048"/>
          </a:xfrm>
          <a:prstGeom prst="roundRect">
            <a:avLst>
              <a:gd name="adj" fmla="val 28571"/>
            </a:avLst>
          </a:prstGeom>
          <a:solidFill>
            <a:srgbClr val="F3DBD7"/>
          </a:solidFill>
          <a:ln w="12700">
            <a:solidFill>
              <a:srgbClr val="B23A2E"/>
            </a:solidFill>
            <a:prstDash val="solid"/>
          </a:ln>
          <a:effectLst>
            <a:outerShdw sx="100000" sy="100000" kx="0" ky="0" algn="bl" rotWithShape="0" blurRad="63500" dist="31750" dir="5400000">
              <a:srgbClr val="1B2A44">
                <a:alpha val="30000"/>
              </a:srgbClr>
            </a:outerShdw>
          </a:effectLst>
        </p:spPr>
      </p:sp>
      <p:sp>
        <p:nvSpPr>
          <p:cNvPr id="36" name="Text 33"/>
          <p:cNvSpPr/>
          <p:nvPr/>
        </p:nvSpPr>
        <p:spPr>
          <a:xfrm>
            <a:off x="91440" y="5349240"/>
            <a:ext cx="1417320" cy="38404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Reprovado · processo encerrado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640080" y="5093208"/>
            <a:ext cx="155448" cy="256032"/>
          </a:xfrm>
          <a:prstGeom prst="line">
            <a:avLst/>
          </a:prstGeom>
          <a:noFill/>
          <a:ln w="17780">
            <a:solidFill>
              <a:srgbClr val="B23A2E"/>
            </a:solidFill>
            <a:prstDash val="solid"/>
            <a:headEnd type="none"/>
            <a:tailEnd type="none"/>
          </a:ln>
        </p:spPr>
      </p:sp>
      <p:sp>
        <p:nvSpPr>
          <p:cNvPr id="38" name="Text 35"/>
          <p:cNvSpPr/>
          <p:nvPr/>
        </p:nvSpPr>
        <p:spPr>
          <a:xfrm>
            <a:off x="2189988" y="50566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3611880" y="1005840"/>
            <a:ext cx="1874520" cy="402336"/>
          </a:xfrm>
          <a:prstGeom prst="roundRect">
            <a:avLst>
              <a:gd name="adj" fmla="val 22727"/>
            </a:avLst>
          </a:prstGeom>
          <a:solidFill>
            <a:srgbClr val="1E8A80"/>
          </a:solidFill>
          <a:ln/>
          <a:effectLst>
            <a:outerShdw sx="100000" sy="100000" kx="0" ky="0" algn="bl" rotWithShape="0" blurRad="63500" dist="31750" dir="5400000">
              <a:srgbClr val="1B2A44">
                <a:alpha val="30000"/>
              </a:srgbClr>
            </a:outerShdw>
          </a:effectLst>
        </p:spPr>
      </p:sp>
      <p:sp>
        <p:nvSpPr>
          <p:cNvPr id="40" name="Text 37"/>
          <p:cNvSpPr/>
          <p:nvPr/>
        </p:nvSpPr>
        <p:spPr>
          <a:xfrm>
            <a:off x="3611880" y="1005840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Triagem Patrimonial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3611880" y="1426464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paralelo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3611880" y="1755648"/>
            <a:ext cx="187452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7DCE4"/>
            </a:solidFill>
            <a:prstDash val="solid"/>
          </a:ln>
          <a:effectLst>
            <a:outerShdw sx="100000" sy="100000" kx="0" ky="0" algn="bl" rotWithShape="0" blurRad="63500" dist="31750" dir="5400000">
              <a:srgbClr val="1B2A44">
                <a:alpha val="30000"/>
              </a:srgbClr>
            </a:outerShdw>
          </a:effectLst>
        </p:spPr>
      </p:sp>
      <p:sp>
        <p:nvSpPr>
          <p:cNvPr id="43" name="Text 40"/>
          <p:cNvSpPr/>
          <p:nvPr/>
        </p:nvSpPr>
        <p:spPr>
          <a:xfrm>
            <a:off x="3611880" y="1755648"/>
            <a:ext cx="1874520" cy="42062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Envio de Forms</a:t>
            </a:r>
            <a:endParaRPr lang="en-US" sz="870" dirty="0"/>
          </a:p>
        </p:txBody>
      </p:sp>
      <p:sp>
        <p:nvSpPr>
          <p:cNvPr id="44" name="Shape 41"/>
          <p:cNvSpPr/>
          <p:nvPr/>
        </p:nvSpPr>
        <p:spPr>
          <a:xfrm>
            <a:off x="3611880" y="2340864"/>
            <a:ext cx="187452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7DCE4"/>
            </a:solidFill>
            <a:prstDash val="solid"/>
          </a:ln>
          <a:effectLst>
            <a:outerShdw sx="100000" sy="100000" kx="0" ky="0" algn="bl" rotWithShape="0" blurRad="63500" dist="31750" dir="5400000">
              <a:srgbClr val="1B2A44">
                <a:alpha val="30000"/>
              </a:srgbClr>
            </a:outerShdw>
          </a:effectLst>
        </p:spPr>
      </p:sp>
      <p:sp>
        <p:nvSpPr>
          <p:cNvPr id="45" name="Text 42"/>
          <p:cNvSpPr/>
          <p:nvPr/>
        </p:nvSpPr>
        <p:spPr>
          <a:xfrm>
            <a:off x="3611880" y="2340864"/>
            <a:ext cx="1874520" cy="42062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Preenchimento pelo candidato</a:t>
            </a:r>
            <a:endParaRPr lang="en-US" sz="870" dirty="0"/>
          </a:p>
        </p:txBody>
      </p:sp>
      <p:sp>
        <p:nvSpPr>
          <p:cNvPr id="46" name="Shape 43"/>
          <p:cNvSpPr/>
          <p:nvPr/>
        </p:nvSpPr>
        <p:spPr>
          <a:xfrm>
            <a:off x="3611880" y="2926080"/>
            <a:ext cx="187452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7DCE4"/>
            </a:solidFill>
            <a:prstDash val="solid"/>
          </a:ln>
          <a:effectLst>
            <a:outerShdw sx="100000" sy="100000" kx="0" ky="0" algn="bl" rotWithShape="0" blurRad="63500" dist="31750" dir="5400000">
              <a:srgbClr val="1B2A44">
                <a:alpha val="30000"/>
              </a:srgbClr>
            </a:outerShdw>
          </a:effectLst>
        </p:spPr>
      </p:sp>
      <p:sp>
        <p:nvSpPr>
          <p:cNvPr id="47" name="Text 44"/>
          <p:cNvSpPr/>
          <p:nvPr/>
        </p:nvSpPr>
        <p:spPr>
          <a:xfrm>
            <a:off x="3611880" y="2926080"/>
            <a:ext cx="1874520" cy="42062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patrimonial</a:t>
            </a:r>
            <a:endParaRPr lang="en-US" sz="870" dirty="0"/>
          </a:p>
        </p:txBody>
      </p:sp>
      <p:sp>
        <p:nvSpPr>
          <p:cNvPr id="48" name="Shape 45"/>
          <p:cNvSpPr/>
          <p:nvPr/>
        </p:nvSpPr>
        <p:spPr>
          <a:xfrm>
            <a:off x="4549140" y="1645920"/>
            <a:ext cx="0" cy="109728"/>
          </a:xfrm>
          <a:prstGeom prst="line">
            <a:avLst/>
          </a:prstGeom>
          <a:noFill/>
          <a:ln w="20320">
            <a:solidFill>
              <a:srgbClr val="1E8A80"/>
            </a:solidFill>
            <a:prstDash val="solid"/>
            <a:headEnd type="none"/>
            <a:tailEnd type="triangle"/>
          </a:ln>
        </p:spPr>
      </p:sp>
      <p:sp>
        <p:nvSpPr>
          <p:cNvPr id="49" name="Shape 46"/>
          <p:cNvSpPr/>
          <p:nvPr/>
        </p:nvSpPr>
        <p:spPr>
          <a:xfrm>
            <a:off x="4549140" y="2176272"/>
            <a:ext cx="0" cy="164592"/>
          </a:xfrm>
          <a:prstGeom prst="line">
            <a:avLst/>
          </a:prstGeom>
          <a:noFill/>
          <a:ln w="20320">
            <a:solidFill>
              <a:srgbClr val="1E8A80"/>
            </a:solidFill>
            <a:prstDash val="solid"/>
            <a:headEnd type="none"/>
            <a:tailEnd type="triangle"/>
          </a:ln>
        </p:spPr>
      </p:sp>
      <p:sp>
        <p:nvSpPr>
          <p:cNvPr id="50" name="Shape 47"/>
          <p:cNvSpPr/>
          <p:nvPr/>
        </p:nvSpPr>
        <p:spPr>
          <a:xfrm>
            <a:off x="4549140" y="2761488"/>
            <a:ext cx="0" cy="164592"/>
          </a:xfrm>
          <a:prstGeom prst="line">
            <a:avLst/>
          </a:prstGeom>
          <a:noFill/>
          <a:ln w="20320">
            <a:solidFill>
              <a:srgbClr val="1E8A80"/>
            </a:solidFill>
            <a:prstDash val="solid"/>
            <a:headEnd type="none"/>
            <a:tailEnd type="triangle"/>
          </a:ln>
        </p:spPr>
      </p:sp>
      <p:sp>
        <p:nvSpPr>
          <p:cNvPr id="51" name="Shape 48"/>
          <p:cNvSpPr/>
          <p:nvPr/>
        </p:nvSpPr>
        <p:spPr>
          <a:xfrm>
            <a:off x="4549140" y="3346704"/>
            <a:ext cx="0" cy="155448"/>
          </a:xfrm>
          <a:prstGeom prst="line">
            <a:avLst/>
          </a:prstGeom>
          <a:noFill/>
          <a:ln w="20320">
            <a:solidFill>
              <a:srgbClr val="1E8A80"/>
            </a:solidFill>
            <a:prstDash val="solid"/>
            <a:headEnd type="none"/>
            <a:tailEnd type="triangle"/>
          </a:ln>
        </p:spPr>
      </p:sp>
      <p:sp>
        <p:nvSpPr>
          <p:cNvPr id="52" name="Shape 49"/>
          <p:cNvSpPr/>
          <p:nvPr/>
        </p:nvSpPr>
        <p:spPr>
          <a:xfrm>
            <a:off x="3840480" y="3511296"/>
            <a:ext cx="1417320" cy="749808"/>
          </a:xfrm>
          <a:prstGeom prst="diamond">
            <a:avLst/>
          </a:prstGeom>
          <a:solidFill>
            <a:srgbClr val="D8ECE9"/>
          </a:solidFill>
          <a:ln w="12700">
            <a:solidFill>
              <a:srgbClr val="1E8A80"/>
            </a:solidFill>
            <a:prstDash val="solid"/>
          </a:ln>
          <a:effectLst>
            <a:outerShdw sx="100000" sy="100000" kx="0" ky="0" algn="bl" rotWithShape="0" blurRad="63500" dist="31750" dir="5400000">
              <a:srgbClr val="1B2A44">
                <a:alpha val="30000"/>
              </a:srgbClr>
            </a:outerShdw>
          </a:effectLst>
        </p:spPr>
      </p:sp>
      <p:sp>
        <p:nvSpPr>
          <p:cNvPr id="53" name="Text 50"/>
          <p:cNvSpPr/>
          <p:nvPr/>
        </p:nvSpPr>
        <p:spPr>
          <a:xfrm>
            <a:off x="3840480" y="3511296"/>
            <a:ext cx="1417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66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Aprovado?</a:t>
            </a:r>
            <a:endParaRPr lang="en-US" sz="900" dirty="0"/>
          </a:p>
        </p:txBody>
      </p:sp>
      <p:sp>
        <p:nvSpPr>
          <p:cNvPr id="54" name="Text 51"/>
          <p:cNvSpPr/>
          <p:nvPr/>
        </p:nvSpPr>
        <p:spPr>
          <a:xfrm>
            <a:off x="4091940" y="427024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850" dirty="0"/>
          </a:p>
        </p:txBody>
      </p:sp>
      <p:sp>
        <p:nvSpPr>
          <p:cNvPr id="55" name="Shape 52"/>
          <p:cNvSpPr/>
          <p:nvPr/>
        </p:nvSpPr>
        <p:spPr>
          <a:xfrm>
            <a:off x="4549140" y="4261104"/>
            <a:ext cx="0" cy="192024"/>
          </a:xfrm>
          <a:prstGeom prst="line">
            <a:avLst/>
          </a:prstGeom>
          <a:noFill/>
          <a:ln w="17780">
            <a:solidFill>
              <a:srgbClr val="B23A2E"/>
            </a:solidFill>
            <a:prstDash val="solid"/>
            <a:headEnd type="none"/>
            <a:tailEnd type="triangle"/>
          </a:ln>
        </p:spPr>
      </p:sp>
      <p:sp>
        <p:nvSpPr>
          <p:cNvPr id="56" name="Shape 53"/>
          <p:cNvSpPr/>
          <p:nvPr/>
        </p:nvSpPr>
        <p:spPr>
          <a:xfrm>
            <a:off x="3611880" y="4453128"/>
            <a:ext cx="1874520" cy="384048"/>
          </a:xfrm>
          <a:prstGeom prst="roundRect">
            <a:avLst>
              <a:gd name="adj" fmla="val 28571"/>
            </a:avLst>
          </a:prstGeom>
          <a:solidFill>
            <a:srgbClr val="F3DBD7"/>
          </a:solidFill>
          <a:ln w="12700">
            <a:solidFill>
              <a:srgbClr val="B23A2E"/>
            </a:solidFill>
            <a:prstDash val="solid"/>
          </a:ln>
          <a:effectLst>
            <a:outerShdw sx="100000" sy="100000" kx="0" ky="0" algn="bl" rotWithShape="0" blurRad="63500" dist="31750" dir="5400000">
              <a:srgbClr val="1B2A44">
                <a:alpha val="30000"/>
              </a:srgbClr>
            </a:outerShdw>
          </a:effectLst>
        </p:spPr>
      </p:sp>
      <p:sp>
        <p:nvSpPr>
          <p:cNvPr id="57" name="Text 54"/>
          <p:cNvSpPr/>
          <p:nvPr/>
        </p:nvSpPr>
        <p:spPr>
          <a:xfrm>
            <a:off x="3611880" y="4453128"/>
            <a:ext cx="1874520" cy="38404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Restrição · processo encerrado</a:t>
            </a:r>
            <a:endParaRPr lang="en-US" sz="800" dirty="0"/>
          </a:p>
        </p:txBody>
      </p:sp>
      <p:sp>
        <p:nvSpPr>
          <p:cNvPr id="58" name="Shape 55"/>
          <p:cNvSpPr/>
          <p:nvPr/>
        </p:nvSpPr>
        <p:spPr>
          <a:xfrm>
            <a:off x="2519172" y="5074920"/>
            <a:ext cx="882396" cy="0"/>
          </a:xfrm>
          <a:prstGeom prst="line">
            <a:avLst/>
          </a:prstGeom>
          <a:noFill/>
          <a:ln w="20320">
            <a:solidFill>
              <a:srgbClr val="1E8A80"/>
            </a:solidFill>
            <a:prstDash val="solid"/>
            <a:headEnd type="none"/>
            <a:tailEnd type="none"/>
          </a:ln>
        </p:spPr>
      </p:sp>
      <p:sp>
        <p:nvSpPr>
          <p:cNvPr id="59" name="Shape 56"/>
          <p:cNvSpPr/>
          <p:nvPr/>
        </p:nvSpPr>
        <p:spPr>
          <a:xfrm flipV="1">
            <a:off x="3401568" y="1207008"/>
            <a:ext cx="0" cy="3867912"/>
          </a:xfrm>
          <a:prstGeom prst="line">
            <a:avLst/>
          </a:prstGeom>
          <a:noFill/>
          <a:ln w="20320">
            <a:solidFill>
              <a:srgbClr val="1E8A80"/>
            </a:solidFill>
            <a:prstDash val="solid"/>
            <a:headEnd type="none"/>
            <a:tailEnd type="none"/>
          </a:ln>
        </p:spPr>
      </p:sp>
      <p:sp>
        <p:nvSpPr>
          <p:cNvPr id="60" name="Shape 57"/>
          <p:cNvSpPr/>
          <p:nvPr/>
        </p:nvSpPr>
        <p:spPr>
          <a:xfrm>
            <a:off x="3401568" y="1207008"/>
            <a:ext cx="210312" cy="0"/>
          </a:xfrm>
          <a:prstGeom prst="line">
            <a:avLst/>
          </a:prstGeom>
          <a:noFill/>
          <a:ln w="20320">
            <a:solidFill>
              <a:srgbClr val="1E8A80"/>
            </a:solidFill>
            <a:prstDash val="solid"/>
            <a:headEnd type="none"/>
            <a:tailEnd type="triangle"/>
          </a:ln>
        </p:spPr>
      </p:sp>
      <p:sp>
        <p:nvSpPr>
          <p:cNvPr id="61" name="Text 58"/>
          <p:cNvSpPr/>
          <p:nvPr/>
        </p:nvSpPr>
        <p:spPr>
          <a:xfrm>
            <a:off x="5097780" y="361188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850" dirty="0"/>
          </a:p>
        </p:txBody>
      </p:sp>
      <p:sp>
        <p:nvSpPr>
          <p:cNvPr id="62" name="Shape 59"/>
          <p:cNvSpPr/>
          <p:nvPr/>
        </p:nvSpPr>
        <p:spPr>
          <a:xfrm>
            <a:off x="5806440" y="1005840"/>
            <a:ext cx="278892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31750" dir="5400000">
              <a:srgbClr val="1B2A44">
                <a:alpha val="30000"/>
              </a:srgbClr>
            </a:outerShdw>
          </a:effectLst>
        </p:spPr>
      </p:sp>
      <p:sp>
        <p:nvSpPr>
          <p:cNvPr id="63" name="Shape 60"/>
          <p:cNvSpPr/>
          <p:nvPr/>
        </p:nvSpPr>
        <p:spPr>
          <a:xfrm>
            <a:off x="5806440" y="1005840"/>
            <a:ext cx="91440" cy="786384"/>
          </a:xfrm>
          <a:prstGeom prst="rect">
            <a:avLst/>
          </a:prstGeom>
          <a:solidFill>
            <a:srgbClr val="22346B"/>
          </a:solidFill>
          <a:ln/>
        </p:spPr>
      </p:sp>
      <p:sp>
        <p:nvSpPr>
          <p:cNvPr id="64" name="Shape 61"/>
          <p:cNvSpPr/>
          <p:nvPr/>
        </p:nvSpPr>
        <p:spPr>
          <a:xfrm>
            <a:off x="5989320" y="1124712"/>
            <a:ext cx="402336" cy="402336"/>
          </a:xfrm>
          <a:prstGeom prst="ellipse">
            <a:avLst/>
          </a:prstGeom>
          <a:solidFill>
            <a:srgbClr val="22346B"/>
          </a:solidFill>
          <a:ln/>
          <a:effectLst>
            <a:outerShdw sx="100000" sy="100000" kx="0" ky="0" algn="bl" rotWithShape="0" blurRad="63500" dist="31750" dir="5400000">
              <a:srgbClr val="1B2A44">
                <a:alpha val="30000"/>
              </a:srgbClr>
            </a:outerShdw>
          </a:effectLst>
        </p:spPr>
      </p:sp>
      <p:sp>
        <p:nvSpPr>
          <p:cNvPr id="65" name="Text 62"/>
          <p:cNvSpPr/>
          <p:nvPr/>
        </p:nvSpPr>
        <p:spPr>
          <a:xfrm>
            <a:off x="5989320" y="11247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66" name="Text 63"/>
          <p:cNvSpPr/>
          <p:nvPr/>
        </p:nvSpPr>
        <p:spPr>
          <a:xfrm>
            <a:off x="6464808" y="1033272"/>
            <a:ext cx="2039112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 com Gestor</a:t>
            </a:r>
            <a:endParaRPr lang="en-US" sz="11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Conhecimento técnico · experiência</a:t>
            </a:r>
            <a:endParaRPr lang="en-US" sz="11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Competências · fit com a equipe</a:t>
            </a:r>
            <a:endParaRPr lang="en-US" sz="1150" dirty="0"/>
          </a:p>
        </p:txBody>
      </p:sp>
      <p:sp>
        <p:nvSpPr>
          <p:cNvPr id="67" name="Shape 64"/>
          <p:cNvSpPr/>
          <p:nvPr/>
        </p:nvSpPr>
        <p:spPr>
          <a:xfrm>
            <a:off x="5262372" y="3886200"/>
            <a:ext cx="333756" cy="0"/>
          </a:xfrm>
          <a:prstGeom prst="line">
            <a:avLst/>
          </a:prstGeom>
          <a:noFill/>
          <a:ln w="20320">
            <a:solidFill>
              <a:srgbClr val="1E8A80"/>
            </a:solidFill>
            <a:prstDash val="solid"/>
            <a:headEnd type="none"/>
            <a:tailEnd type="none"/>
          </a:ln>
        </p:spPr>
      </p:sp>
      <p:sp>
        <p:nvSpPr>
          <p:cNvPr id="68" name="Shape 65"/>
          <p:cNvSpPr/>
          <p:nvPr/>
        </p:nvSpPr>
        <p:spPr>
          <a:xfrm flipV="1">
            <a:off x="5596128" y="1399032"/>
            <a:ext cx="0" cy="2487168"/>
          </a:xfrm>
          <a:prstGeom prst="line">
            <a:avLst/>
          </a:prstGeom>
          <a:noFill/>
          <a:ln w="20320">
            <a:solidFill>
              <a:srgbClr val="1E8A80"/>
            </a:solidFill>
            <a:prstDash val="solid"/>
            <a:headEnd type="none"/>
            <a:tailEnd type="none"/>
          </a:ln>
        </p:spPr>
      </p:sp>
      <p:sp>
        <p:nvSpPr>
          <p:cNvPr id="69" name="Shape 66"/>
          <p:cNvSpPr/>
          <p:nvPr/>
        </p:nvSpPr>
        <p:spPr>
          <a:xfrm>
            <a:off x="5596128" y="1399032"/>
            <a:ext cx="210312" cy="0"/>
          </a:xfrm>
          <a:prstGeom prst="line">
            <a:avLst/>
          </a:prstGeom>
          <a:noFill/>
          <a:ln w="20320">
            <a:solidFill>
              <a:srgbClr val="1E8A80"/>
            </a:solidFill>
            <a:prstDash val="solid"/>
            <a:headEnd type="none"/>
            <a:tailEnd type="triangle"/>
          </a:ln>
        </p:spPr>
      </p:sp>
      <p:sp>
        <p:nvSpPr>
          <p:cNvPr id="70" name="Shape 67"/>
          <p:cNvSpPr/>
          <p:nvPr/>
        </p:nvSpPr>
        <p:spPr>
          <a:xfrm>
            <a:off x="7200900" y="1792224"/>
            <a:ext cx="0" cy="164592"/>
          </a:xfrm>
          <a:prstGeom prst="line">
            <a:avLst/>
          </a:prstGeom>
          <a:noFill/>
          <a:ln w="22860">
            <a:solidFill>
              <a:srgbClr val="34528A"/>
            </a:solidFill>
            <a:prstDash val="solid"/>
            <a:headEnd type="none"/>
            <a:tailEnd type="triangle"/>
          </a:ln>
        </p:spPr>
      </p:sp>
      <p:sp>
        <p:nvSpPr>
          <p:cNvPr id="71" name="Shape 68"/>
          <p:cNvSpPr/>
          <p:nvPr/>
        </p:nvSpPr>
        <p:spPr>
          <a:xfrm>
            <a:off x="6423660" y="1956816"/>
            <a:ext cx="1554480" cy="749808"/>
          </a:xfrm>
          <a:prstGeom prst="diamond">
            <a:avLst/>
          </a:prstGeom>
          <a:solidFill>
            <a:srgbClr val="E45D4A"/>
          </a:solidFill>
          <a:ln w="12700">
            <a:solidFill>
              <a:srgbClr val="C0402F"/>
            </a:solidFill>
            <a:prstDash val="solid"/>
          </a:ln>
          <a:effectLst>
            <a:outerShdw sx="100000" sy="100000" kx="0" ky="0" algn="bl" rotWithShape="0" blurRad="63500" dist="31750" dir="5400000">
              <a:srgbClr val="1B2A44">
                <a:alpha val="30000"/>
              </a:srgbClr>
            </a:outerShdw>
          </a:effectLst>
        </p:spPr>
      </p:sp>
      <p:sp>
        <p:nvSpPr>
          <p:cNvPr id="72" name="Text 69"/>
          <p:cNvSpPr/>
          <p:nvPr/>
        </p:nvSpPr>
        <p:spPr>
          <a:xfrm>
            <a:off x="6423660" y="1956816"/>
            <a:ext cx="1554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Candidato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Finalista?</a:t>
            </a:r>
            <a:endParaRPr lang="en-US" sz="900" dirty="0"/>
          </a:p>
        </p:txBody>
      </p:sp>
      <p:sp>
        <p:nvSpPr>
          <p:cNvPr id="73" name="Text 70"/>
          <p:cNvSpPr/>
          <p:nvPr/>
        </p:nvSpPr>
        <p:spPr>
          <a:xfrm>
            <a:off x="6240780" y="23134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850" dirty="0"/>
          </a:p>
        </p:txBody>
      </p:sp>
      <p:sp>
        <p:nvSpPr>
          <p:cNvPr id="74" name="Shape 71"/>
          <p:cNvSpPr/>
          <p:nvPr/>
        </p:nvSpPr>
        <p:spPr>
          <a:xfrm flipH="1">
            <a:off x="5742432" y="2331720"/>
            <a:ext cx="681228" cy="0"/>
          </a:xfrm>
          <a:prstGeom prst="line">
            <a:avLst/>
          </a:prstGeom>
          <a:noFill/>
          <a:ln w="17780">
            <a:solidFill>
              <a:srgbClr val="B23A2E"/>
            </a:solidFill>
            <a:prstDash val="solid"/>
            <a:headEnd type="none"/>
            <a:tailEnd type="none"/>
          </a:ln>
        </p:spPr>
      </p:sp>
      <p:sp>
        <p:nvSpPr>
          <p:cNvPr id="75" name="Shape 72"/>
          <p:cNvSpPr/>
          <p:nvPr/>
        </p:nvSpPr>
        <p:spPr>
          <a:xfrm>
            <a:off x="5742432" y="2331720"/>
            <a:ext cx="0" cy="3685032"/>
          </a:xfrm>
          <a:prstGeom prst="line">
            <a:avLst/>
          </a:prstGeom>
          <a:noFill/>
          <a:ln w="17780">
            <a:solidFill>
              <a:srgbClr val="B23A2E"/>
            </a:solidFill>
            <a:prstDash val="solid"/>
            <a:headEnd type="none"/>
            <a:tailEnd type="none"/>
          </a:ln>
        </p:spPr>
      </p:sp>
      <p:sp>
        <p:nvSpPr>
          <p:cNvPr id="76" name="Shape 73"/>
          <p:cNvSpPr/>
          <p:nvPr/>
        </p:nvSpPr>
        <p:spPr>
          <a:xfrm>
            <a:off x="5742432" y="6016752"/>
            <a:ext cx="310896" cy="0"/>
          </a:xfrm>
          <a:prstGeom prst="line">
            <a:avLst/>
          </a:prstGeom>
          <a:noFill/>
          <a:ln w="17780">
            <a:solidFill>
              <a:srgbClr val="B23A2E"/>
            </a:solidFill>
            <a:prstDash val="solid"/>
            <a:headEnd type="none"/>
            <a:tailEnd type="triangle"/>
          </a:ln>
        </p:spPr>
      </p:sp>
      <p:sp>
        <p:nvSpPr>
          <p:cNvPr id="77" name="Shape 74"/>
          <p:cNvSpPr/>
          <p:nvPr/>
        </p:nvSpPr>
        <p:spPr>
          <a:xfrm>
            <a:off x="6053328" y="5760720"/>
            <a:ext cx="2542032" cy="512064"/>
          </a:xfrm>
          <a:prstGeom prst="roundRect">
            <a:avLst>
              <a:gd name="adj" fmla="val 17857"/>
            </a:avLst>
          </a:prstGeom>
          <a:solidFill>
            <a:srgbClr val="F3DBD7"/>
          </a:solidFill>
          <a:ln w="12700">
            <a:solidFill>
              <a:srgbClr val="B23A2E"/>
            </a:solidFill>
            <a:prstDash val="solid"/>
          </a:ln>
          <a:effectLst>
            <a:outerShdw sx="100000" sy="100000" kx="0" ky="0" algn="bl" rotWithShape="0" blurRad="63500" dist="31750" dir="5400000">
              <a:srgbClr val="1B2A44">
                <a:alpha val="30000"/>
              </a:srgbClr>
            </a:outerShdw>
          </a:effectLst>
        </p:spPr>
      </p:sp>
      <p:sp>
        <p:nvSpPr>
          <p:cNvPr id="78" name="Text 75"/>
          <p:cNvSpPr/>
          <p:nvPr/>
        </p:nvSpPr>
        <p:spPr>
          <a:xfrm>
            <a:off x="6053328" y="5760720"/>
            <a:ext cx="2542032" cy="51206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finalista  →  retorna à nova triagem ou nova publicação da vaga</a:t>
            </a:r>
            <a:endParaRPr lang="en-US" sz="800" dirty="0"/>
          </a:p>
        </p:txBody>
      </p:sp>
      <p:sp>
        <p:nvSpPr>
          <p:cNvPr id="79" name="Text 76"/>
          <p:cNvSpPr/>
          <p:nvPr/>
        </p:nvSpPr>
        <p:spPr>
          <a:xfrm>
            <a:off x="7292340" y="271576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850" dirty="0"/>
          </a:p>
        </p:txBody>
      </p:sp>
      <p:sp>
        <p:nvSpPr>
          <p:cNvPr id="80" name="Shape 77"/>
          <p:cNvSpPr/>
          <p:nvPr/>
        </p:nvSpPr>
        <p:spPr>
          <a:xfrm>
            <a:off x="5806440" y="2944368"/>
            <a:ext cx="278892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31750" dir="5400000">
              <a:srgbClr val="1B2A44">
                <a:alpha val="30000"/>
              </a:srgbClr>
            </a:outerShdw>
          </a:effectLst>
        </p:spPr>
      </p:sp>
      <p:sp>
        <p:nvSpPr>
          <p:cNvPr id="81" name="Shape 78"/>
          <p:cNvSpPr/>
          <p:nvPr/>
        </p:nvSpPr>
        <p:spPr>
          <a:xfrm>
            <a:off x="5806440" y="2944368"/>
            <a:ext cx="91440" cy="731520"/>
          </a:xfrm>
          <a:prstGeom prst="rect">
            <a:avLst/>
          </a:prstGeom>
          <a:solidFill>
            <a:srgbClr val="C0402F"/>
          </a:solidFill>
          <a:ln/>
        </p:spPr>
      </p:sp>
      <p:sp>
        <p:nvSpPr>
          <p:cNvPr id="82" name="Shape 79"/>
          <p:cNvSpPr/>
          <p:nvPr/>
        </p:nvSpPr>
        <p:spPr>
          <a:xfrm>
            <a:off x="5989320" y="3063240"/>
            <a:ext cx="402336" cy="402336"/>
          </a:xfrm>
          <a:prstGeom prst="ellipse">
            <a:avLst/>
          </a:prstGeom>
          <a:solidFill>
            <a:srgbClr val="C0402F"/>
          </a:solidFill>
          <a:ln/>
          <a:effectLst>
            <a:outerShdw sx="100000" sy="100000" kx="0" ky="0" algn="bl" rotWithShape="0" blurRad="63500" dist="31750" dir="5400000">
              <a:srgbClr val="1B2A44">
                <a:alpha val="30000"/>
              </a:srgbClr>
            </a:outerShdw>
          </a:effectLst>
        </p:spPr>
      </p:sp>
      <p:sp>
        <p:nvSpPr>
          <p:cNvPr id="83" name="Text 80"/>
          <p:cNvSpPr/>
          <p:nvPr/>
        </p:nvSpPr>
        <p:spPr>
          <a:xfrm>
            <a:off x="5989320" y="3063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84" name="Text 81"/>
          <p:cNvSpPr/>
          <p:nvPr/>
        </p:nvSpPr>
        <p:spPr>
          <a:xfrm>
            <a:off x="6464808" y="2971800"/>
            <a:ext cx="203911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Carta Proposta</a:t>
            </a:r>
            <a:endParaRPr lang="en-US" sz="11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Aprovação RH Custos  ·  Aprovação Gestor</a:t>
            </a:r>
            <a:endParaRPr lang="en-US" sz="11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Formalização da oferta ao candidato</a:t>
            </a:r>
            <a:endParaRPr lang="en-US" sz="1150" dirty="0"/>
          </a:p>
        </p:txBody>
      </p:sp>
      <p:sp>
        <p:nvSpPr>
          <p:cNvPr id="85" name="Shape 82"/>
          <p:cNvSpPr/>
          <p:nvPr/>
        </p:nvSpPr>
        <p:spPr>
          <a:xfrm>
            <a:off x="7200900" y="2706624"/>
            <a:ext cx="0" cy="237744"/>
          </a:xfrm>
          <a:prstGeom prst="line">
            <a:avLst/>
          </a:prstGeom>
          <a:noFill/>
          <a:ln w="22860">
            <a:solidFill>
              <a:srgbClr val="34528A"/>
            </a:solidFill>
            <a:prstDash val="solid"/>
            <a:headEnd type="none"/>
            <a:tailEnd type="triangle"/>
          </a:ln>
        </p:spPr>
      </p:sp>
      <p:sp>
        <p:nvSpPr>
          <p:cNvPr id="86" name="Shape 83"/>
          <p:cNvSpPr/>
          <p:nvPr/>
        </p:nvSpPr>
        <p:spPr>
          <a:xfrm>
            <a:off x="5806440" y="3822192"/>
            <a:ext cx="278892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31750" dir="5400000">
              <a:srgbClr val="1B2A44">
                <a:alpha val="30000"/>
              </a:srgbClr>
            </a:outerShdw>
          </a:effectLst>
        </p:spPr>
      </p:sp>
      <p:sp>
        <p:nvSpPr>
          <p:cNvPr id="87" name="Shape 84"/>
          <p:cNvSpPr/>
          <p:nvPr/>
        </p:nvSpPr>
        <p:spPr>
          <a:xfrm>
            <a:off x="5806440" y="3822192"/>
            <a:ext cx="91440" cy="786384"/>
          </a:xfrm>
          <a:prstGeom prst="rect">
            <a:avLst/>
          </a:prstGeom>
          <a:solidFill>
            <a:srgbClr val="22346B"/>
          </a:solidFill>
          <a:ln/>
        </p:spPr>
      </p:sp>
      <p:sp>
        <p:nvSpPr>
          <p:cNvPr id="88" name="Shape 85"/>
          <p:cNvSpPr/>
          <p:nvPr/>
        </p:nvSpPr>
        <p:spPr>
          <a:xfrm>
            <a:off x="5989320" y="3941064"/>
            <a:ext cx="402336" cy="402336"/>
          </a:xfrm>
          <a:prstGeom prst="ellipse">
            <a:avLst/>
          </a:prstGeom>
          <a:solidFill>
            <a:srgbClr val="22346B"/>
          </a:solidFill>
          <a:ln/>
          <a:effectLst>
            <a:outerShdw sx="100000" sy="100000" kx="0" ky="0" algn="bl" rotWithShape="0" blurRad="63500" dist="31750" dir="5400000">
              <a:srgbClr val="1B2A44">
                <a:alpha val="30000"/>
              </a:srgbClr>
            </a:outerShdw>
          </a:effectLst>
        </p:spPr>
      </p:sp>
      <p:sp>
        <p:nvSpPr>
          <p:cNvPr id="89" name="Text 86"/>
          <p:cNvSpPr/>
          <p:nvPr/>
        </p:nvSpPr>
        <p:spPr>
          <a:xfrm>
            <a:off x="5989320" y="39410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90" name="Text 87"/>
          <p:cNvSpPr/>
          <p:nvPr/>
        </p:nvSpPr>
        <p:spPr>
          <a:xfrm>
            <a:off x="6464808" y="3849624"/>
            <a:ext cx="2039112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Formalização &amp; Assinatura</a:t>
            </a:r>
            <a:endParaRPr lang="en-US" sz="11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Envio por e-mail da proposta</a:t>
            </a:r>
            <a:endParaRPr lang="en-US" sz="11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Assinatura eletrônica via GOV.BR</a:t>
            </a:r>
            <a:endParaRPr lang="en-US" sz="11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Aceite do candidato</a:t>
            </a:r>
            <a:endParaRPr lang="en-US" sz="1150" dirty="0"/>
          </a:p>
        </p:txBody>
      </p:sp>
      <p:sp>
        <p:nvSpPr>
          <p:cNvPr id="91" name="Shape 88"/>
          <p:cNvSpPr/>
          <p:nvPr/>
        </p:nvSpPr>
        <p:spPr>
          <a:xfrm>
            <a:off x="7200900" y="3675888"/>
            <a:ext cx="0" cy="146304"/>
          </a:xfrm>
          <a:prstGeom prst="line">
            <a:avLst/>
          </a:prstGeom>
          <a:noFill/>
          <a:ln w="22860">
            <a:solidFill>
              <a:srgbClr val="34528A"/>
            </a:solidFill>
            <a:prstDash val="solid"/>
            <a:headEnd type="none"/>
            <a:tailEnd type="triangle"/>
          </a:ln>
        </p:spPr>
      </p:sp>
      <p:sp>
        <p:nvSpPr>
          <p:cNvPr id="92" name="Shape 89"/>
          <p:cNvSpPr/>
          <p:nvPr/>
        </p:nvSpPr>
        <p:spPr>
          <a:xfrm>
            <a:off x="5806440" y="4773168"/>
            <a:ext cx="2788920" cy="822960"/>
          </a:xfrm>
          <a:prstGeom prst="roundRect">
            <a:avLst>
              <a:gd name="adj" fmla="val 10000"/>
            </a:avLst>
          </a:prstGeom>
          <a:solidFill>
            <a:srgbClr val="DCEEEA"/>
          </a:solidFill>
          <a:ln/>
          <a:effectLst>
            <a:outerShdw sx="100000" sy="100000" kx="0" ky="0" algn="bl" rotWithShape="0" blurRad="63500" dist="31750" dir="5400000">
              <a:srgbClr val="1B2A44">
                <a:alpha val="30000"/>
              </a:srgbClr>
            </a:outerShdw>
          </a:effectLst>
        </p:spPr>
      </p:sp>
      <p:sp>
        <p:nvSpPr>
          <p:cNvPr id="93" name="Shape 90"/>
          <p:cNvSpPr/>
          <p:nvPr/>
        </p:nvSpPr>
        <p:spPr>
          <a:xfrm>
            <a:off x="5806440" y="4773168"/>
            <a:ext cx="91440" cy="822960"/>
          </a:xfrm>
          <a:prstGeom prst="rect">
            <a:avLst/>
          </a:prstGeom>
          <a:solidFill>
            <a:srgbClr val="1E8A80"/>
          </a:solidFill>
          <a:ln/>
        </p:spPr>
      </p:sp>
      <p:sp>
        <p:nvSpPr>
          <p:cNvPr id="94" name="Shape 91"/>
          <p:cNvSpPr/>
          <p:nvPr/>
        </p:nvSpPr>
        <p:spPr>
          <a:xfrm>
            <a:off x="5989320" y="4892040"/>
            <a:ext cx="402336" cy="402336"/>
          </a:xfrm>
          <a:prstGeom prst="ellipse">
            <a:avLst/>
          </a:prstGeom>
          <a:solidFill>
            <a:srgbClr val="1E8A80"/>
          </a:solidFill>
          <a:ln/>
          <a:effectLst>
            <a:outerShdw sx="100000" sy="100000" kx="0" ky="0" algn="bl" rotWithShape="0" blurRad="63500" dist="31750" dir="5400000">
              <a:srgbClr val="1B2A44">
                <a:alpha val="30000"/>
              </a:srgbClr>
            </a:outerShdw>
          </a:effectLst>
        </p:spPr>
      </p:sp>
      <p:sp>
        <p:nvSpPr>
          <p:cNvPr id="95" name="Text 92"/>
          <p:cNvSpPr/>
          <p:nvPr/>
        </p:nvSpPr>
        <p:spPr>
          <a:xfrm>
            <a:off x="5989320" y="4892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96" name="Text 93"/>
          <p:cNvSpPr/>
          <p:nvPr/>
        </p:nvSpPr>
        <p:spPr>
          <a:xfrm>
            <a:off x="6464808" y="4800600"/>
            <a:ext cx="2039112" cy="76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D66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Seleção Concluída</a:t>
            </a:r>
            <a:endParaRPr lang="en-US" sz="11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do novo colaborador</a:t>
            </a:r>
            <a:endParaRPr lang="en-US" sz="11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à equipe e à empresa</a:t>
            </a:r>
            <a:endParaRPr lang="en-US" sz="1150" dirty="0"/>
          </a:p>
        </p:txBody>
      </p:sp>
      <p:sp>
        <p:nvSpPr>
          <p:cNvPr id="97" name="Shape 94"/>
          <p:cNvSpPr/>
          <p:nvPr/>
        </p:nvSpPr>
        <p:spPr>
          <a:xfrm>
            <a:off x="7200900" y="4608576"/>
            <a:ext cx="0" cy="164592"/>
          </a:xfrm>
          <a:prstGeom prst="line">
            <a:avLst/>
          </a:prstGeom>
          <a:noFill/>
          <a:ln w="22860">
            <a:solidFill>
              <a:srgbClr val="1E8A80"/>
            </a:solidFill>
            <a:prstDash val="solid"/>
            <a:headEnd type="none"/>
            <a:tailEnd type="triangle"/>
          </a:ln>
        </p:spPr>
      </p:sp>
      <p:sp>
        <p:nvSpPr>
          <p:cNvPr id="98" name="Shape 95"/>
          <p:cNvSpPr/>
          <p:nvPr/>
        </p:nvSpPr>
        <p:spPr>
          <a:xfrm>
            <a:off x="8887968" y="1005840"/>
            <a:ext cx="3035808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31750" dir="5400000">
              <a:srgbClr val="1B2A44">
                <a:alpha val="30000"/>
              </a:srgbClr>
            </a:outerShdw>
          </a:effectLst>
        </p:spPr>
      </p:sp>
      <p:sp>
        <p:nvSpPr>
          <p:cNvPr id="99" name="Shape 96"/>
          <p:cNvSpPr/>
          <p:nvPr/>
        </p:nvSpPr>
        <p:spPr>
          <a:xfrm>
            <a:off x="8887968" y="1005840"/>
            <a:ext cx="3035808" cy="365760"/>
          </a:xfrm>
          <a:prstGeom prst="roundRect">
            <a:avLst>
              <a:gd name="adj" fmla="val 20000"/>
            </a:avLst>
          </a:prstGeom>
          <a:solidFill>
            <a:srgbClr val="22346B"/>
          </a:solidFill>
          <a:ln/>
        </p:spPr>
      </p:sp>
      <p:sp>
        <p:nvSpPr>
          <p:cNvPr id="100" name="Shape 97"/>
          <p:cNvSpPr/>
          <p:nvPr/>
        </p:nvSpPr>
        <p:spPr>
          <a:xfrm>
            <a:off x="8887968" y="1207008"/>
            <a:ext cx="3035808" cy="182880"/>
          </a:xfrm>
          <a:prstGeom prst="rect">
            <a:avLst/>
          </a:prstGeom>
          <a:solidFill>
            <a:srgbClr val="22346B"/>
          </a:solidFill>
          <a:ln/>
        </p:spPr>
      </p:sp>
      <p:sp>
        <p:nvSpPr>
          <p:cNvPr id="101" name="Shape 98"/>
          <p:cNvSpPr/>
          <p:nvPr/>
        </p:nvSpPr>
        <p:spPr>
          <a:xfrm>
            <a:off x="8887968" y="1005840"/>
            <a:ext cx="73152" cy="365760"/>
          </a:xfrm>
          <a:prstGeom prst="rect">
            <a:avLst/>
          </a:prstGeom>
          <a:solidFill>
            <a:srgbClr val="E45D4A"/>
          </a:solidFill>
          <a:ln/>
        </p:spPr>
      </p:sp>
      <p:sp>
        <p:nvSpPr>
          <p:cNvPr id="102" name="Text 99"/>
          <p:cNvSpPr/>
          <p:nvPr/>
        </p:nvSpPr>
        <p:spPr>
          <a:xfrm>
            <a:off x="8933688" y="1005840"/>
            <a:ext cx="2944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UTILIZADOS</a:t>
            </a:r>
            <a:endParaRPr lang="en-US" sz="1050" dirty="0"/>
          </a:p>
        </p:txBody>
      </p:sp>
      <p:sp>
        <p:nvSpPr>
          <p:cNvPr id="103" name="Text 100"/>
          <p:cNvSpPr/>
          <p:nvPr/>
        </p:nvSpPr>
        <p:spPr>
          <a:xfrm>
            <a:off x="9015984" y="1444752"/>
            <a:ext cx="2816352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Portal de Serviços</a:t>
            </a:r>
            <a:endParaRPr lang="en-US" sz="84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Teams</a:t>
            </a:r>
            <a:endParaRPr lang="en-US" sz="84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Outlook</a:t>
            </a:r>
            <a:endParaRPr lang="en-US" sz="84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Pandapé</a:t>
            </a:r>
            <a:endParaRPr lang="en-US" sz="84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Microsoft Forms</a:t>
            </a:r>
            <a:endParaRPr lang="en-US" sz="84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GOV.BR</a:t>
            </a:r>
            <a:endParaRPr lang="en-US" sz="84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Aura Comunica</a:t>
            </a:r>
            <a:endParaRPr lang="en-US" sz="840" dirty="0"/>
          </a:p>
        </p:txBody>
      </p:sp>
      <p:sp>
        <p:nvSpPr>
          <p:cNvPr id="104" name="Shape 101"/>
          <p:cNvSpPr/>
          <p:nvPr/>
        </p:nvSpPr>
        <p:spPr>
          <a:xfrm>
            <a:off x="8887968" y="2962656"/>
            <a:ext cx="3035808" cy="170078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31750" dir="5400000">
              <a:srgbClr val="1B2A44">
                <a:alpha val="30000"/>
              </a:srgbClr>
            </a:outerShdw>
          </a:effectLst>
        </p:spPr>
      </p:sp>
      <p:sp>
        <p:nvSpPr>
          <p:cNvPr id="105" name="Shape 102"/>
          <p:cNvSpPr/>
          <p:nvPr/>
        </p:nvSpPr>
        <p:spPr>
          <a:xfrm>
            <a:off x="8887968" y="2962656"/>
            <a:ext cx="3035808" cy="365760"/>
          </a:xfrm>
          <a:prstGeom prst="roundRect">
            <a:avLst>
              <a:gd name="adj" fmla="val 20000"/>
            </a:avLst>
          </a:prstGeom>
          <a:solidFill>
            <a:srgbClr val="E45D4A"/>
          </a:solidFill>
          <a:ln/>
        </p:spPr>
      </p:sp>
      <p:sp>
        <p:nvSpPr>
          <p:cNvPr id="106" name="Shape 103"/>
          <p:cNvSpPr/>
          <p:nvPr/>
        </p:nvSpPr>
        <p:spPr>
          <a:xfrm>
            <a:off x="8887968" y="3163824"/>
            <a:ext cx="3035808" cy="182880"/>
          </a:xfrm>
          <a:prstGeom prst="rect">
            <a:avLst/>
          </a:prstGeom>
          <a:solidFill>
            <a:srgbClr val="E45D4A"/>
          </a:solidFill>
          <a:ln/>
        </p:spPr>
      </p:sp>
      <p:sp>
        <p:nvSpPr>
          <p:cNvPr id="107" name="Shape 104"/>
          <p:cNvSpPr/>
          <p:nvPr/>
        </p:nvSpPr>
        <p:spPr>
          <a:xfrm>
            <a:off x="8887968" y="2962656"/>
            <a:ext cx="73152" cy="365760"/>
          </a:xfrm>
          <a:prstGeom prst="rect">
            <a:avLst/>
          </a:prstGeom>
          <a:solidFill>
            <a:srgbClr val="E45D4A"/>
          </a:solidFill>
          <a:ln/>
        </p:spPr>
      </p:sp>
      <p:sp>
        <p:nvSpPr>
          <p:cNvPr id="108" name="Text 105"/>
          <p:cNvSpPr/>
          <p:nvPr/>
        </p:nvSpPr>
        <p:spPr>
          <a:xfrm>
            <a:off x="8933688" y="2962656"/>
            <a:ext cx="2944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DE DECISÃO</a:t>
            </a:r>
            <a:endParaRPr lang="en-US" sz="1050" dirty="0"/>
          </a:p>
        </p:txBody>
      </p:sp>
      <p:sp>
        <p:nvSpPr>
          <p:cNvPr id="109" name="Text 106"/>
          <p:cNvSpPr/>
          <p:nvPr/>
        </p:nvSpPr>
        <p:spPr>
          <a:xfrm>
            <a:off x="9015984" y="3401568"/>
            <a:ext cx="2816352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Aprovação da Requisição</a:t>
            </a:r>
            <a:endParaRPr lang="en-US" sz="84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Aprovação RH Custos</a:t>
            </a:r>
            <a:endParaRPr lang="en-US" sz="84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Aprovação Entrevista RH</a:t>
            </a:r>
            <a:endParaRPr lang="en-US" sz="84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Aprovação Triagem Patrimonial</a:t>
            </a:r>
            <a:endParaRPr lang="en-US" sz="84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Aprovação Gestor</a:t>
            </a:r>
            <a:endParaRPr lang="en-US" sz="84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Aceite da Proposta</a:t>
            </a:r>
            <a:endParaRPr lang="en-US" sz="840" dirty="0"/>
          </a:p>
        </p:txBody>
      </p:sp>
      <p:sp>
        <p:nvSpPr>
          <p:cNvPr id="110" name="Shape 107"/>
          <p:cNvSpPr/>
          <p:nvPr/>
        </p:nvSpPr>
        <p:spPr>
          <a:xfrm>
            <a:off x="8887968" y="4791456"/>
            <a:ext cx="3035808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31750" dir="5400000">
              <a:srgbClr val="1B2A44">
                <a:alpha val="30000"/>
              </a:srgbClr>
            </a:outerShdw>
          </a:effectLst>
        </p:spPr>
      </p:sp>
      <p:sp>
        <p:nvSpPr>
          <p:cNvPr id="111" name="Shape 108"/>
          <p:cNvSpPr/>
          <p:nvPr/>
        </p:nvSpPr>
        <p:spPr>
          <a:xfrm>
            <a:off x="8887968" y="4791456"/>
            <a:ext cx="3035808" cy="365760"/>
          </a:xfrm>
          <a:prstGeom prst="roundRect">
            <a:avLst>
              <a:gd name="adj" fmla="val 20000"/>
            </a:avLst>
          </a:prstGeom>
          <a:solidFill>
            <a:srgbClr val="B23A2E"/>
          </a:solidFill>
          <a:ln/>
        </p:spPr>
      </p:sp>
      <p:sp>
        <p:nvSpPr>
          <p:cNvPr id="112" name="Shape 109"/>
          <p:cNvSpPr/>
          <p:nvPr/>
        </p:nvSpPr>
        <p:spPr>
          <a:xfrm>
            <a:off x="8887968" y="4992624"/>
            <a:ext cx="3035808" cy="182880"/>
          </a:xfrm>
          <a:prstGeom prst="rect">
            <a:avLst/>
          </a:prstGeom>
          <a:solidFill>
            <a:srgbClr val="B23A2E"/>
          </a:solidFill>
          <a:ln/>
        </p:spPr>
      </p:sp>
      <p:sp>
        <p:nvSpPr>
          <p:cNvPr id="113" name="Shape 110"/>
          <p:cNvSpPr/>
          <p:nvPr/>
        </p:nvSpPr>
        <p:spPr>
          <a:xfrm>
            <a:off x="8887968" y="4791456"/>
            <a:ext cx="73152" cy="365760"/>
          </a:xfrm>
          <a:prstGeom prst="rect">
            <a:avLst/>
          </a:prstGeom>
          <a:solidFill>
            <a:srgbClr val="E45D4A"/>
          </a:solidFill>
          <a:ln/>
        </p:spPr>
      </p:sp>
      <p:sp>
        <p:nvSpPr>
          <p:cNvPr id="114" name="Text 111"/>
          <p:cNvSpPr/>
          <p:nvPr/>
        </p:nvSpPr>
        <p:spPr>
          <a:xfrm>
            <a:off x="8933688" y="4791456"/>
            <a:ext cx="2944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POSSÍVEIS ENCERRAMENTOS</a:t>
            </a:r>
            <a:endParaRPr lang="en-US" sz="1050" dirty="0"/>
          </a:p>
        </p:txBody>
      </p:sp>
      <p:sp>
        <p:nvSpPr>
          <p:cNvPr id="115" name="Text 112"/>
          <p:cNvSpPr/>
          <p:nvPr/>
        </p:nvSpPr>
        <p:spPr>
          <a:xfrm>
            <a:off x="9015984" y="5230368"/>
            <a:ext cx="2816352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Reprovação na Entrevista RH</a:t>
            </a:r>
            <a:endParaRPr lang="en-US" sz="84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Restrição na Triagem Patrimonial</a:t>
            </a:r>
            <a:endParaRPr lang="en-US" sz="84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Reprovação pelo Gestor</a:t>
            </a:r>
            <a:endParaRPr lang="en-US" sz="84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Recusa da Proposta</a:t>
            </a:r>
            <a:endParaRPr lang="en-US" sz="84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Reabertura da vaga</a:t>
            </a:r>
            <a:endParaRPr lang="en-US" sz="840" dirty="0"/>
          </a:p>
        </p:txBody>
      </p:sp>
      <p:sp>
        <p:nvSpPr>
          <p:cNvPr id="116" name="Text 113"/>
          <p:cNvSpPr/>
          <p:nvPr/>
        </p:nvSpPr>
        <p:spPr>
          <a:xfrm>
            <a:off x="411480" y="6455664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Legenda:</a:t>
            </a:r>
            <a:endParaRPr lang="en-US" sz="850" dirty="0"/>
          </a:p>
        </p:txBody>
      </p:sp>
      <p:sp>
        <p:nvSpPr>
          <p:cNvPr id="117" name="Shape 114"/>
          <p:cNvSpPr/>
          <p:nvPr/>
        </p:nvSpPr>
        <p:spPr>
          <a:xfrm>
            <a:off x="1344168" y="6510528"/>
            <a:ext cx="237744" cy="201168"/>
          </a:xfrm>
          <a:prstGeom prst="roundRect">
            <a:avLst>
              <a:gd name="adj" fmla="val 22727"/>
            </a:avLst>
          </a:prstGeom>
          <a:solidFill>
            <a:srgbClr val="22346B"/>
          </a:solidFill>
          <a:ln/>
        </p:spPr>
      </p:sp>
      <p:sp>
        <p:nvSpPr>
          <p:cNvPr id="118" name="Text 115"/>
          <p:cNvSpPr/>
          <p:nvPr/>
        </p:nvSpPr>
        <p:spPr>
          <a:xfrm>
            <a:off x="1627632" y="6455664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</a:t>
            </a:r>
            <a:endParaRPr lang="en-US" sz="800" dirty="0"/>
          </a:p>
        </p:txBody>
      </p:sp>
      <p:sp>
        <p:nvSpPr>
          <p:cNvPr id="119" name="Shape 116"/>
          <p:cNvSpPr/>
          <p:nvPr/>
        </p:nvSpPr>
        <p:spPr>
          <a:xfrm>
            <a:off x="3127248" y="6510528"/>
            <a:ext cx="237744" cy="201168"/>
          </a:xfrm>
          <a:prstGeom prst="diamond">
            <a:avLst/>
          </a:prstGeom>
          <a:solidFill>
            <a:srgbClr val="E45D4A"/>
          </a:solidFill>
          <a:ln/>
        </p:spPr>
      </p:sp>
      <p:sp>
        <p:nvSpPr>
          <p:cNvPr id="120" name="Text 117"/>
          <p:cNvSpPr/>
          <p:nvPr/>
        </p:nvSpPr>
        <p:spPr>
          <a:xfrm>
            <a:off x="3410712" y="6455664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</a:t>
            </a:r>
            <a:endParaRPr lang="en-US" sz="800" dirty="0"/>
          </a:p>
        </p:txBody>
      </p:sp>
      <p:sp>
        <p:nvSpPr>
          <p:cNvPr id="121" name="Shape 118"/>
          <p:cNvSpPr/>
          <p:nvPr/>
        </p:nvSpPr>
        <p:spPr>
          <a:xfrm>
            <a:off x="4910328" y="6510528"/>
            <a:ext cx="237744" cy="201168"/>
          </a:xfrm>
          <a:prstGeom prst="roundRect">
            <a:avLst>
              <a:gd name="adj" fmla="val 22727"/>
            </a:avLst>
          </a:prstGeom>
          <a:solidFill>
            <a:srgbClr val="F3DBD7"/>
          </a:solidFill>
          <a:ln/>
        </p:spPr>
      </p:sp>
      <p:sp>
        <p:nvSpPr>
          <p:cNvPr id="122" name="Text 119"/>
          <p:cNvSpPr/>
          <p:nvPr/>
        </p:nvSpPr>
        <p:spPr>
          <a:xfrm>
            <a:off x="5193792" y="6455664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Encerramento</a:t>
            </a:r>
            <a:endParaRPr lang="en-US" sz="800" dirty="0"/>
          </a:p>
        </p:txBody>
      </p:sp>
      <p:sp>
        <p:nvSpPr>
          <p:cNvPr id="123" name="Shape 120"/>
          <p:cNvSpPr/>
          <p:nvPr/>
        </p:nvSpPr>
        <p:spPr>
          <a:xfrm>
            <a:off x="6784848" y="6510528"/>
            <a:ext cx="237744" cy="201168"/>
          </a:xfrm>
          <a:prstGeom prst="roundRect">
            <a:avLst>
              <a:gd name="adj" fmla="val 22727"/>
            </a:avLst>
          </a:prstGeom>
          <a:solidFill>
            <a:srgbClr val="DCEEEA"/>
          </a:solidFill>
          <a:ln/>
        </p:spPr>
      </p:sp>
      <p:sp>
        <p:nvSpPr>
          <p:cNvPr id="124" name="Text 121"/>
          <p:cNvSpPr/>
          <p:nvPr/>
        </p:nvSpPr>
        <p:spPr>
          <a:xfrm>
            <a:off x="7068312" y="6455664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2234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86384"/>
            <a:ext cx="12191695" cy="54864"/>
          </a:xfrm>
          <a:prstGeom prst="rect">
            <a:avLst/>
          </a:prstGeom>
          <a:solidFill>
            <a:srgbClr val="E45D4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78638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Executiva do Processo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0" y="0"/>
            <a:ext cx="21488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4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do tempo — 8 etapas</a:t>
            </a:r>
            <a:endParaRPr lang="en-US" sz="1100" dirty="0"/>
          </a:p>
        </p:txBody>
      </p:sp>
      <p:pic>
        <p:nvPicPr>
          <p:cNvPr id="6" name="Image 0" descr="/home/user/PPT---RH/rh/aura_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7080" y="155448"/>
            <a:ext cx="813816" cy="47548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68680" y="3493008"/>
            <a:ext cx="10469880" cy="54864"/>
          </a:xfrm>
          <a:prstGeom prst="rect">
            <a:avLst/>
          </a:prstGeom>
          <a:solidFill>
            <a:srgbClr val="D7DCE4"/>
          </a:solidFill>
          <a:ln/>
        </p:spPr>
      </p:sp>
      <p:sp>
        <p:nvSpPr>
          <p:cNvPr id="8" name="Shape 5"/>
          <p:cNvSpPr/>
          <p:nvPr/>
        </p:nvSpPr>
        <p:spPr>
          <a:xfrm flipV="1">
            <a:off x="868680" y="3017520"/>
            <a:ext cx="0" cy="182880"/>
          </a:xfrm>
          <a:prstGeom prst="line">
            <a:avLst/>
          </a:prstGeom>
          <a:noFill/>
          <a:ln w="17780">
            <a:solidFill>
              <a:srgbClr val="22346B"/>
            </a:solidFill>
            <a:prstDash val="solid"/>
            <a:headEnd type="none"/>
            <a:tailEnd type="none"/>
          </a:ln>
        </p:spPr>
      </p:sp>
      <p:sp>
        <p:nvSpPr>
          <p:cNvPr id="9" name="Shape 6"/>
          <p:cNvSpPr/>
          <p:nvPr/>
        </p:nvSpPr>
        <p:spPr>
          <a:xfrm>
            <a:off x="219456" y="1810512"/>
            <a:ext cx="129844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7DCE4"/>
            </a:solidFill>
            <a:prstDash val="solid"/>
          </a:ln>
          <a:effectLst>
            <a:outerShdw sx="100000" sy="100000" kx="0" ky="0" algn="bl" rotWithShape="0" blurRad="63500" dist="31750" dir="5400000">
              <a:srgbClr val="1B2A44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19456" y="1810512"/>
            <a:ext cx="1298448" cy="82296"/>
          </a:xfrm>
          <a:prstGeom prst="rect">
            <a:avLst/>
          </a:prstGeom>
          <a:solidFill>
            <a:srgbClr val="22346B"/>
          </a:solidFill>
          <a:ln/>
        </p:spPr>
      </p:sp>
      <p:sp>
        <p:nvSpPr>
          <p:cNvPr id="11" name="Text 8"/>
          <p:cNvSpPr/>
          <p:nvPr/>
        </p:nvSpPr>
        <p:spPr>
          <a:xfrm>
            <a:off x="274320" y="1920240"/>
            <a:ext cx="1188720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Requisição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 da vaga pelo gestor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12648" y="3264408"/>
            <a:ext cx="512064" cy="512064"/>
          </a:xfrm>
          <a:prstGeom prst="ellipse">
            <a:avLst/>
          </a:prstGeom>
          <a:solidFill>
            <a:srgbClr val="22346B"/>
          </a:solidFill>
          <a:ln/>
          <a:effectLst>
            <a:outerShdw sx="100000" sy="100000" kx="0" ky="0" algn="bl" rotWithShape="0" blurRad="63500" dist="31750" dir="5400000">
              <a:srgbClr val="1B2A44">
                <a:alpha val="3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12648" y="32644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2364377" y="3840480"/>
            <a:ext cx="0" cy="182880"/>
          </a:xfrm>
          <a:prstGeom prst="line">
            <a:avLst/>
          </a:prstGeom>
          <a:noFill/>
          <a:ln w="17780">
            <a:solidFill>
              <a:srgbClr val="C0402F"/>
            </a:solidFill>
            <a:prstDash val="solid"/>
            <a:headEnd type="none"/>
            <a:tailEnd type="none"/>
          </a:ln>
        </p:spPr>
      </p:sp>
      <p:sp>
        <p:nvSpPr>
          <p:cNvPr id="15" name="Shape 12"/>
          <p:cNvSpPr/>
          <p:nvPr/>
        </p:nvSpPr>
        <p:spPr>
          <a:xfrm>
            <a:off x="1715153" y="4023360"/>
            <a:ext cx="129844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7DCE4"/>
            </a:solidFill>
            <a:prstDash val="solid"/>
          </a:ln>
          <a:effectLst>
            <a:outerShdw sx="100000" sy="100000" kx="0" ky="0" algn="bl" rotWithShape="0" blurRad="63500" dist="31750" dir="5400000">
              <a:srgbClr val="1B2A44">
                <a:alpha val="3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715153" y="4023360"/>
            <a:ext cx="1298448" cy="82296"/>
          </a:xfrm>
          <a:prstGeom prst="rect">
            <a:avLst/>
          </a:prstGeom>
          <a:solidFill>
            <a:srgbClr val="C0402F"/>
          </a:solidFill>
          <a:ln/>
        </p:spPr>
      </p:sp>
      <p:sp>
        <p:nvSpPr>
          <p:cNvPr id="17" name="Text 14"/>
          <p:cNvSpPr/>
          <p:nvPr/>
        </p:nvSpPr>
        <p:spPr>
          <a:xfrm>
            <a:off x="1770017" y="4133088"/>
            <a:ext cx="1188720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Divulgação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Publicação na Pandapé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2108345" y="3264408"/>
            <a:ext cx="512064" cy="512064"/>
          </a:xfrm>
          <a:prstGeom prst="ellipse">
            <a:avLst/>
          </a:prstGeom>
          <a:solidFill>
            <a:srgbClr val="C0402F"/>
          </a:solidFill>
          <a:ln/>
          <a:effectLst>
            <a:outerShdw sx="100000" sy="100000" kx="0" ky="0" algn="bl" rotWithShape="0" blurRad="63500" dist="31750" dir="5400000">
              <a:srgbClr val="1B2A44">
                <a:alpha val="3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2108345" y="32644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 flipV="1">
            <a:off x="3860074" y="3017520"/>
            <a:ext cx="0" cy="182880"/>
          </a:xfrm>
          <a:prstGeom prst="line">
            <a:avLst/>
          </a:prstGeom>
          <a:noFill/>
          <a:ln w="17780">
            <a:solidFill>
              <a:srgbClr val="22346B"/>
            </a:solidFill>
            <a:prstDash val="solid"/>
            <a:headEnd type="none"/>
            <a:tailEnd type="none"/>
          </a:ln>
        </p:spPr>
      </p:sp>
      <p:sp>
        <p:nvSpPr>
          <p:cNvPr id="21" name="Shape 18"/>
          <p:cNvSpPr/>
          <p:nvPr/>
        </p:nvSpPr>
        <p:spPr>
          <a:xfrm>
            <a:off x="3210850" y="1810512"/>
            <a:ext cx="129844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7DCE4"/>
            </a:solidFill>
            <a:prstDash val="solid"/>
          </a:ln>
          <a:effectLst>
            <a:outerShdw sx="100000" sy="100000" kx="0" ky="0" algn="bl" rotWithShape="0" blurRad="63500" dist="31750" dir="5400000">
              <a:srgbClr val="1B2A44">
                <a:alpha val="3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210850" y="1810512"/>
            <a:ext cx="1298448" cy="82296"/>
          </a:xfrm>
          <a:prstGeom prst="rect">
            <a:avLst/>
          </a:prstGeom>
          <a:solidFill>
            <a:srgbClr val="22346B"/>
          </a:solidFill>
          <a:ln/>
        </p:spPr>
      </p:sp>
      <p:sp>
        <p:nvSpPr>
          <p:cNvPr id="23" name="Text 20"/>
          <p:cNvSpPr/>
          <p:nvPr/>
        </p:nvSpPr>
        <p:spPr>
          <a:xfrm>
            <a:off x="3265714" y="1920240"/>
            <a:ext cx="1188720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Triagem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currículos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3604042" y="3264408"/>
            <a:ext cx="512064" cy="512064"/>
          </a:xfrm>
          <a:prstGeom prst="ellipse">
            <a:avLst/>
          </a:prstGeom>
          <a:solidFill>
            <a:srgbClr val="22346B"/>
          </a:solidFill>
          <a:ln/>
          <a:effectLst>
            <a:outerShdw sx="100000" sy="100000" kx="0" ky="0" algn="bl" rotWithShape="0" blurRad="63500" dist="31750" dir="5400000">
              <a:srgbClr val="1B2A44">
                <a:alpha val="30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604042" y="32644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5355771" y="3840480"/>
            <a:ext cx="0" cy="182880"/>
          </a:xfrm>
          <a:prstGeom prst="line">
            <a:avLst/>
          </a:prstGeom>
          <a:noFill/>
          <a:ln w="17780">
            <a:solidFill>
              <a:srgbClr val="C0402F"/>
            </a:solidFill>
            <a:prstDash val="solid"/>
            <a:headEnd type="none"/>
            <a:tailEnd type="none"/>
          </a:ln>
        </p:spPr>
      </p:sp>
      <p:sp>
        <p:nvSpPr>
          <p:cNvPr id="27" name="Shape 24"/>
          <p:cNvSpPr/>
          <p:nvPr/>
        </p:nvSpPr>
        <p:spPr>
          <a:xfrm>
            <a:off x="4706547" y="4023360"/>
            <a:ext cx="129844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7DCE4"/>
            </a:solidFill>
            <a:prstDash val="solid"/>
          </a:ln>
          <a:effectLst>
            <a:outerShdw sx="100000" sy="100000" kx="0" ky="0" algn="bl" rotWithShape="0" blurRad="63500" dist="31750" dir="5400000">
              <a:srgbClr val="1B2A44">
                <a:alpha val="3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706547" y="4023360"/>
            <a:ext cx="1298448" cy="82296"/>
          </a:xfrm>
          <a:prstGeom prst="rect">
            <a:avLst/>
          </a:prstGeom>
          <a:solidFill>
            <a:srgbClr val="C0402F"/>
          </a:solidFill>
          <a:ln/>
        </p:spPr>
      </p:sp>
      <p:sp>
        <p:nvSpPr>
          <p:cNvPr id="29" name="Text 26"/>
          <p:cNvSpPr/>
          <p:nvPr/>
        </p:nvSpPr>
        <p:spPr>
          <a:xfrm>
            <a:off x="4761411" y="4133088"/>
            <a:ext cx="1188720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Entrevistas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 e gestor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5099739" y="3264408"/>
            <a:ext cx="512064" cy="512064"/>
          </a:xfrm>
          <a:prstGeom prst="ellipse">
            <a:avLst/>
          </a:prstGeom>
          <a:solidFill>
            <a:srgbClr val="C0402F"/>
          </a:solidFill>
          <a:ln/>
          <a:effectLst>
            <a:outerShdw sx="100000" sy="100000" kx="0" ky="0" algn="bl" rotWithShape="0" blurRad="63500" dist="31750" dir="5400000">
              <a:srgbClr val="1B2A44">
                <a:alpha val="30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5099739" y="32644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 flipV="1">
            <a:off x="6851469" y="3017520"/>
            <a:ext cx="0" cy="182880"/>
          </a:xfrm>
          <a:prstGeom prst="line">
            <a:avLst/>
          </a:prstGeom>
          <a:noFill/>
          <a:ln w="17780">
            <a:solidFill>
              <a:srgbClr val="22346B"/>
            </a:solidFill>
            <a:prstDash val="solid"/>
            <a:headEnd type="none"/>
            <a:tailEnd type="none"/>
          </a:ln>
        </p:spPr>
      </p:sp>
      <p:sp>
        <p:nvSpPr>
          <p:cNvPr id="33" name="Shape 30"/>
          <p:cNvSpPr/>
          <p:nvPr/>
        </p:nvSpPr>
        <p:spPr>
          <a:xfrm>
            <a:off x="6202245" y="1810512"/>
            <a:ext cx="129844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7DCE4"/>
            </a:solidFill>
            <a:prstDash val="solid"/>
          </a:ln>
          <a:effectLst>
            <a:outerShdw sx="100000" sy="100000" kx="0" ky="0" algn="bl" rotWithShape="0" blurRad="63500" dist="31750" dir="5400000">
              <a:srgbClr val="1B2A44">
                <a:alpha val="3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202245" y="1810512"/>
            <a:ext cx="1298448" cy="82296"/>
          </a:xfrm>
          <a:prstGeom prst="rect">
            <a:avLst/>
          </a:prstGeom>
          <a:solidFill>
            <a:srgbClr val="22346B"/>
          </a:solidFill>
          <a:ln/>
        </p:spPr>
      </p:sp>
      <p:sp>
        <p:nvSpPr>
          <p:cNvPr id="35" name="Text 32"/>
          <p:cNvSpPr/>
          <p:nvPr/>
        </p:nvSpPr>
        <p:spPr>
          <a:xfrm>
            <a:off x="6257109" y="1920240"/>
            <a:ext cx="1188720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Aprovação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e validações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6595437" y="3264408"/>
            <a:ext cx="512064" cy="512064"/>
          </a:xfrm>
          <a:prstGeom prst="ellipse">
            <a:avLst/>
          </a:prstGeom>
          <a:solidFill>
            <a:srgbClr val="22346B"/>
          </a:solidFill>
          <a:ln/>
          <a:effectLst>
            <a:outerShdw sx="100000" sy="100000" kx="0" ky="0" algn="bl" rotWithShape="0" blurRad="63500" dist="31750" dir="5400000">
              <a:srgbClr val="1B2A44">
                <a:alpha val="30000"/>
              </a:srgbClr>
            </a:outerShdw>
          </a:effectLst>
        </p:spPr>
      </p:sp>
      <p:sp>
        <p:nvSpPr>
          <p:cNvPr id="37" name="Text 34"/>
          <p:cNvSpPr/>
          <p:nvPr/>
        </p:nvSpPr>
        <p:spPr>
          <a:xfrm>
            <a:off x="6595437" y="32644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8" name="Shape 35"/>
          <p:cNvSpPr/>
          <p:nvPr/>
        </p:nvSpPr>
        <p:spPr>
          <a:xfrm>
            <a:off x="8347166" y="3840480"/>
            <a:ext cx="0" cy="182880"/>
          </a:xfrm>
          <a:prstGeom prst="line">
            <a:avLst/>
          </a:prstGeom>
          <a:noFill/>
          <a:ln w="17780">
            <a:solidFill>
              <a:srgbClr val="C0402F"/>
            </a:solidFill>
            <a:prstDash val="solid"/>
            <a:headEnd type="none"/>
            <a:tailEnd type="none"/>
          </a:ln>
        </p:spPr>
      </p:sp>
      <p:sp>
        <p:nvSpPr>
          <p:cNvPr id="39" name="Shape 36"/>
          <p:cNvSpPr/>
          <p:nvPr/>
        </p:nvSpPr>
        <p:spPr>
          <a:xfrm>
            <a:off x="7697942" y="4023360"/>
            <a:ext cx="129844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7DCE4"/>
            </a:solidFill>
            <a:prstDash val="solid"/>
          </a:ln>
          <a:effectLst>
            <a:outerShdw sx="100000" sy="100000" kx="0" ky="0" algn="bl" rotWithShape="0" blurRad="63500" dist="31750" dir="5400000">
              <a:srgbClr val="1B2A44">
                <a:alpha val="3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697942" y="4023360"/>
            <a:ext cx="1298448" cy="82296"/>
          </a:xfrm>
          <a:prstGeom prst="rect">
            <a:avLst/>
          </a:prstGeom>
          <a:solidFill>
            <a:srgbClr val="C0402F"/>
          </a:solidFill>
          <a:ln/>
        </p:spPr>
      </p:sp>
      <p:sp>
        <p:nvSpPr>
          <p:cNvPr id="41" name="Text 38"/>
          <p:cNvSpPr/>
          <p:nvPr/>
        </p:nvSpPr>
        <p:spPr>
          <a:xfrm>
            <a:off x="7752806" y="4133088"/>
            <a:ext cx="1188720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Carta e negociação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8091134" y="3264408"/>
            <a:ext cx="512064" cy="512064"/>
          </a:xfrm>
          <a:prstGeom prst="ellipse">
            <a:avLst/>
          </a:prstGeom>
          <a:solidFill>
            <a:srgbClr val="C0402F"/>
          </a:solidFill>
          <a:ln/>
          <a:effectLst>
            <a:outerShdw sx="100000" sy="100000" kx="0" ky="0" algn="bl" rotWithShape="0" blurRad="63500" dist="31750" dir="5400000">
              <a:srgbClr val="1B2A44">
                <a:alpha val="30000"/>
              </a:srgbClr>
            </a:outerShdw>
          </a:effectLst>
        </p:spPr>
      </p:sp>
      <p:sp>
        <p:nvSpPr>
          <p:cNvPr id="43" name="Text 40"/>
          <p:cNvSpPr/>
          <p:nvPr/>
        </p:nvSpPr>
        <p:spPr>
          <a:xfrm>
            <a:off x="8091134" y="32644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44" name="Shape 41"/>
          <p:cNvSpPr/>
          <p:nvPr/>
        </p:nvSpPr>
        <p:spPr>
          <a:xfrm flipV="1">
            <a:off x="9842863" y="3017520"/>
            <a:ext cx="0" cy="182880"/>
          </a:xfrm>
          <a:prstGeom prst="line">
            <a:avLst/>
          </a:prstGeom>
          <a:noFill/>
          <a:ln w="17780">
            <a:solidFill>
              <a:srgbClr val="22346B"/>
            </a:solidFill>
            <a:prstDash val="solid"/>
            <a:headEnd type="none"/>
            <a:tailEnd type="none"/>
          </a:ln>
        </p:spPr>
      </p:sp>
      <p:sp>
        <p:nvSpPr>
          <p:cNvPr id="45" name="Shape 42"/>
          <p:cNvSpPr/>
          <p:nvPr/>
        </p:nvSpPr>
        <p:spPr>
          <a:xfrm>
            <a:off x="9193639" y="1810512"/>
            <a:ext cx="129844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7DCE4"/>
            </a:solidFill>
            <a:prstDash val="solid"/>
          </a:ln>
          <a:effectLst>
            <a:outerShdw sx="100000" sy="100000" kx="0" ky="0" algn="bl" rotWithShape="0" blurRad="63500" dist="31750" dir="5400000">
              <a:srgbClr val="1B2A44">
                <a:alpha val="3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9193639" y="1810512"/>
            <a:ext cx="1298448" cy="82296"/>
          </a:xfrm>
          <a:prstGeom prst="rect">
            <a:avLst/>
          </a:prstGeom>
          <a:solidFill>
            <a:srgbClr val="22346B"/>
          </a:solidFill>
          <a:ln/>
        </p:spPr>
      </p:sp>
      <p:sp>
        <p:nvSpPr>
          <p:cNvPr id="47" name="Text 44"/>
          <p:cNvSpPr/>
          <p:nvPr/>
        </p:nvSpPr>
        <p:spPr>
          <a:xfrm>
            <a:off x="9248503" y="1920240"/>
            <a:ext cx="1188720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Admissão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Assinatura via GOV.BR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9586831" y="3264408"/>
            <a:ext cx="512064" cy="512064"/>
          </a:xfrm>
          <a:prstGeom prst="ellipse">
            <a:avLst/>
          </a:prstGeom>
          <a:solidFill>
            <a:srgbClr val="22346B"/>
          </a:solidFill>
          <a:ln/>
          <a:effectLst>
            <a:outerShdw sx="100000" sy="100000" kx="0" ky="0" algn="bl" rotWithShape="0" blurRad="63500" dist="31750" dir="5400000">
              <a:srgbClr val="1B2A44">
                <a:alpha val="30000"/>
              </a:srgbClr>
            </a:outerShdw>
          </a:effectLst>
        </p:spPr>
      </p:sp>
      <p:sp>
        <p:nvSpPr>
          <p:cNvPr id="49" name="Text 46"/>
          <p:cNvSpPr/>
          <p:nvPr/>
        </p:nvSpPr>
        <p:spPr>
          <a:xfrm>
            <a:off x="9586831" y="32644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50" name="Shape 47"/>
          <p:cNvSpPr/>
          <p:nvPr/>
        </p:nvSpPr>
        <p:spPr>
          <a:xfrm>
            <a:off x="11338560" y="3840480"/>
            <a:ext cx="0" cy="182880"/>
          </a:xfrm>
          <a:prstGeom prst="line">
            <a:avLst/>
          </a:prstGeom>
          <a:noFill/>
          <a:ln w="17780">
            <a:solidFill>
              <a:srgbClr val="C0402F"/>
            </a:solidFill>
            <a:prstDash val="solid"/>
            <a:headEnd type="none"/>
            <a:tailEnd type="none"/>
          </a:ln>
        </p:spPr>
      </p:sp>
      <p:sp>
        <p:nvSpPr>
          <p:cNvPr id="51" name="Shape 48"/>
          <p:cNvSpPr/>
          <p:nvPr/>
        </p:nvSpPr>
        <p:spPr>
          <a:xfrm>
            <a:off x="10689336" y="4023360"/>
            <a:ext cx="129844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7DCE4"/>
            </a:solidFill>
            <a:prstDash val="solid"/>
          </a:ln>
          <a:effectLst>
            <a:outerShdw sx="100000" sy="100000" kx="0" ky="0" algn="bl" rotWithShape="0" blurRad="63500" dist="31750" dir="5400000">
              <a:srgbClr val="1B2A44">
                <a:alpha val="30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10689336" y="4023360"/>
            <a:ext cx="1298448" cy="82296"/>
          </a:xfrm>
          <a:prstGeom prst="rect">
            <a:avLst/>
          </a:prstGeom>
          <a:solidFill>
            <a:srgbClr val="C0402F"/>
          </a:solidFill>
          <a:ln/>
        </p:spPr>
      </p:sp>
      <p:sp>
        <p:nvSpPr>
          <p:cNvPr id="53" name="Text 50"/>
          <p:cNvSpPr/>
          <p:nvPr/>
        </p:nvSpPr>
        <p:spPr>
          <a:xfrm>
            <a:off x="10744200" y="4133088"/>
            <a:ext cx="1188720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do colaborador</a:t>
            </a:r>
            <a:endParaRPr lang="en-US" sz="1200" dirty="0"/>
          </a:p>
        </p:txBody>
      </p:sp>
      <p:sp>
        <p:nvSpPr>
          <p:cNvPr id="54" name="Shape 51"/>
          <p:cNvSpPr/>
          <p:nvPr/>
        </p:nvSpPr>
        <p:spPr>
          <a:xfrm>
            <a:off x="11082528" y="3264408"/>
            <a:ext cx="512064" cy="512064"/>
          </a:xfrm>
          <a:prstGeom prst="ellipse">
            <a:avLst/>
          </a:prstGeom>
          <a:solidFill>
            <a:srgbClr val="C0402F"/>
          </a:solidFill>
          <a:ln/>
          <a:effectLst>
            <a:outerShdw sx="100000" sy="100000" kx="0" ky="0" algn="bl" rotWithShape="0" blurRad="63500" dist="31750" dir="5400000">
              <a:srgbClr val="1B2A44">
                <a:alpha val="30000"/>
              </a:srgbClr>
            </a:outerShdw>
          </a:effectLst>
        </p:spPr>
      </p:sp>
      <p:sp>
        <p:nvSpPr>
          <p:cNvPr id="55" name="Text 52"/>
          <p:cNvSpPr/>
          <p:nvPr/>
        </p:nvSpPr>
        <p:spPr>
          <a:xfrm>
            <a:off x="11082528" y="32644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56" name="Text 53"/>
          <p:cNvSpPr/>
          <p:nvPr/>
        </p:nvSpPr>
        <p:spPr>
          <a:xfrm>
            <a:off x="365760" y="53492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pedido à integração — um fluxo estruturado, auditável e orientado a decisões.</a:t>
            </a:r>
            <a:endParaRPr lang="en-US" sz="1200" dirty="0"/>
          </a:p>
        </p:txBody>
      </p:sp>
      <p:sp>
        <p:nvSpPr>
          <p:cNvPr id="57" name="Shape 54"/>
          <p:cNvSpPr/>
          <p:nvPr/>
        </p:nvSpPr>
        <p:spPr>
          <a:xfrm>
            <a:off x="353507" y="5806440"/>
            <a:ext cx="2606040" cy="749808"/>
          </a:xfrm>
          <a:prstGeom prst="roundRect">
            <a:avLst>
              <a:gd name="adj" fmla="val 12195"/>
            </a:avLst>
          </a:prstGeom>
          <a:solidFill>
            <a:srgbClr val="F4F6F9"/>
          </a:solidFill>
          <a:ln/>
          <a:effectLst>
            <a:outerShdw sx="100000" sy="100000" kx="0" ky="0" algn="bl" rotWithShape="0" blurRad="63500" dist="31750" dir="5400000">
              <a:srgbClr val="1B2A44">
                <a:alpha val="30000"/>
              </a:srgbClr>
            </a:outerShdw>
          </a:effectLst>
        </p:spPr>
      </p:sp>
      <p:sp>
        <p:nvSpPr>
          <p:cNvPr id="58" name="Shape 55"/>
          <p:cNvSpPr/>
          <p:nvPr/>
        </p:nvSpPr>
        <p:spPr>
          <a:xfrm>
            <a:off x="353507" y="5806440"/>
            <a:ext cx="91440" cy="749808"/>
          </a:xfrm>
          <a:prstGeom prst="rect">
            <a:avLst/>
          </a:prstGeom>
          <a:solidFill>
            <a:srgbClr val="22346B"/>
          </a:solidFill>
          <a:ln/>
        </p:spPr>
      </p:sp>
      <p:sp>
        <p:nvSpPr>
          <p:cNvPr id="59" name="Text 56"/>
          <p:cNvSpPr/>
          <p:nvPr/>
        </p:nvSpPr>
        <p:spPr>
          <a:xfrm>
            <a:off x="518099" y="5806440"/>
            <a:ext cx="777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600" dirty="0"/>
          </a:p>
        </p:txBody>
      </p:sp>
      <p:sp>
        <p:nvSpPr>
          <p:cNvPr id="60" name="Text 57"/>
          <p:cNvSpPr/>
          <p:nvPr/>
        </p:nvSpPr>
        <p:spPr>
          <a:xfrm>
            <a:off x="1286195" y="5806440"/>
            <a:ext cx="1600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etapas principais</a:t>
            </a:r>
            <a:endParaRPr lang="en-US" sz="1100" dirty="0"/>
          </a:p>
        </p:txBody>
      </p:sp>
      <p:sp>
        <p:nvSpPr>
          <p:cNvPr id="61" name="Shape 58"/>
          <p:cNvSpPr/>
          <p:nvPr/>
        </p:nvSpPr>
        <p:spPr>
          <a:xfrm>
            <a:off x="3313054" y="5806440"/>
            <a:ext cx="2606040" cy="749808"/>
          </a:xfrm>
          <a:prstGeom prst="roundRect">
            <a:avLst>
              <a:gd name="adj" fmla="val 12195"/>
            </a:avLst>
          </a:prstGeom>
          <a:solidFill>
            <a:srgbClr val="F4F6F9"/>
          </a:solidFill>
          <a:ln/>
          <a:effectLst>
            <a:outerShdw sx="100000" sy="100000" kx="0" ky="0" algn="bl" rotWithShape="0" blurRad="63500" dist="31750" dir="5400000">
              <a:srgbClr val="1B2A44">
                <a:alpha val="30000"/>
              </a:srgbClr>
            </a:outerShdw>
          </a:effectLst>
        </p:spPr>
      </p:sp>
      <p:sp>
        <p:nvSpPr>
          <p:cNvPr id="62" name="Shape 59"/>
          <p:cNvSpPr/>
          <p:nvPr/>
        </p:nvSpPr>
        <p:spPr>
          <a:xfrm>
            <a:off x="3313054" y="5806440"/>
            <a:ext cx="91440" cy="749808"/>
          </a:xfrm>
          <a:prstGeom prst="rect">
            <a:avLst/>
          </a:prstGeom>
          <a:solidFill>
            <a:srgbClr val="E45D4A"/>
          </a:solidFill>
          <a:ln/>
        </p:spPr>
      </p:sp>
      <p:sp>
        <p:nvSpPr>
          <p:cNvPr id="63" name="Text 60"/>
          <p:cNvSpPr/>
          <p:nvPr/>
        </p:nvSpPr>
        <p:spPr>
          <a:xfrm>
            <a:off x="3477646" y="5806440"/>
            <a:ext cx="777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4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600" dirty="0"/>
          </a:p>
        </p:txBody>
      </p:sp>
      <p:sp>
        <p:nvSpPr>
          <p:cNvPr id="64" name="Text 61"/>
          <p:cNvSpPr/>
          <p:nvPr/>
        </p:nvSpPr>
        <p:spPr>
          <a:xfrm>
            <a:off x="4245742" y="5806440"/>
            <a:ext cx="1600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de decisão</a:t>
            </a:r>
            <a:endParaRPr lang="en-US" sz="1100" dirty="0"/>
          </a:p>
        </p:txBody>
      </p:sp>
      <p:sp>
        <p:nvSpPr>
          <p:cNvPr id="65" name="Shape 62"/>
          <p:cNvSpPr/>
          <p:nvPr/>
        </p:nvSpPr>
        <p:spPr>
          <a:xfrm>
            <a:off x="6272601" y="5806440"/>
            <a:ext cx="2606040" cy="749808"/>
          </a:xfrm>
          <a:prstGeom prst="roundRect">
            <a:avLst>
              <a:gd name="adj" fmla="val 12195"/>
            </a:avLst>
          </a:prstGeom>
          <a:solidFill>
            <a:srgbClr val="F4F6F9"/>
          </a:solidFill>
          <a:ln/>
          <a:effectLst>
            <a:outerShdw sx="100000" sy="100000" kx="0" ky="0" algn="bl" rotWithShape="0" blurRad="63500" dist="31750" dir="5400000">
              <a:srgbClr val="1B2A44">
                <a:alpha val="30000"/>
              </a:srgbClr>
            </a:outerShdw>
          </a:effectLst>
        </p:spPr>
      </p:sp>
      <p:sp>
        <p:nvSpPr>
          <p:cNvPr id="66" name="Shape 63"/>
          <p:cNvSpPr/>
          <p:nvPr/>
        </p:nvSpPr>
        <p:spPr>
          <a:xfrm>
            <a:off x="6272601" y="5806440"/>
            <a:ext cx="91440" cy="749808"/>
          </a:xfrm>
          <a:prstGeom prst="rect">
            <a:avLst/>
          </a:prstGeom>
          <a:solidFill>
            <a:srgbClr val="1E8A80"/>
          </a:solidFill>
          <a:ln/>
        </p:spPr>
      </p:sp>
      <p:sp>
        <p:nvSpPr>
          <p:cNvPr id="67" name="Text 64"/>
          <p:cNvSpPr/>
          <p:nvPr/>
        </p:nvSpPr>
        <p:spPr>
          <a:xfrm>
            <a:off x="6437193" y="5806440"/>
            <a:ext cx="777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600" dirty="0"/>
          </a:p>
        </p:txBody>
      </p:sp>
      <p:sp>
        <p:nvSpPr>
          <p:cNvPr id="68" name="Text 65"/>
          <p:cNvSpPr/>
          <p:nvPr/>
        </p:nvSpPr>
        <p:spPr>
          <a:xfrm>
            <a:off x="7205289" y="5806440"/>
            <a:ext cx="1600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integrados</a:t>
            </a:r>
            <a:endParaRPr lang="en-US" sz="1100" dirty="0"/>
          </a:p>
        </p:txBody>
      </p:sp>
      <p:sp>
        <p:nvSpPr>
          <p:cNvPr id="69" name="Shape 66"/>
          <p:cNvSpPr/>
          <p:nvPr/>
        </p:nvSpPr>
        <p:spPr>
          <a:xfrm>
            <a:off x="9232148" y="5806440"/>
            <a:ext cx="2606040" cy="749808"/>
          </a:xfrm>
          <a:prstGeom prst="roundRect">
            <a:avLst>
              <a:gd name="adj" fmla="val 12195"/>
            </a:avLst>
          </a:prstGeom>
          <a:solidFill>
            <a:srgbClr val="F4F6F9"/>
          </a:solidFill>
          <a:ln/>
          <a:effectLst>
            <a:outerShdw sx="100000" sy="100000" kx="0" ky="0" algn="bl" rotWithShape="0" blurRad="63500" dist="31750" dir="5400000">
              <a:srgbClr val="1B2A44">
                <a:alpha val="30000"/>
              </a:srgbClr>
            </a:outerShdw>
          </a:effectLst>
        </p:spPr>
      </p:sp>
      <p:sp>
        <p:nvSpPr>
          <p:cNvPr id="70" name="Shape 67"/>
          <p:cNvSpPr/>
          <p:nvPr/>
        </p:nvSpPr>
        <p:spPr>
          <a:xfrm>
            <a:off x="9232148" y="5806440"/>
            <a:ext cx="91440" cy="749808"/>
          </a:xfrm>
          <a:prstGeom prst="rect">
            <a:avLst/>
          </a:prstGeom>
          <a:solidFill>
            <a:srgbClr val="B23A2E"/>
          </a:solidFill>
          <a:ln/>
        </p:spPr>
      </p:sp>
      <p:sp>
        <p:nvSpPr>
          <p:cNvPr id="71" name="Text 68"/>
          <p:cNvSpPr/>
          <p:nvPr/>
        </p:nvSpPr>
        <p:spPr>
          <a:xfrm>
            <a:off x="9396740" y="5806440"/>
            <a:ext cx="777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72" name="Text 69"/>
          <p:cNvSpPr/>
          <p:nvPr/>
        </p:nvSpPr>
        <p:spPr>
          <a:xfrm>
            <a:off x="10164836" y="5806440"/>
            <a:ext cx="1600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possíveis encerramentos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Fluxo do Processo de Recrutamento e Seleção</dc:title>
  <dc:subject>PptxGenJS Presentation</dc:subject>
  <dc:creator>Déborah Giovana de Andrade Gonçalves</dc:creator>
  <cp:lastModifiedBy>Déborah Giovana de Andrade Gonçalves</cp:lastModifiedBy>
  <cp:revision>1</cp:revision>
  <dcterms:created xsi:type="dcterms:W3CDTF">2026-07-02T12:05:04Z</dcterms:created>
  <dcterms:modified xsi:type="dcterms:W3CDTF">2026-07-02T12:05:04Z</dcterms:modified>
</cp:coreProperties>
</file>