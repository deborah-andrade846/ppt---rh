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E1F5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-1463040"/>
            <a:ext cx="2743200" cy="2743200"/>
          </a:xfrm>
          <a:prstGeom prst="ellipse">
            <a:avLst/>
          </a:prstGeom>
          <a:solidFill>
            <a:srgbClr val="0D6665">
              <a:alpha val="5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097280" y="5394960"/>
            <a:ext cx="2377440" cy="2377440"/>
          </a:xfrm>
          <a:prstGeom prst="ellipse">
            <a:avLst/>
          </a:prstGeom>
          <a:solidFill>
            <a:srgbClr val="C0402F">
              <a:alpha val="4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57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HUMANOS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646920" y="548640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52176" y="548640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65208" y="1453896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52176" y="1444752"/>
            <a:ext cx="896112" cy="896112"/>
          </a:xfrm>
          <a:prstGeom prst="ellipse">
            <a:avLst/>
          </a:prstGeom>
          <a:ln w="12700">
            <a:solidFill>
              <a:srgbClr val="3E5C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43032" y="548640"/>
            <a:ext cx="0" cy="1801368"/>
          </a:xfrm>
          <a:prstGeom prst="line">
            <a:avLst/>
          </a:prstGeom>
          <a:noFill/>
          <a:ln w="12700">
            <a:solidFill>
              <a:srgbClr val="3E5C8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56064" y="1435608"/>
            <a:ext cx="1801368" cy="0"/>
          </a:xfrm>
          <a:prstGeom prst="line">
            <a:avLst/>
          </a:prstGeom>
          <a:noFill/>
          <a:ln w="12700">
            <a:solidFill>
              <a:srgbClr val="3E5C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15016" y="146304"/>
            <a:ext cx="256032" cy="256032"/>
          </a:xfrm>
          <a:prstGeom prst="ellipse">
            <a:avLst/>
          </a:prstGeom>
          <a:solidFill>
            <a:srgbClr val="E45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32720" y="35661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E45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9473184" y="1069848"/>
            <a:ext cx="256032" cy="256032"/>
          </a:xfrm>
          <a:prstGeom prst="ellipse">
            <a:avLst/>
          </a:prstGeom>
          <a:solidFill>
            <a:srgbClr val="009999"/>
          </a:solidFill>
          <a:ln/>
        </p:spPr>
      </p:sp>
      <p:sp>
        <p:nvSpPr>
          <p:cNvPr id="16" name="Shape 14"/>
          <p:cNvSpPr/>
          <p:nvPr/>
        </p:nvSpPr>
        <p:spPr>
          <a:xfrm>
            <a:off x="9381744" y="131673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0099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512296" y="1069848"/>
            <a:ext cx="256032" cy="256032"/>
          </a:xfrm>
          <a:prstGeom prst="ellipse">
            <a:avLst/>
          </a:prstGeom>
          <a:solidFill>
            <a:srgbClr val="009999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30000" y="131673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00999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15016" y="2103120"/>
            <a:ext cx="256032" cy="256032"/>
          </a:xfrm>
          <a:prstGeom prst="ellipse">
            <a:avLst/>
          </a:prstGeom>
          <a:solidFill>
            <a:srgbClr val="E45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0341864" y="2322576"/>
            <a:ext cx="429768" cy="256032"/>
          </a:xfrm>
          <a:prstGeom prst="roundRect">
            <a:avLst>
              <a:gd name="adj" fmla="val 46429"/>
            </a:avLst>
          </a:prstGeom>
          <a:solidFill>
            <a:srgbClr val="E45D4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0" y="2011680"/>
            <a:ext cx="630936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Processo de</a:t>
            </a:r>
            <a:endParaRPr lang="en-US" sz="33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 e Seleção</a:t>
            </a:r>
            <a:endParaRPr lang="en-US" sz="3300" dirty="0"/>
          </a:p>
        </p:txBody>
      </p:sp>
      <p:sp>
        <p:nvSpPr>
          <p:cNvPr id="22" name="Shape 20"/>
          <p:cNvSpPr/>
          <p:nvPr/>
        </p:nvSpPr>
        <p:spPr>
          <a:xfrm>
            <a:off x="5532120" y="3858768"/>
            <a:ext cx="1554480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041648"/>
            <a:ext cx="6126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Etapas, aprovações, sistemas utilizados e pontos de decisão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 ·  Processo de R&amp;S</a:t>
            </a:r>
            <a:endParaRPr lang="en-US" sz="1000" dirty="0"/>
          </a:p>
        </p:txBody>
      </p:sp>
      <p:pic>
        <p:nvPicPr>
          <p:cNvPr id="25" name="Image 0" descr="/home/user/PPT---RH/rh/aura_logo_t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5806440"/>
            <a:ext cx="1234440" cy="7223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Completo do Processo de Recrutamento e Seleção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executivo</a:t>
            </a:r>
            <a:endParaRPr lang="en-US" sz="1100" dirty="0"/>
          </a:p>
        </p:txBody>
      </p:sp>
      <p:pic>
        <p:nvPicPr>
          <p:cNvPr id="6" name="Image 0" descr="/home/user/PPT---RH/rh/aura_logo_t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025896"/>
            <a:ext cx="1234440" cy="7223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005840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1480" y="1005840"/>
            <a:ext cx="91440" cy="822960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9" name="Shape 6"/>
          <p:cNvSpPr/>
          <p:nvPr/>
        </p:nvSpPr>
        <p:spPr>
          <a:xfrm>
            <a:off x="594360" y="112471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436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69848" y="1033272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 de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Portal de Serviços (HUB RH)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 abertura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· Centro de custo · Escopo · Contratação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11480" y="19933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11480" y="1993392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2112264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9436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69848" y="20208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Quintas-feiras · permanência de 7 dias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Vagas · Aura Comunica (sexta)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1148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944368"/>
            <a:ext cx="91440" cy="731520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3063240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9436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6984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de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técnica dos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 com os requisitos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candidatos aderentes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1480" y="384048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11480" y="3840480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24" name="Shape 21"/>
          <p:cNvSpPr/>
          <p:nvPr/>
        </p:nvSpPr>
        <p:spPr>
          <a:xfrm>
            <a:off x="594360" y="395935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9436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69848" y="386791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RH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comportamental · histórico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· alinhamento cultural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Pretensão salarial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1805940" y="1828800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805940" y="2779776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1805940" y="3675888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805940" y="4626864"/>
            <a:ext cx="0" cy="64008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1097280" y="4686300"/>
            <a:ext cx="1417320" cy="777240"/>
          </a:xfrm>
          <a:prstGeom prst="diamond">
            <a:avLst/>
          </a:prstGeom>
          <a:solidFill>
            <a:srgbClr val="E45D4A"/>
          </a:solidFill>
          <a:ln w="12700">
            <a:solidFill>
              <a:srgbClr val="C0402F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1097280" y="46863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93192" y="47823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 flipH="1">
            <a:off x="640080" y="5074920"/>
            <a:ext cx="452628" cy="0"/>
          </a:xfrm>
          <a:prstGeom prst="line">
            <a:avLst/>
          </a:prstGeom>
          <a:noFill/>
          <a:ln w="19050">
            <a:solidFill>
              <a:srgbClr val="B23A2E"/>
            </a:solidFill>
            <a:prstDash val="solid"/>
            <a:headEnd type="none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91440" y="5349240"/>
            <a:ext cx="1417320" cy="384048"/>
          </a:xfrm>
          <a:prstGeom prst="roundRect">
            <a:avLst>
              <a:gd name="adj" fmla="val 28571"/>
            </a:avLst>
          </a:prstGeom>
          <a:solidFill>
            <a:srgbClr val="F3DBD7"/>
          </a:solidFill>
          <a:ln w="12700">
            <a:solidFill>
              <a:srgbClr val="B23A2E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91440" y="5349240"/>
            <a:ext cx="14173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Reprovado · processo encerrado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640080" y="5093208"/>
            <a:ext cx="155448" cy="256032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none"/>
          </a:ln>
        </p:spPr>
      </p:sp>
      <p:sp>
        <p:nvSpPr>
          <p:cNvPr id="38" name="Text 35"/>
          <p:cNvSpPr/>
          <p:nvPr/>
        </p:nvSpPr>
        <p:spPr>
          <a:xfrm>
            <a:off x="2189988" y="50566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611880" y="1005840"/>
            <a:ext cx="1874520" cy="402336"/>
          </a:xfrm>
          <a:prstGeom prst="roundRect">
            <a:avLst>
              <a:gd name="adj" fmla="val 22727"/>
            </a:avLst>
          </a:prstGeom>
          <a:solidFill>
            <a:srgbClr val="1E8A8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3611880" y="10058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Patrimonial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3611880" y="1426464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paralelo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3611880" y="1755648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3611880" y="1755648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de Forms</a:t>
            </a:r>
            <a:endParaRPr lang="en-US" sz="870" dirty="0"/>
          </a:p>
        </p:txBody>
      </p:sp>
      <p:sp>
        <p:nvSpPr>
          <p:cNvPr id="44" name="Shape 41"/>
          <p:cNvSpPr/>
          <p:nvPr/>
        </p:nvSpPr>
        <p:spPr>
          <a:xfrm>
            <a:off x="3611880" y="2340864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3611880" y="2340864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Preenchimento pelo candidato</a:t>
            </a:r>
            <a:endParaRPr lang="en-US" sz="870" dirty="0"/>
          </a:p>
        </p:txBody>
      </p:sp>
      <p:sp>
        <p:nvSpPr>
          <p:cNvPr id="46" name="Shape 43"/>
          <p:cNvSpPr/>
          <p:nvPr/>
        </p:nvSpPr>
        <p:spPr>
          <a:xfrm>
            <a:off x="3611880" y="2926080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3611880" y="2926080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patrimonial</a:t>
            </a:r>
            <a:endParaRPr lang="en-US" sz="870" dirty="0"/>
          </a:p>
        </p:txBody>
      </p:sp>
      <p:sp>
        <p:nvSpPr>
          <p:cNvPr id="48" name="Shape 45"/>
          <p:cNvSpPr/>
          <p:nvPr/>
        </p:nvSpPr>
        <p:spPr>
          <a:xfrm>
            <a:off x="4549140" y="1645920"/>
            <a:ext cx="0" cy="109728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4549140" y="2176272"/>
            <a:ext cx="0" cy="164592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4549140" y="2761488"/>
            <a:ext cx="0" cy="164592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51" name="Shape 48"/>
          <p:cNvSpPr/>
          <p:nvPr/>
        </p:nvSpPr>
        <p:spPr>
          <a:xfrm>
            <a:off x="4549140" y="3346704"/>
            <a:ext cx="0" cy="155448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52" name="Shape 49"/>
          <p:cNvSpPr/>
          <p:nvPr/>
        </p:nvSpPr>
        <p:spPr>
          <a:xfrm>
            <a:off x="3840480" y="3511296"/>
            <a:ext cx="1417320" cy="749808"/>
          </a:xfrm>
          <a:prstGeom prst="diamond">
            <a:avLst/>
          </a:prstGeom>
          <a:solidFill>
            <a:srgbClr val="D8ECE9"/>
          </a:solidFill>
          <a:ln w="12700">
            <a:solidFill>
              <a:srgbClr val="1E8A8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3840480" y="3511296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091940" y="427024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549140" y="4261104"/>
            <a:ext cx="0" cy="192024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3611880" y="4453128"/>
            <a:ext cx="1874520" cy="384048"/>
          </a:xfrm>
          <a:prstGeom prst="roundRect">
            <a:avLst>
              <a:gd name="adj" fmla="val 28571"/>
            </a:avLst>
          </a:prstGeom>
          <a:solidFill>
            <a:srgbClr val="F3DBD7"/>
          </a:solidFill>
          <a:ln w="12700">
            <a:solidFill>
              <a:srgbClr val="B23A2E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3611880" y="4453128"/>
            <a:ext cx="18745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· processo encerrado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2519172" y="5074920"/>
            <a:ext cx="882396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59" name="Shape 56"/>
          <p:cNvSpPr/>
          <p:nvPr/>
        </p:nvSpPr>
        <p:spPr>
          <a:xfrm flipV="1">
            <a:off x="3401568" y="1207008"/>
            <a:ext cx="0" cy="3867912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60" name="Shape 57"/>
          <p:cNvSpPr/>
          <p:nvPr/>
        </p:nvSpPr>
        <p:spPr>
          <a:xfrm>
            <a:off x="3401568" y="1207008"/>
            <a:ext cx="210312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61" name="Text 58"/>
          <p:cNvSpPr/>
          <p:nvPr/>
        </p:nvSpPr>
        <p:spPr>
          <a:xfrm>
            <a:off x="5097780" y="36118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5806440" y="100584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806440" y="1005840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64" name="Shape 61"/>
          <p:cNvSpPr/>
          <p:nvPr/>
        </p:nvSpPr>
        <p:spPr>
          <a:xfrm>
            <a:off x="5989320" y="112471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598932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6464808" y="103327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com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técnico · experiência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· fit com a equipe</a:t>
            </a:r>
            <a:endParaRPr lang="en-US" sz="1150" dirty="0"/>
          </a:p>
        </p:txBody>
      </p:sp>
      <p:sp>
        <p:nvSpPr>
          <p:cNvPr id="67" name="Shape 64"/>
          <p:cNvSpPr/>
          <p:nvPr/>
        </p:nvSpPr>
        <p:spPr>
          <a:xfrm>
            <a:off x="5262372" y="3886200"/>
            <a:ext cx="333756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68" name="Shape 65"/>
          <p:cNvSpPr/>
          <p:nvPr/>
        </p:nvSpPr>
        <p:spPr>
          <a:xfrm flipV="1">
            <a:off x="5596128" y="1399032"/>
            <a:ext cx="0" cy="2487168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none"/>
          </a:ln>
        </p:spPr>
      </p:sp>
      <p:sp>
        <p:nvSpPr>
          <p:cNvPr id="69" name="Shape 66"/>
          <p:cNvSpPr/>
          <p:nvPr/>
        </p:nvSpPr>
        <p:spPr>
          <a:xfrm>
            <a:off x="5596128" y="1399032"/>
            <a:ext cx="210312" cy="0"/>
          </a:xfrm>
          <a:prstGeom prst="line">
            <a:avLst/>
          </a:prstGeom>
          <a:noFill/>
          <a:ln w="2032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70" name="Shape 67"/>
          <p:cNvSpPr/>
          <p:nvPr/>
        </p:nvSpPr>
        <p:spPr>
          <a:xfrm>
            <a:off x="7200900" y="1792224"/>
            <a:ext cx="0" cy="164592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6423660" y="1956816"/>
            <a:ext cx="1554480" cy="749808"/>
          </a:xfrm>
          <a:prstGeom prst="diamond">
            <a:avLst/>
          </a:prstGeom>
          <a:solidFill>
            <a:srgbClr val="E45D4A"/>
          </a:solidFill>
          <a:ln w="12700">
            <a:solidFill>
              <a:srgbClr val="C0402F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2" name="Text 69"/>
          <p:cNvSpPr/>
          <p:nvPr/>
        </p:nvSpPr>
        <p:spPr>
          <a:xfrm>
            <a:off x="6423660" y="195681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Finalista?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240780" y="23134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 flipH="1">
            <a:off x="5742432" y="2331720"/>
            <a:ext cx="681228" cy="0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none"/>
          </a:ln>
        </p:spPr>
      </p:sp>
      <p:sp>
        <p:nvSpPr>
          <p:cNvPr id="75" name="Shape 72"/>
          <p:cNvSpPr/>
          <p:nvPr/>
        </p:nvSpPr>
        <p:spPr>
          <a:xfrm>
            <a:off x="5742432" y="2331720"/>
            <a:ext cx="0" cy="3685032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none"/>
          </a:ln>
        </p:spPr>
      </p:sp>
      <p:sp>
        <p:nvSpPr>
          <p:cNvPr id="76" name="Shape 73"/>
          <p:cNvSpPr/>
          <p:nvPr/>
        </p:nvSpPr>
        <p:spPr>
          <a:xfrm>
            <a:off x="5742432" y="6016752"/>
            <a:ext cx="310896" cy="0"/>
          </a:xfrm>
          <a:prstGeom prst="line">
            <a:avLst/>
          </a:prstGeom>
          <a:noFill/>
          <a:ln w="17780">
            <a:solidFill>
              <a:srgbClr val="B23A2E"/>
            </a:solidFill>
            <a:prstDash val="solid"/>
            <a:headEnd type="none"/>
            <a:tailEnd type="triangle"/>
          </a:ln>
        </p:spPr>
      </p:sp>
      <p:sp>
        <p:nvSpPr>
          <p:cNvPr id="77" name="Shape 74"/>
          <p:cNvSpPr/>
          <p:nvPr/>
        </p:nvSpPr>
        <p:spPr>
          <a:xfrm>
            <a:off x="6053328" y="5760720"/>
            <a:ext cx="2542032" cy="512064"/>
          </a:xfrm>
          <a:prstGeom prst="roundRect">
            <a:avLst>
              <a:gd name="adj" fmla="val 17857"/>
            </a:avLst>
          </a:prstGeom>
          <a:solidFill>
            <a:srgbClr val="F3DBD7"/>
          </a:solidFill>
          <a:ln w="12700">
            <a:solidFill>
              <a:srgbClr val="B23A2E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8" name="Text 75"/>
          <p:cNvSpPr/>
          <p:nvPr/>
        </p:nvSpPr>
        <p:spPr>
          <a:xfrm>
            <a:off x="6053328" y="5760720"/>
            <a:ext cx="2542032" cy="5120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finalista  →  retorna à nova triagem ou nova publicação da vaga</a:t>
            </a:r>
            <a:endParaRPr lang="en-US" sz="800" dirty="0"/>
          </a:p>
        </p:txBody>
      </p:sp>
      <p:sp>
        <p:nvSpPr>
          <p:cNvPr id="79" name="Text 76"/>
          <p:cNvSpPr/>
          <p:nvPr/>
        </p:nvSpPr>
        <p:spPr>
          <a:xfrm>
            <a:off x="7292340" y="27157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580644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1" name="Shape 78"/>
          <p:cNvSpPr/>
          <p:nvPr/>
        </p:nvSpPr>
        <p:spPr>
          <a:xfrm>
            <a:off x="5806440" y="2944368"/>
            <a:ext cx="91440" cy="731520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82" name="Shape 79"/>
          <p:cNvSpPr/>
          <p:nvPr/>
        </p:nvSpPr>
        <p:spPr>
          <a:xfrm>
            <a:off x="5989320" y="3063240"/>
            <a:ext cx="402336" cy="402336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3" name="Text 80"/>
          <p:cNvSpPr/>
          <p:nvPr/>
        </p:nvSpPr>
        <p:spPr>
          <a:xfrm>
            <a:off x="598932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84" name="Text 81"/>
          <p:cNvSpPr/>
          <p:nvPr/>
        </p:nvSpPr>
        <p:spPr>
          <a:xfrm>
            <a:off x="646480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RH Custos  ·  Aprovação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oferta ao candidato</a:t>
            </a:r>
            <a:endParaRPr lang="en-US" sz="1150" dirty="0"/>
          </a:p>
        </p:txBody>
      </p:sp>
      <p:sp>
        <p:nvSpPr>
          <p:cNvPr id="85" name="Shape 82"/>
          <p:cNvSpPr/>
          <p:nvPr/>
        </p:nvSpPr>
        <p:spPr>
          <a:xfrm>
            <a:off x="7200900" y="2706624"/>
            <a:ext cx="0" cy="237744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86" name="Shape 83"/>
          <p:cNvSpPr/>
          <p:nvPr/>
        </p:nvSpPr>
        <p:spPr>
          <a:xfrm>
            <a:off x="5806440" y="38221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7" name="Shape 84"/>
          <p:cNvSpPr/>
          <p:nvPr/>
        </p:nvSpPr>
        <p:spPr>
          <a:xfrm>
            <a:off x="5806440" y="3822192"/>
            <a:ext cx="91440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88" name="Shape 85"/>
          <p:cNvSpPr/>
          <p:nvPr/>
        </p:nvSpPr>
        <p:spPr>
          <a:xfrm>
            <a:off x="5989320" y="3941064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9" name="Text 86"/>
          <p:cNvSpPr/>
          <p:nvPr/>
        </p:nvSpPr>
        <p:spPr>
          <a:xfrm>
            <a:off x="598932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90" name="Text 87"/>
          <p:cNvSpPr/>
          <p:nvPr/>
        </p:nvSpPr>
        <p:spPr>
          <a:xfrm>
            <a:off x="6464808" y="38496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&amp; Assinatura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por e-mail da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eletrônica via GOV.BR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candidato</a:t>
            </a:r>
            <a:endParaRPr lang="en-US" sz="1150" dirty="0"/>
          </a:p>
        </p:txBody>
      </p:sp>
      <p:sp>
        <p:nvSpPr>
          <p:cNvPr id="91" name="Shape 88"/>
          <p:cNvSpPr/>
          <p:nvPr/>
        </p:nvSpPr>
        <p:spPr>
          <a:xfrm>
            <a:off x="7200900" y="3675888"/>
            <a:ext cx="0" cy="146304"/>
          </a:xfrm>
          <a:prstGeom prst="line">
            <a:avLst/>
          </a:prstGeom>
          <a:noFill/>
          <a:ln w="22860">
            <a:solidFill>
              <a:srgbClr val="34528A"/>
            </a:solidFill>
            <a:prstDash val="solid"/>
            <a:headEnd type="none"/>
            <a:tailEnd type="triangle"/>
          </a:ln>
        </p:spPr>
      </p:sp>
      <p:sp>
        <p:nvSpPr>
          <p:cNvPr id="92" name="Shape 89"/>
          <p:cNvSpPr/>
          <p:nvPr/>
        </p:nvSpPr>
        <p:spPr>
          <a:xfrm>
            <a:off x="5806440" y="4773168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DCEEEA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3" name="Shape 90"/>
          <p:cNvSpPr/>
          <p:nvPr/>
        </p:nvSpPr>
        <p:spPr>
          <a:xfrm>
            <a:off x="5806440" y="4773168"/>
            <a:ext cx="91440" cy="822960"/>
          </a:xfrm>
          <a:prstGeom prst="rect">
            <a:avLst/>
          </a:prstGeom>
          <a:solidFill>
            <a:srgbClr val="1E8A80"/>
          </a:solidFill>
          <a:ln/>
        </p:spPr>
      </p:sp>
      <p:sp>
        <p:nvSpPr>
          <p:cNvPr id="94" name="Shape 91"/>
          <p:cNvSpPr/>
          <p:nvPr/>
        </p:nvSpPr>
        <p:spPr>
          <a:xfrm>
            <a:off x="5989320" y="4892040"/>
            <a:ext cx="402336" cy="402336"/>
          </a:xfrm>
          <a:prstGeom prst="ellipse">
            <a:avLst/>
          </a:prstGeom>
          <a:solidFill>
            <a:srgbClr val="1E8A8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5" name="Text 92"/>
          <p:cNvSpPr/>
          <p:nvPr/>
        </p:nvSpPr>
        <p:spPr>
          <a:xfrm>
            <a:off x="598932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6" name="Text 93"/>
          <p:cNvSpPr/>
          <p:nvPr/>
        </p:nvSpPr>
        <p:spPr>
          <a:xfrm>
            <a:off x="6464808" y="4800600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Concluída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 novo colaborador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à equipe e à empresa</a:t>
            </a:r>
            <a:endParaRPr lang="en-US" sz="1150" dirty="0"/>
          </a:p>
        </p:txBody>
      </p:sp>
      <p:sp>
        <p:nvSpPr>
          <p:cNvPr id="97" name="Shape 94"/>
          <p:cNvSpPr/>
          <p:nvPr/>
        </p:nvSpPr>
        <p:spPr>
          <a:xfrm>
            <a:off x="7200900" y="4608576"/>
            <a:ext cx="0" cy="164592"/>
          </a:xfrm>
          <a:prstGeom prst="line">
            <a:avLst/>
          </a:prstGeom>
          <a:noFill/>
          <a:ln w="22860">
            <a:solidFill>
              <a:srgbClr val="1E8A80"/>
            </a:solidFill>
            <a:prstDash val="solid"/>
            <a:headEnd type="none"/>
            <a:tailEnd type="triangle"/>
          </a:ln>
        </p:spPr>
      </p:sp>
      <p:sp>
        <p:nvSpPr>
          <p:cNvPr id="98" name="Shape 95"/>
          <p:cNvSpPr/>
          <p:nvPr/>
        </p:nvSpPr>
        <p:spPr>
          <a:xfrm>
            <a:off x="8887968" y="1005840"/>
            <a:ext cx="303580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9" name="Shape 96"/>
          <p:cNvSpPr/>
          <p:nvPr/>
        </p:nvSpPr>
        <p:spPr>
          <a:xfrm>
            <a:off x="8887968" y="1005840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22346B"/>
          </a:solidFill>
          <a:ln/>
        </p:spPr>
      </p:sp>
      <p:sp>
        <p:nvSpPr>
          <p:cNvPr id="100" name="Shape 97"/>
          <p:cNvSpPr/>
          <p:nvPr/>
        </p:nvSpPr>
        <p:spPr>
          <a:xfrm>
            <a:off x="8887968" y="1207008"/>
            <a:ext cx="3035808" cy="182880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01" name="Shape 98"/>
          <p:cNvSpPr/>
          <p:nvPr/>
        </p:nvSpPr>
        <p:spPr>
          <a:xfrm>
            <a:off x="8887968" y="1005840"/>
            <a:ext cx="73152" cy="36576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02" name="Text 99"/>
          <p:cNvSpPr/>
          <p:nvPr/>
        </p:nvSpPr>
        <p:spPr>
          <a:xfrm>
            <a:off x="8933688" y="1005840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UTILIZADOS</a:t>
            </a:r>
            <a:endParaRPr lang="en-US" sz="1050" dirty="0"/>
          </a:p>
        </p:txBody>
      </p:sp>
      <p:sp>
        <p:nvSpPr>
          <p:cNvPr id="103" name="Text 100"/>
          <p:cNvSpPr/>
          <p:nvPr/>
        </p:nvSpPr>
        <p:spPr>
          <a:xfrm>
            <a:off x="9015984" y="1444752"/>
            <a:ext cx="28163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Portal de Serviços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Teams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Outlook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Pandapé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Microsoft Forms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GOV.BR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Aura Comunica</a:t>
            </a:r>
            <a:endParaRPr lang="en-US" sz="840" dirty="0"/>
          </a:p>
        </p:txBody>
      </p:sp>
      <p:sp>
        <p:nvSpPr>
          <p:cNvPr id="104" name="Shape 101"/>
          <p:cNvSpPr/>
          <p:nvPr/>
        </p:nvSpPr>
        <p:spPr>
          <a:xfrm>
            <a:off x="8887968" y="2962656"/>
            <a:ext cx="303580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5" name="Shape 102"/>
          <p:cNvSpPr/>
          <p:nvPr/>
        </p:nvSpPr>
        <p:spPr>
          <a:xfrm>
            <a:off x="8887968" y="29626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E45D4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887968" y="3163824"/>
            <a:ext cx="3035808" cy="18288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887968" y="2962656"/>
            <a:ext cx="73152" cy="36576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08" name="Text 105"/>
          <p:cNvSpPr/>
          <p:nvPr/>
        </p:nvSpPr>
        <p:spPr>
          <a:xfrm>
            <a:off x="8933688" y="29626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050" dirty="0"/>
          </a:p>
        </p:txBody>
      </p:sp>
      <p:sp>
        <p:nvSpPr>
          <p:cNvPr id="109" name="Text 106"/>
          <p:cNvSpPr/>
          <p:nvPr/>
        </p:nvSpPr>
        <p:spPr>
          <a:xfrm>
            <a:off x="9015984" y="3401568"/>
            <a:ext cx="2816352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da Requisição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RH Custos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Aceite da Proposta</a:t>
            </a:r>
            <a:endParaRPr lang="en-US" sz="840" dirty="0"/>
          </a:p>
        </p:txBody>
      </p:sp>
      <p:sp>
        <p:nvSpPr>
          <p:cNvPr id="110" name="Shape 107"/>
          <p:cNvSpPr/>
          <p:nvPr/>
        </p:nvSpPr>
        <p:spPr>
          <a:xfrm>
            <a:off x="8887968" y="4791456"/>
            <a:ext cx="3035808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11" name="Shape 108"/>
          <p:cNvSpPr/>
          <p:nvPr/>
        </p:nvSpPr>
        <p:spPr>
          <a:xfrm>
            <a:off x="8887968" y="47914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B23A2E"/>
          </a:solidFill>
          <a:ln/>
        </p:spPr>
      </p:sp>
      <p:sp>
        <p:nvSpPr>
          <p:cNvPr id="112" name="Shape 109"/>
          <p:cNvSpPr/>
          <p:nvPr/>
        </p:nvSpPr>
        <p:spPr>
          <a:xfrm>
            <a:off x="8887968" y="4992624"/>
            <a:ext cx="3035808" cy="182880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887968" y="4791456"/>
            <a:ext cx="73152" cy="365760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14" name="Text 111"/>
          <p:cNvSpPr/>
          <p:nvPr/>
        </p:nvSpPr>
        <p:spPr>
          <a:xfrm>
            <a:off x="8933688" y="47914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050" dirty="0"/>
          </a:p>
        </p:txBody>
      </p:sp>
      <p:sp>
        <p:nvSpPr>
          <p:cNvPr id="115" name="Text 112"/>
          <p:cNvSpPr/>
          <p:nvPr/>
        </p:nvSpPr>
        <p:spPr>
          <a:xfrm>
            <a:off x="9015984" y="5230368"/>
            <a:ext cx="2816352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na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Restrição na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pelo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Recusa da Proposta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Reabertura da vaga</a:t>
            </a:r>
            <a:endParaRPr lang="en-US" sz="840" dirty="0"/>
          </a:p>
        </p:txBody>
      </p:sp>
      <p:sp>
        <p:nvSpPr>
          <p:cNvPr id="116" name="Text 113"/>
          <p:cNvSpPr/>
          <p:nvPr/>
        </p:nvSpPr>
        <p:spPr>
          <a:xfrm>
            <a:off x="411480" y="6455664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Legenda:</a:t>
            </a:r>
            <a:endParaRPr lang="en-US" sz="850" dirty="0"/>
          </a:p>
        </p:txBody>
      </p:sp>
      <p:sp>
        <p:nvSpPr>
          <p:cNvPr id="117" name="Shape 114"/>
          <p:cNvSpPr/>
          <p:nvPr/>
        </p:nvSpPr>
        <p:spPr>
          <a:xfrm>
            <a:off x="134416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22346B"/>
          </a:solidFill>
          <a:ln/>
        </p:spPr>
      </p:sp>
      <p:sp>
        <p:nvSpPr>
          <p:cNvPr id="118" name="Text 115"/>
          <p:cNvSpPr/>
          <p:nvPr/>
        </p:nvSpPr>
        <p:spPr>
          <a:xfrm>
            <a:off x="162763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800" dirty="0"/>
          </a:p>
        </p:txBody>
      </p:sp>
      <p:sp>
        <p:nvSpPr>
          <p:cNvPr id="119" name="Shape 116"/>
          <p:cNvSpPr/>
          <p:nvPr/>
        </p:nvSpPr>
        <p:spPr>
          <a:xfrm>
            <a:off x="3127248" y="6510528"/>
            <a:ext cx="237744" cy="201168"/>
          </a:xfrm>
          <a:prstGeom prst="diamond">
            <a:avLst/>
          </a:prstGeom>
          <a:solidFill>
            <a:srgbClr val="E45D4A"/>
          </a:solidFill>
          <a:ln/>
        </p:spPr>
      </p:sp>
      <p:sp>
        <p:nvSpPr>
          <p:cNvPr id="120" name="Text 117"/>
          <p:cNvSpPr/>
          <p:nvPr/>
        </p:nvSpPr>
        <p:spPr>
          <a:xfrm>
            <a:off x="34107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800" dirty="0"/>
          </a:p>
        </p:txBody>
      </p:sp>
      <p:sp>
        <p:nvSpPr>
          <p:cNvPr id="121" name="Shape 118"/>
          <p:cNvSpPr/>
          <p:nvPr/>
        </p:nvSpPr>
        <p:spPr>
          <a:xfrm>
            <a:off x="491032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F3DBD7"/>
          </a:solidFill>
          <a:ln/>
        </p:spPr>
      </p:sp>
      <p:sp>
        <p:nvSpPr>
          <p:cNvPr id="122" name="Text 119"/>
          <p:cNvSpPr/>
          <p:nvPr/>
        </p:nvSpPr>
        <p:spPr>
          <a:xfrm>
            <a:off x="519379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678484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DCEEEA"/>
          </a:solidFill>
          <a:ln/>
        </p:spPr>
      </p:sp>
      <p:sp>
        <p:nvSpPr>
          <p:cNvPr id="124" name="Text 121"/>
          <p:cNvSpPr/>
          <p:nvPr/>
        </p:nvSpPr>
        <p:spPr>
          <a:xfrm>
            <a:off x="70683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do Processo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— 8 etapas</a:t>
            </a:r>
            <a:endParaRPr lang="en-US" sz="1100" dirty="0"/>
          </a:p>
        </p:txBody>
      </p:sp>
      <p:pic>
        <p:nvPicPr>
          <p:cNvPr id="6" name="Image 0" descr="/home/user/PPT---RH/rh/aura_logo_t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868680"/>
            <a:ext cx="1234440" cy="7223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3493008"/>
            <a:ext cx="10469880" cy="54864"/>
          </a:xfrm>
          <a:prstGeom prst="rect">
            <a:avLst/>
          </a:prstGeom>
          <a:solidFill>
            <a:srgbClr val="D7DCE4"/>
          </a:solidFill>
          <a:ln/>
        </p:spPr>
      </p:sp>
      <p:sp>
        <p:nvSpPr>
          <p:cNvPr id="8" name="Shape 5"/>
          <p:cNvSpPr/>
          <p:nvPr/>
        </p:nvSpPr>
        <p:spPr>
          <a:xfrm flipV="1">
            <a:off x="868680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9" name="Shape 6"/>
          <p:cNvSpPr/>
          <p:nvPr/>
        </p:nvSpPr>
        <p:spPr>
          <a:xfrm>
            <a:off x="219456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19456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11" name="Text 8"/>
          <p:cNvSpPr/>
          <p:nvPr/>
        </p:nvSpPr>
        <p:spPr>
          <a:xfrm>
            <a:off x="274320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da vaga pelo gestor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1264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364377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15" name="Shape 12"/>
          <p:cNvSpPr/>
          <p:nvPr/>
        </p:nvSpPr>
        <p:spPr>
          <a:xfrm>
            <a:off x="1715153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715153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17" name="Text 14"/>
          <p:cNvSpPr/>
          <p:nvPr/>
        </p:nvSpPr>
        <p:spPr>
          <a:xfrm>
            <a:off x="1770017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108345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108345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 flipV="1">
            <a:off x="3860074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3210850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10850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23" name="Text 20"/>
          <p:cNvSpPr/>
          <p:nvPr/>
        </p:nvSpPr>
        <p:spPr>
          <a:xfrm>
            <a:off x="3265714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currículos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604042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3604042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355771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27" name="Shape 24"/>
          <p:cNvSpPr/>
          <p:nvPr/>
        </p:nvSpPr>
        <p:spPr>
          <a:xfrm>
            <a:off x="4706547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706547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29" name="Text 26"/>
          <p:cNvSpPr/>
          <p:nvPr/>
        </p:nvSpPr>
        <p:spPr>
          <a:xfrm>
            <a:off x="4761411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e gestor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99739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5099739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 flipV="1">
            <a:off x="6851469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33" name="Shape 30"/>
          <p:cNvSpPr/>
          <p:nvPr/>
        </p:nvSpPr>
        <p:spPr>
          <a:xfrm>
            <a:off x="6202245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202245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5" name="Text 32"/>
          <p:cNvSpPr/>
          <p:nvPr/>
        </p:nvSpPr>
        <p:spPr>
          <a:xfrm>
            <a:off x="6257109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e validações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595437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595437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347166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39" name="Shape 36"/>
          <p:cNvSpPr/>
          <p:nvPr/>
        </p:nvSpPr>
        <p:spPr>
          <a:xfrm>
            <a:off x="7697942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697942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41" name="Text 38"/>
          <p:cNvSpPr/>
          <p:nvPr/>
        </p:nvSpPr>
        <p:spPr>
          <a:xfrm>
            <a:off x="7752806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 negociação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8091134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8091134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 flipV="1">
            <a:off x="9842863" y="3017520"/>
            <a:ext cx="0" cy="182880"/>
          </a:xfrm>
          <a:prstGeom prst="line">
            <a:avLst/>
          </a:prstGeom>
          <a:noFill/>
          <a:ln w="17780">
            <a:solidFill>
              <a:srgbClr val="22346B"/>
            </a:solidFill>
            <a:prstDash val="solid"/>
            <a:headEnd type="none"/>
            <a:tailEnd type="none"/>
          </a:ln>
        </p:spPr>
      </p:sp>
      <p:sp>
        <p:nvSpPr>
          <p:cNvPr id="45" name="Shape 42"/>
          <p:cNvSpPr/>
          <p:nvPr/>
        </p:nvSpPr>
        <p:spPr>
          <a:xfrm>
            <a:off x="9193639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193639" y="1810512"/>
            <a:ext cx="1298448" cy="82296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47" name="Text 44"/>
          <p:cNvSpPr/>
          <p:nvPr/>
        </p:nvSpPr>
        <p:spPr>
          <a:xfrm>
            <a:off x="9248503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via GOV.BR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9586831" y="3264408"/>
            <a:ext cx="512064" cy="512064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9586831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11338560" y="3840480"/>
            <a:ext cx="0" cy="182880"/>
          </a:xfrm>
          <a:prstGeom prst="line">
            <a:avLst/>
          </a:prstGeom>
          <a:noFill/>
          <a:ln w="17780">
            <a:solidFill>
              <a:srgbClr val="C0402F"/>
            </a:solidFill>
            <a:prstDash val="solid"/>
            <a:headEnd type="none"/>
            <a:tailEnd type="none"/>
          </a:ln>
        </p:spPr>
      </p:sp>
      <p:sp>
        <p:nvSpPr>
          <p:cNvPr id="51" name="Shape 48"/>
          <p:cNvSpPr/>
          <p:nvPr/>
        </p:nvSpPr>
        <p:spPr>
          <a:xfrm>
            <a:off x="10689336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10689336" y="4023360"/>
            <a:ext cx="1298448" cy="82296"/>
          </a:xfrm>
          <a:prstGeom prst="rect">
            <a:avLst/>
          </a:prstGeom>
          <a:solidFill>
            <a:srgbClr val="C0402F"/>
          </a:solidFill>
          <a:ln/>
        </p:spPr>
      </p:sp>
      <p:sp>
        <p:nvSpPr>
          <p:cNvPr id="53" name="Text 50"/>
          <p:cNvSpPr/>
          <p:nvPr/>
        </p:nvSpPr>
        <p:spPr>
          <a:xfrm>
            <a:off x="10744200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do colaborador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11082528" y="3264408"/>
            <a:ext cx="512064" cy="512064"/>
          </a:xfrm>
          <a:prstGeom prst="ellipse">
            <a:avLst/>
          </a:prstGeom>
          <a:solidFill>
            <a:srgbClr val="C0402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1108252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56" name="Text 53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à integração — um fluxo estruturado, auditável e orientado a decisões.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353507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353507" y="5806440"/>
            <a:ext cx="91440" cy="749808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59" name="Text 56"/>
          <p:cNvSpPr/>
          <p:nvPr/>
        </p:nvSpPr>
        <p:spPr>
          <a:xfrm>
            <a:off x="518099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60" name="Text 57"/>
          <p:cNvSpPr/>
          <p:nvPr/>
        </p:nvSpPr>
        <p:spPr>
          <a:xfrm>
            <a:off x="1286195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principais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3313054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3313054" y="5806440"/>
            <a:ext cx="91440" cy="74980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63" name="Text 60"/>
          <p:cNvSpPr/>
          <p:nvPr/>
        </p:nvSpPr>
        <p:spPr>
          <a:xfrm>
            <a:off x="3477646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64" name="Text 61"/>
          <p:cNvSpPr/>
          <p:nvPr/>
        </p:nvSpPr>
        <p:spPr>
          <a:xfrm>
            <a:off x="4245742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6272601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272601" y="5806440"/>
            <a:ext cx="91440" cy="749808"/>
          </a:xfrm>
          <a:prstGeom prst="rect">
            <a:avLst/>
          </a:prstGeom>
          <a:solidFill>
            <a:srgbClr val="1E8A80"/>
          </a:solidFill>
          <a:ln/>
        </p:spPr>
      </p:sp>
      <p:sp>
        <p:nvSpPr>
          <p:cNvPr id="67" name="Text 64"/>
          <p:cNvSpPr/>
          <p:nvPr/>
        </p:nvSpPr>
        <p:spPr>
          <a:xfrm>
            <a:off x="6437193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68" name="Text 65"/>
          <p:cNvSpPr/>
          <p:nvPr/>
        </p:nvSpPr>
        <p:spPr>
          <a:xfrm>
            <a:off x="7205289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integrados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9232148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9232148" y="5806440"/>
            <a:ext cx="91440" cy="749808"/>
          </a:xfrm>
          <a:prstGeom prst="rect">
            <a:avLst/>
          </a:prstGeom>
          <a:solidFill>
            <a:srgbClr val="B23A2E"/>
          </a:solidFill>
          <a:ln/>
        </p:spPr>
      </p:sp>
      <p:sp>
        <p:nvSpPr>
          <p:cNvPr id="71" name="Text 68"/>
          <p:cNvSpPr/>
          <p:nvPr/>
        </p:nvSpPr>
        <p:spPr>
          <a:xfrm>
            <a:off x="9396740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72" name="Text 69"/>
          <p:cNvSpPr/>
          <p:nvPr/>
        </p:nvSpPr>
        <p:spPr>
          <a:xfrm>
            <a:off x="10164836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Onboarding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das 10 etapas</a:t>
            </a:r>
            <a:endParaRPr lang="en-US" sz="1100" dirty="0"/>
          </a:p>
        </p:txBody>
      </p:sp>
      <p:pic>
        <p:nvPicPr>
          <p:cNvPr id="6" name="Image 0" descr="/home/user/PPT---RH/rh/aur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155448"/>
            <a:ext cx="813816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96012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1480" y="960120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9" name="Shape 6"/>
          <p:cNvSpPr/>
          <p:nvPr/>
        </p:nvSpPr>
        <p:spPr>
          <a:xfrm>
            <a:off x="594360" y="1069848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4360" y="1069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69848" y="100584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candidato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Pandapé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69848" y="1572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Processo admissional iniciado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1480" y="202082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11480" y="2020824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15" name="Shape 12"/>
          <p:cNvSpPr/>
          <p:nvPr/>
        </p:nvSpPr>
        <p:spPr>
          <a:xfrm>
            <a:off x="594360" y="213055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94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69848" y="206654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do ASO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Saúde Ocupacional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69848" y="26334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Exame admissional agendado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11480" y="308152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11480" y="3081528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3191256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94360" y="3191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69848" y="312724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Recebimento e organização da documentação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069848" y="36941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Documentação conferida e arquivada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4142232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11480" y="4142232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4360" y="4251960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94360" y="4251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069848" y="418795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Pré-Admissional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15 conferências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69848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Colaborador apto para a integração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5202936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11480" y="5202936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33" name="Shape 30"/>
          <p:cNvSpPr/>
          <p:nvPr/>
        </p:nvSpPr>
        <p:spPr>
          <a:xfrm>
            <a:off x="594360" y="5312664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594360" y="5312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069848" y="524865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no Linx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Linx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069848" y="581558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Admissão registrada no sistema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6400800" y="960120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00800" y="960120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39" name="Shape 36"/>
          <p:cNvSpPr/>
          <p:nvPr/>
        </p:nvSpPr>
        <p:spPr>
          <a:xfrm>
            <a:off x="6583680" y="1069848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6583680" y="1069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7059168" y="100584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Contratual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DocuSign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059168" y="1572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Contrato formalizado e assinado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6400800" y="2020824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20824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5" name="Shape 42"/>
          <p:cNvSpPr/>
          <p:nvPr/>
        </p:nvSpPr>
        <p:spPr>
          <a:xfrm>
            <a:off x="6583680" y="2130552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6" name="Text 43"/>
          <p:cNvSpPr/>
          <p:nvPr/>
        </p:nvSpPr>
        <p:spPr>
          <a:xfrm>
            <a:off x="65836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7059168" y="206654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Pré-Integração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sexta anterior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7059168" y="26334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Colaborador preparado para o 1º dia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0" y="3081528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6400800" y="3081528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51" name="Shape 48"/>
          <p:cNvSpPr/>
          <p:nvPr/>
        </p:nvSpPr>
        <p:spPr>
          <a:xfrm>
            <a:off x="6583680" y="3191256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6583680" y="3191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059168" y="312724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dia de Integração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7059168" y="36941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Integração administrativa concluída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400800" y="4142232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6400800" y="4142232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57" name="Shape 54"/>
          <p:cNvSpPr/>
          <p:nvPr/>
        </p:nvSpPr>
        <p:spPr>
          <a:xfrm>
            <a:off x="6583680" y="4251960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8" name="Text 55"/>
          <p:cNvSpPr/>
          <p:nvPr/>
        </p:nvSpPr>
        <p:spPr>
          <a:xfrm>
            <a:off x="6583680" y="4251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7059168" y="418795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Padrinho &amp; Jornada de Experiência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45 dias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7059168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Acompanhamento estruturado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6400800" y="5202936"/>
            <a:ext cx="53492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6400800" y="5202936"/>
            <a:ext cx="91440" cy="932688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63" name="Shape 60"/>
          <p:cNvSpPr/>
          <p:nvPr/>
        </p:nvSpPr>
        <p:spPr>
          <a:xfrm>
            <a:off x="6583680" y="5312664"/>
            <a:ext cx="402336" cy="402336"/>
          </a:xfrm>
          <a:prstGeom prst="ellipse">
            <a:avLst/>
          </a:prstGeom>
          <a:solidFill>
            <a:srgbClr val="22346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6583680" y="5312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7059168" y="524865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23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do Onboarding</a:t>
            </a:r>
            <a:endParaRPr lang="en-US" sz="11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· Gestor</a:t>
            </a:r>
            <a:endParaRPr lang="en-US" sz="1100" dirty="0"/>
          </a:p>
        </p:txBody>
      </p:sp>
      <p:sp>
        <p:nvSpPr>
          <p:cNvPr id="66" name="Text 63"/>
          <p:cNvSpPr/>
          <p:nvPr/>
        </p:nvSpPr>
        <p:spPr>
          <a:xfrm>
            <a:off x="7059168" y="581558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Colaborador integrado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3086100" y="1892808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68" name="Shape 65"/>
          <p:cNvSpPr/>
          <p:nvPr/>
        </p:nvSpPr>
        <p:spPr>
          <a:xfrm>
            <a:off x="9075420" y="1892808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69" name="Shape 66"/>
          <p:cNvSpPr/>
          <p:nvPr/>
        </p:nvSpPr>
        <p:spPr>
          <a:xfrm>
            <a:off x="3086100" y="2953512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70" name="Shape 67"/>
          <p:cNvSpPr/>
          <p:nvPr/>
        </p:nvSpPr>
        <p:spPr>
          <a:xfrm>
            <a:off x="9075420" y="2953512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71" name="Shape 68"/>
          <p:cNvSpPr/>
          <p:nvPr/>
        </p:nvSpPr>
        <p:spPr>
          <a:xfrm>
            <a:off x="3086100" y="4014216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9075420" y="4014216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73" name="Shape 70"/>
          <p:cNvSpPr/>
          <p:nvPr/>
        </p:nvSpPr>
        <p:spPr>
          <a:xfrm>
            <a:off x="3086100" y="5074920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74" name="Shape 71"/>
          <p:cNvSpPr/>
          <p:nvPr/>
        </p:nvSpPr>
        <p:spPr>
          <a:xfrm>
            <a:off x="9075420" y="5074920"/>
            <a:ext cx="0" cy="128016"/>
          </a:xfrm>
          <a:prstGeom prst="line">
            <a:avLst/>
          </a:prstGeom>
          <a:noFill/>
          <a:ln w="20320">
            <a:solidFill>
              <a:srgbClr val="E45D4A"/>
            </a:solidFill>
            <a:prstDash val="solid"/>
            <a:headEnd type="none"/>
            <a:tailEnd type="triangle"/>
          </a:ln>
        </p:spPr>
      </p:sp>
      <p:sp>
        <p:nvSpPr>
          <p:cNvPr id="75" name="Text 72"/>
          <p:cNvSpPr/>
          <p:nvPr/>
        </p:nvSpPr>
        <p:spPr>
          <a:xfrm>
            <a:off x="5577840" y="94183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  ▶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— Etapas 1 a 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e admissão</a:t>
            </a:r>
            <a:endParaRPr lang="en-US" sz="1100" dirty="0"/>
          </a:p>
        </p:txBody>
      </p:sp>
      <p:pic>
        <p:nvPicPr>
          <p:cNvPr id="6" name="Image 0" descr="/home/user/PPT---RH/rh/aur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155448"/>
            <a:ext cx="813816" cy="475488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114574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828800"/>
                <a:gridCol w="4782312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 / Sistema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Aprovação do candidato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Pandapé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Movimentação do candidato para a etapa Contratação; envio automático do link para submissão da documentação obrigatória.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admissional iniciado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Agendamento do ASO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Saúde Ocupacional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Encaminhamento dos dados do candidato: nome, cargo, centro de custo e telefone.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Exame admissional agendado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Recebimento e organização da documentação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Inclusão na Planilha de Controle de Admissões; recebimento e conferência dos documentos pessoais; organização do Book do Colaborador.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Documentação conferida e arquivada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Checklist Pré-Admissional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conferências (documentação, ASO, Linx, DocuSign, uniforme, crachá, ponto, benefícios, NR-22, acessos…). Detalhe no próximo slide.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Colaborador apto para a integração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Cadastro no Linx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Linx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Pré-requisitos: documentação completa e ASO apto.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Admissão registrada no sistema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Pré-Admissional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15 conferências</a:t>
            </a:r>
            <a:endParaRPr lang="en-US" sz="1100" dirty="0"/>
          </a:p>
        </p:txBody>
      </p:sp>
      <p:pic>
        <p:nvPicPr>
          <p:cNvPr id="6" name="Image 0" descr="/home/user/PPT---RH/rh/aur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155448"/>
            <a:ext cx="813816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que toda a estrutura necessária para o início das atividades esteja preparada antes da integração.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15179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" y="14447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obrigatória recebida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70832" y="15179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754880" y="14447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 realizado e apto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284464" y="15179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668512" y="14447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efetuado no Linx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" y="23042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223113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enviado via DocuSign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70832" y="23042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754880" y="223113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Uniforme separado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284464" y="230428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668512" y="223113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Crachá solicitado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" y="30906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41248" y="30175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no relógio de ponto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70832" y="30906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754880" y="30175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solicitados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284464" y="309067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668512" y="301752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NR-22 programada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57200" y="38770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41248" y="380390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de Integração enviado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370832" y="38770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4754880" y="380390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de ônibus enviada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284464" y="387705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8668512" y="3803904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comunicado sobre a data de admissão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57200" y="4663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841248" y="459028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Padrinho definido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70832" y="4663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4754880" y="459028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acessos solicitados (quando aplicável)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8284464" y="46634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E45D4A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68512" y="459028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Estação de trabalho preparada (quando aplicável)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57200" y="5943600"/>
            <a:ext cx="11274552" cy="548640"/>
          </a:xfrm>
          <a:prstGeom prst="roundRect">
            <a:avLst>
              <a:gd name="adj" fmla="val 16667"/>
            </a:avLst>
          </a:prstGeom>
          <a:solidFill>
            <a:srgbClr val="DCEEEA"/>
          </a:solidFill>
          <a:ln w="12700">
            <a:solidFill>
              <a:srgbClr val="1E8A8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 </a:t>
            </a:r>
            <a:pPr algn="l" indent="0" marL="0">
              <a:buNone/>
            </a:pPr>
            <a:r>
              <a:rPr lang="en-US" sz="1200" dirty="0">
                <a:solidFill>
                  <a:srgbClr val="0D66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 apto para iniciar a integração.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22346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E45D4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7863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— Etapas 6 a 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2148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4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acompanhamento</a:t>
            </a:r>
            <a:endParaRPr lang="en-US" sz="1100" dirty="0"/>
          </a:p>
        </p:txBody>
      </p:sp>
      <p:pic>
        <p:nvPicPr>
          <p:cNvPr id="6" name="Image 0" descr="/home/user/PPT---RH/rh/aur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155448"/>
            <a:ext cx="813816" cy="475488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1145743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828800"/>
                <a:gridCol w="4782312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 / Sistema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346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Assinatura Contratual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DocuSign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Documentos: Contrato de Trabalho e Ficha de Registro.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 formalizado e assinado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Comunicação Pré-Integração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sexta anterior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E-mail com Guia de Integração, local e horário, rota do ônibus, informações da NR-22 e orientações de acesso à unidade.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Colaborador preparado para o 1º dia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 Primeiro dia de Integração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de uniforme; Integração RH: registro de ponto, benefícios, seguro de vida, adiantamento salarial e assinatura dos formulários obrigatórios.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administrativa concluída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 Programa Padrinho &amp; Jornada de Experiência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45 dias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Padrinho acompanha a adaptação e os treinamentos obrigatórios; Jornada de Experiência (em implantação): acompanhamento periódico, feedbacks e melhorias.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com acompanhamento estruturado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234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 Encerramento do Onboarding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 · Gestor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3A4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Confirmação do Programa Padrinho e dos treinamentos; reunião de acompanhamento com gestor e colaborador; registro do encerramento da jornada.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D66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Colaborador integrado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do Processo de Recrutamento e Seleção</dc:title>
  <dc:subject>PptxGenJS Presentation</dc:subject>
  <dc:creator>Déborah Giovana de Andrade Gonçalves</dc:creator>
  <cp:lastModifiedBy>Déborah Giovana de Andrade Gonçalves</cp:lastModifiedBy>
  <cp:revision>1</cp:revision>
  <dcterms:created xsi:type="dcterms:W3CDTF">2026-07-02T18:11:16Z</dcterms:created>
  <dcterms:modified xsi:type="dcterms:W3CDTF">2026-07-02T18:11:16Z</dcterms:modified>
</cp:coreProperties>
</file>