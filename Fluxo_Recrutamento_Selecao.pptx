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480560" cy="6858000"/>
          </a:xfrm>
          <a:prstGeom prst="rect">
            <a:avLst/>
          </a:prstGeom>
          <a:solidFill>
            <a:srgbClr val="16305C"/>
          </a:solidFill>
          <a:ln/>
        </p:spPr>
      </p:sp>
      <p:sp>
        <p:nvSpPr>
          <p:cNvPr id="3" name="Shape 1"/>
          <p:cNvSpPr/>
          <p:nvPr/>
        </p:nvSpPr>
        <p:spPr>
          <a:xfrm>
            <a:off x="4480560" y="0"/>
            <a:ext cx="109728" cy="6858000"/>
          </a:xfrm>
          <a:prstGeom prst="rect">
            <a:avLst/>
          </a:prstGeom>
          <a:solidFill>
            <a:srgbClr val="F5B301"/>
          </a:solidFill>
          <a:ln/>
        </p:spPr>
      </p:sp>
      <p:sp>
        <p:nvSpPr>
          <p:cNvPr id="4" name="Shape 2"/>
          <p:cNvSpPr/>
          <p:nvPr/>
        </p:nvSpPr>
        <p:spPr>
          <a:xfrm>
            <a:off x="3108960" y="-1371600"/>
            <a:ext cx="2743200" cy="2743200"/>
          </a:xfrm>
          <a:prstGeom prst="ellipse">
            <a:avLst/>
          </a:prstGeom>
          <a:solidFill>
            <a:srgbClr val="1F4E9B"/>
          </a:solidFill>
          <a:ln/>
        </p:spPr>
      </p:sp>
      <p:sp>
        <p:nvSpPr>
          <p:cNvPr id="5" name="Shape 3"/>
          <p:cNvSpPr/>
          <p:nvPr/>
        </p:nvSpPr>
        <p:spPr>
          <a:xfrm>
            <a:off x="-914400" y="5212080"/>
            <a:ext cx="2194560" cy="2194560"/>
          </a:xfrm>
          <a:prstGeom prst="ellipse">
            <a:avLst/>
          </a:prstGeom>
          <a:solidFill>
            <a:srgbClr val="2E6CC4"/>
          </a:solidFill>
          <a:ln/>
        </p:spPr>
      </p:sp>
      <p:sp>
        <p:nvSpPr>
          <p:cNvPr id="6" name="Shape 4"/>
          <p:cNvSpPr/>
          <p:nvPr/>
        </p:nvSpPr>
        <p:spPr>
          <a:xfrm flipH="1">
            <a:off x="1234440" y="2468880"/>
            <a:ext cx="1005840" cy="1005840"/>
          </a:xfrm>
          <a:prstGeom prst="line">
            <a:avLst/>
          </a:prstGeom>
          <a:noFill/>
          <a:ln w="15240">
            <a:solidFill>
              <a:srgbClr val="3E5C8A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2240280" y="2468880"/>
            <a:ext cx="1005840" cy="1005840"/>
          </a:xfrm>
          <a:prstGeom prst="line">
            <a:avLst/>
          </a:prstGeom>
          <a:noFill/>
          <a:ln w="15240">
            <a:solidFill>
              <a:srgbClr val="3E5C8A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2240280" y="2468880"/>
            <a:ext cx="0" cy="2011680"/>
          </a:xfrm>
          <a:prstGeom prst="line">
            <a:avLst/>
          </a:prstGeom>
          <a:noFill/>
          <a:ln w="15240">
            <a:solidFill>
              <a:srgbClr val="3E5C8A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1234440" y="3474720"/>
            <a:ext cx="2011680" cy="0"/>
          </a:xfrm>
          <a:prstGeom prst="line">
            <a:avLst/>
          </a:prstGeom>
          <a:noFill/>
          <a:ln w="15240">
            <a:solidFill>
              <a:srgbClr val="3E5C8A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234440" y="3474720"/>
            <a:ext cx="1005840" cy="1005840"/>
          </a:xfrm>
          <a:prstGeom prst="line">
            <a:avLst/>
          </a:prstGeom>
          <a:noFill/>
          <a:ln w="15240">
            <a:solidFill>
              <a:srgbClr val="3E5C8A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 flipH="1">
            <a:off x="2240280" y="3474720"/>
            <a:ext cx="1005840" cy="1005840"/>
          </a:xfrm>
          <a:prstGeom prst="line">
            <a:avLst/>
          </a:prstGeom>
          <a:noFill/>
          <a:ln w="15240">
            <a:solidFill>
              <a:srgbClr val="3E5C8A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2068830" y="2160270"/>
            <a:ext cx="342900" cy="342900"/>
          </a:xfrm>
          <a:prstGeom prst="ellipse">
            <a:avLst/>
          </a:prstGeom>
          <a:solidFill>
            <a:srgbClr val="F5B301"/>
          </a:solidFill>
          <a:ln/>
        </p:spPr>
      </p:sp>
      <p:sp>
        <p:nvSpPr>
          <p:cNvPr id="13" name="Shape 11"/>
          <p:cNvSpPr/>
          <p:nvPr/>
        </p:nvSpPr>
        <p:spPr>
          <a:xfrm>
            <a:off x="1931670" y="2480310"/>
            <a:ext cx="617220" cy="388620"/>
          </a:xfrm>
          <a:prstGeom prst="roundRect">
            <a:avLst>
              <a:gd name="adj" fmla="val 41176"/>
            </a:avLst>
          </a:prstGeom>
          <a:solidFill>
            <a:srgbClr val="F5B301"/>
          </a:solidFill>
          <a:ln/>
        </p:spPr>
      </p:sp>
      <p:sp>
        <p:nvSpPr>
          <p:cNvPr id="14" name="Shape 12"/>
          <p:cNvSpPr/>
          <p:nvPr/>
        </p:nvSpPr>
        <p:spPr>
          <a:xfrm>
            <a:off x="1097280" y="3200400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987552" y="3456432"/>
            <a:ext cx="493776" cy="310896"/>
          </a:xfrm>
          <a:prstGeom prst="roundRect">
            <a:avLst>
              <a:gd name="adj" fmla="val 41176"/>
            </a:avLst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3108960" y="3200400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2999232" y="3456432"/>
            <a:ext cx="493776" cy="310896"/>
          </a:xfrm>
          <a:prstGeom prst="roundRect">
            <a:avLst>
              <a:gd name="adj" fmla="val 41176"/>
            </a:avLst>
          </a:prstGeom>
          <a:solidFill>
            <a:srgbClr val="FFFFFF"/>
          </a:solidFill>
          <a:ln/>
        </p:spPr>
      </p:sp>
      <p:sp>
        <p:nvSpPr>
          <p:cNvPr id="18" name="Shape 16"/>
          <p:cNvSpPr/>
          <p:nvPr/>
        </p:nvSpPr>
        <p:spPr>
          <a:xfrm>
            <a:off x="2096262" y="4199382"/>
            <a:ext cx="288036" cy="288036"/>
          </a:xfrm>
          <a:prstGeom prst="ellipse">
            <a:avLst/>
          </a:prstGeom>
          <a:solidFill>
            <a:srgbClr val="2E6CC4"/>
          </a:solidFill>
          <a:ln/>
        </p:spPr>
      </p:sp>
      <p:sp>
        <p:nvSpPr>
          <p:cNvPr id="19" name="Shape 17"/>
          <p:cNvSpPr/>
          <p:nvPr/>
        </p:nvSpPr>
        <p:spPr>
          <a:xfrm>
            <a:off x="1981048" y="4468216"/>
            <a:ext cx="518465" cy="326441"/>
          </a:xfrm>
          <a:prstGeom prst="roundRect">
            <a:avLst>
              <a:gd name="adj" fmla="val 41176"/>
            </a:avLst>
          </a:prstGeom>
          <a:solidFill>
            <a:srgbClr val="2E6CC4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5029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F5B3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HUMANOS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983480" y="2057400"/>
            <a:ext cx="6675120" cy="17373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16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do Processo de</a:t>
            </a:r>
            <a:endParaRPr lang="en-US" sz="34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1F4E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Recrutamento e Seleção</a:t>
            </a:r>
            <a:endParaRPr lang="en-US" sz="3400" dirty="0"/>
          </a:p>
        </p:txBody>
      </p:sp>
      <p:sp>
        <p:nvSpPr>
          <p:cNvPr id="22" name="Shape 20"/>
          <p:cNvSpPr/>
          <p:nvPr/>
        </p:nvSpPr>
        <p:spPr>
          <a:xfrm>
            <a:off x="5029200" y="3886200"/>
            <a:ext cx="1554480" cy="54864"/>
          </a:xfrm>
          <a:prstGeom prst="rect">
            <a:avLst/>
          </a:prstGeom>
          <a:solidFill>
            <a:srgbClr val="F5B301"/>
          </a:solidFill>
          <a:ln/>
        </p:spPr>
      </p:sp>
      <p:sp>
        <p:nvSpPr>
          <p:cNvPr id="23" name="Text 21"/>
          <p:cNvSpPr/>
          <p:nvPr/>
        </p:nvSpPr>
        <p:spPr>
          <a:xfrm>
            <a:off x="4983480" y="4069080"/>
            <a:ext cx="65836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Etapas, aprovações, sistemas utilizados e pontos de decisão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983480" y="6172200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 executiva  ·  Processo de R&amp;S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630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86384"/>
            <a:ext cx="12191695" cy="54864"/>
          </a:xfrm>
          <a:prstGeom prst="rect">
            <a:avLst/>
          </a:prstGeom>
          <a:solidFill>
            <a:srgbClr val="F5B301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82296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Completo do Processo de Recrutamento e Seleção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595360" y="0"/>
            <a:ext cx="329184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B3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Fluxograma executivo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005840"/>
            <a:ext cx="278892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005840"/>
            <a:ext cx="91440" cy="822960"/>
          </a:xfrm>
          <a:prstGeom prst="rect">
            <a:avLst/>
          </a:prstGeom>
          <a:solidFill>
            <a:srgbClr val="1F4E9B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124712"/>
            <a:ext cx="402336" cy="402336"/>
          </a:xfrm>
          <a:prstGeom prst="ellipse">
            <a:avLst/>
          </a:prstGeom>
          <a:solidFill>
            <a:srgbClr val="1F4E9B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124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69848" y="1033272"/>
            <a:ext cx="2039112" cy="7680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6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Requisição de Vaga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Origem: Portal de Serviços (HUB RH)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Gestor solicita abertura da vaga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Cargo · Centro de custo · Escopo · Contratação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11480" y="1993392"/>
            <a:ext cx="2788920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11480" y="1993392"/>
            <a:ext cx="91440" cy="786384"/>
          </a:xfrm>
          <a:prstGeom prst="rect">
            <a:avLst/>
          </a:prstGeom>
          <a:solidFill>
            <a:srgbClr val="1F4E9B"/>
          </a:solidFill>
          <a:ln/>
        </p:spPr>
      </p:sp>
      <p:sp>
        <p:nvSpPr>
          <p:cNvPr id="13" name="Shape 11"/>
          <p:cNvSpPr/>
          <p:nvPr/>
        </p:nvSpPr>
        <p:spPr>
          <a:xfrm>
            <a:off x="594360" y="2112264"/>
            <a:ext cx="402336" cy="402336"/>
          </a:xfrm>
          <a:prstGeom prst="ellipse">
            <a:avLst/>
          </a:prstGeom>
          <a:solidFill>
            <a:srgbClr val="1F4E9B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" y="21122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69848" y="2020824"/>
            <a:ext cx="2039112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6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Publicação da Vaga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Publicação na Pandapé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Quintas-feiras · permanência de 7 dias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de Vagas · Aura Comunica (sexta)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11480" y="2944368"/>
            <a:ext cx="2788920" cy="731520"/>
          </a:xfrm>
          <a:prstGeom prst="roundRect">
            <a:avLst>
              <a:gd name="adj" fmla="val 11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11480" y="2944368"/>
            <a:ext cx="91440" cy="731520"/>
          </a:xfrm>
          <a:prstGeom prst="rect">
            <a:avLst/>
          </a:prstGeom>
          <a:solidFill>
            <a:srgbClr val="1F4E9B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360" y="3063240"/>
            <a:ext cx="402336" cy="402336"/>
          </a:xfrm>
          <a:prstGeom prst="ellipse">
            <a:avLst/>
          </a:prstGeom>
          <a:solidFill>
            <a:srgbClr val="1F4E9B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3063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69848" y="2971800"/>
            <a:ext cx="203911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6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Triagem de Currículos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técnica dos currículos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Compatibilidade com os requisitos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Seleção de candidatos aderentes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11480" y="3840480"/>
            <a:ext cx="2788920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11480" y="3840480"/>
            <a:ext cx="91440" cy="786384"/>
          </a:xfrm>
          <a:prstGeom prst="rect">
            <a:avLst/>
          </a:prstGeom>
          <a:solidFill>
            <a:srgbClr val="1F4E9B"/>
          </a:solidFill>
          <a:ln/>
        </p:spPr>
      </p:sp>
      <p:sp>
        <p:nvSpPr>
          <p:cNvPr id="23" name="Shape 21"/>
          <p:cNvSpPr/>
          <p:nvPr/>
        </p:nvSpPr>
        <p:spPr>
          <a:xfrm>
            <a:off x="594360" y="3959352"/>
            <a:ext cx="402336" cy="402336"/>
          </a:xfrm>
          <a:prstGeom prst="ellipse">
            <a:avLst/>
          </a:prstGeom>
          <a:solidFill>
            <a:srgbClr val="1F4E9B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94360" y="3959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069848" y="3867912"/>
            <a:ext cx="2039112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6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Entrevista RH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comportamental · histórico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Motivação · alinhamento cultural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Pretensão salarial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1805940" y="1828800"/>
            <a:ext cx="0" cy="164592"/>
          </a:xfrm>
          <a:prstGeom prst="line">
            <a:avLst/>
          </a:prstGeom>
          <a:noFill/>
          <a:ln w="22860">
            <a:solidFill>
              <a:srgbClr val="2E6CC4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1805940" y="2779776"/>
            <a:ext cx="0" cy="164592"/>
          </a:xfrm>
          <a:prstGeom prst="line">
            <a:avLst/>
          </a:prstGeom>
          <a:noFill/>
          <a:ln w="22860">
            <a:solidFill>
              <a:srgbClr val="2E6CC4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805940" y="3675888"/>
            <a:ext cx="0" cy="164592"/>
          </a:xfrm>
          <a:prstGeom prst="line">
            <a:avLst/>
          </a:prstGeom>
          <a:noFill/>
          <a:ln w="22860">
            <a:solidFill>
              <a:srgbClr val="2E6CC4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1805940" y="4626864"/>
            <a:ext cx="0" cy="64008"/>
          </a:xfrm>
          <a:prstGeom prst="line">
            <a:avLst/>
          </a:prstGeom>
          <a:noFill/>
          <a:ln w="22860">
            <a:solidFill>
              <a:srgbClr val="2E6CC4"/>
            </a:solidFill>
            <a:prstDash val="solid"/>
            <a:headEnd type="none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1097280" y="4686300"/>
            <a:ext cx="1417320" cy="777240"/>
          </a:xfrm>
          <a:prstGeom prst="diamond">
            <a:avLst/>
          </a:prstGeom>
          <a:solidFill>
            <a:srgbClr val="F5B301"/>
          </a:solidFill>
          <a:ln w="12700">
            <a:solidFill>
              <a:srgbClr val="D99400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1097280" y="468630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Aprovado?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93192" y="478231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 flipH="1">
            <a:off x="640080" y="5074920"/>
            <a:ext cx="452628" cy="0"/>
          </a:xfrm>
          <a:prstGeom prst="line">
            <a:avLst/>
          </a:prstGeom>
          <a:noFill/>
          <a:ln w="19050">
            <a:solidFill>
              <a:srgbClr val="C0504D"/>
            </a:solidFill>
            <a:prstDash val="solid"/>
            <a:headEnd type="none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91440" y="5349240"/>
            <a:ext cx="1417320" cy="384048"/>
          </a:xfrm>
          <a:prstGeom prst="roundRect">
            <a:avLst>
              <a:gd name="adj" fmla="val 28571"/>
            </a:avLst>
          </a:prstGeom>
          <a:solidFill>
            <a:srgbClr val="F4DAD8"/>
          </a:solidFill>
          <a:ln w="12700">
            <a:solidFill>
              <a:srgbClr val="C0504D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91440" y="5349240"/>
            <a:ext cx="1417320" cy="38404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Reprovado · processo encerrado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40080" y="5093208"/>
            <a:ext cx="155448" cy="256032"/>
          </a:xfrm>
          <a:prstGeom prst="line">
            <a:avLst/>
          </a:prstGeom>
          <a:noFill/>
          <a:ln w="17780">
            <a:solidFill>
              <a:srgbClr val="C0504D"/>
            </a:solidFill>
            <a:prstDash val="solid"/>
            <a:headEnd type="none"/>
            <a:tailEnd type="none"/>
          </a:ln>
        </p:spPr>
      </p:sp>
      <p:sp>
        <p:nvSpPr>
          <p:cNvPr id="37" name="Text 35"/>
          <p:cNvSpPr/>
          <p:nvPr/>
        </p:nvSpPr>
        <p:spPr>
          <a:xfrm>
            <a:off x="2189988" y="50566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3611880" y="1005840"/>
            <a:ext cx="1874520" cy="402336"/>
          </a:xfrm>
          <a:prstGeom prst="roundRect">
            <a:avLst>
              <a:gd name="adj" fmla="val 22727"/>
            </a:avLst>
          </a:prstGeom>
          <a:solidFill>
            <a:srgbClr val="F5B301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3611880" y="1005840"/>
            <a:ext cx="1874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Triagem Patrimonial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3611880" y="1426464"/>
            <a:ext cx="187452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paralelo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611880" y="1755648"/>
            <a:ext cx="187452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9525">
            <a:solidFill>
              <a:srgbClr val="D7DCE4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3611880" y="1755648"/>
            <a:ext cx="1874520" cy="42062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Envio de Forms</a:t>
            </a:r>
            <a:endParaRPr lang="en-US" sz="870" dirty="0"/>
          </a:p>
        </p:txBody>
      </p:sp>
      <p:sp>
        <p:nvSpPr>
          <p:cNvPr id="43" name="Shape 41"/>
          <p:cNvSpPr/>
          <p:nvPr/>
        </p:nvSpPr>
        <p:spPr>
          <a:xfrm>
            <a:off x="3611880" y="2340864"/>
            <a:ext cx="187452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9525">
            <a:solidFill>
              <a:srgbClr val="D7DCE4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3611880" y="2340864"/>
            <a:ext cx="1874520" cy="42062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Preenchimento pelo candidato</a:t>
            </a:r>
            <a:endParaRPr lang="en-US" sz="870" dirty="0"/>
          </a:p>
        </p:txBody>
      </p:sp>
      <p:sp>
        <p:nvSpPr>
          <p:cNvPr id="45" name="Shape 43"/>
          <p:cNvSpPr/>
          <p:nvPr/>
        </p:nvSpPr>
        <p:spPr>
          <a:xfrm>
            <a:off x="3611880" y="2926080"/>
            <a:ext cx="187452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9525">
            <a:solidFill>
              <a:srgbClr val="D7DCE4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3611880" y="2926080"/>
            <a:ext cx="1874520" cy="42062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 patrimonial</a:t>
            </a:r>
            <a:endParaRPr lang="en-US" sz="870" dirty="0"/>
          </a:p>
        </p:txBody>
      </p:sp>
      <p:sp>
        <p:nvSpPr>
          <p:cNvPr id="47" name="Shape 45"/>
          <p:cNvSpPr/>
          <p:nvPr/>
        </p:nvSpPr>
        <p:spPr>
          <a:xfrm>
            <a:off x="4549140" y="1645920"/>
            <a:ext cx="0" cy="109728"/>
          </a:xfrm>
          <a:prstGeom prst="line">
            <a:avLst/>
          </a:prstGeom>
          <a:noFill/>
          <a:ln w="20320">
            <a:solidFill>
              <a:srgbClr val="D99400"/>
            </a:solidFill>
            <a:prstDash val="solid"/>
            <a:headEnd type="none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4549140" y="2176272"/>
            <a:ext cx="0" cy="164592"/>
          </a:xfrm>
          <a:prstGeom prst="line">
            <a:avLst/>
          </a:prstGeom>
          <a:noFill/>
          <a:ln w="20320">
            <a:solidFill>
              <a:srgbClr val="D99400"/>
            </a:solidFill>
            <a:prstDash val="solid"/>
            <a:headEnd type="none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4549140" y="2761488"/>
            <a:ext cx="0" cy="164592"/>
          </a:xfrm>
          <a:prstGeom prst="line">
            <a:avLst/>
          </a:prstGeom>
          <a:noFill/>
          <a:ln w="20320">
            <a:solidFill>
              <a:srgbClr val="D99400"/>
            </a:solidFill>
            <a:prstDash val="solid"/>
            <a:headEnd type="none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4549140" y="3346704"/>
            <a:ext cx="0" cy="155448"/>
          </a:xfrm>
          <a:prstGeom prst="line">
            <a:avLst/>
          </a:prstGeom>
          <a:noFill/>
          <a:ln w="20320">
            <a:solidFill>
              <a:srgbClr val="D99400"/>
            </a:solidFill>
            <a:prstDash val="solid"/>
            <a:headEnd type="none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3840480" y="3511296"/>
            <a:ext cx="1417320" cy="749808"/>
          </a:xfrm>
          <a:prstGeom prst="diamond">
            <a:avLst/>
          </a:prstGeom>
          <a:solidFill>
            <a:srgbClr val="DCE7F7"/>
          </a:solidFill>
          <a:ln w="12700">
            <a:solidFill>
              <a:srgbClr val="2E6CC4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3840480" y="3511296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Aprovado?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4091940" y="427024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4549140" y="4261104"/>
            <a:ext cx="0" cy="192024"/>
          </a:xfrm>
          <a:prstGeom prst="line">
            <a:avLst/>
          </a:prstGeom>
          <a:noFill/>
          <a:ln w="17780">
            <a:solidFill>
              <a:srgbClr val="C0504D"/>
            </a:solidFill>
            <a:prstDash val="solid"/>
            <a:headEnd type="none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3611880" y="4453128"/>
            <a:ext cx="1874520" cy="384048"/>
          </a:xfrm>
          <a:prstGeom prst="roundRect">
            <a:avLst>
              <a:gd name="adj" fmla="val 28571"/>
            </a:avLst>
          </a:prstGeom>
          <a:solidFill>
            <a:srgbClr val="F4DAD8"/>
          </a:solidFill>
          <a:ln w="12700">
            <a:solidFill>
              <a:srgbClr val="C0504D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3611880" y="4453128"/>
            <a:ext cx="1874520" cy="38404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Restrição · processo encerrado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2519172" y="5074920"/>
            <a:ext cx="882396" cy="0"/>
          </a:xfrm>
          <a:prstGeom prst="line">
            <a:avLst/>
          </a:prstGeom>
          <a:noFill/>
          <a:ln w="20320">
            <a:solidFill>
              <a:srgbClr val="2E7D32"/>
            </a:solidFill>
            <a:prstDash val="solid"/>
            <a:headEnd type="none"/>
            <a:tailEnd type="none"/>
          </a:ln>
        </p:spPr>
      </p:sp>
      <p:sp>
        <p:nvSpPr>
          <p:cNvPr id="58" name="Shape 56"/>
          <p:cNvSpPr/>
          <p:nvPr/>
        </p:nvSpPr>
        <p:spPr>
          <a:xfrm flipV="1">
            <a:off x="3401568" y="1207008"/>
            <a:ext cx="0" cy="3867912"/>
          </a:xfrm>
          <a:prstGeom prst="line">
            <a:avLst/>
          </a:prstGeom>
          <a:noFill/>
          <a:ln w="20320">
            <a:solidFill>
              <a:srgbClr val="2E7D32"/>
            </a:solidFill>
            <a:prstDash val="solid"/>
            <a:headEnd type="none"/>
            <a:tailEnd type="none"/>
          </a:ln>
        </p:spPr>
      </p:sp>
      <p:sp>
        <p:nvSpPr>
          <p:cNvPr id="59" name="Shape 57"/>
          <p:cNvSpPr/>
          <p:nvPr/>
        </p:nvSpPr>
        <p:spPr>
          <a:xfrm>
            <a:off x="3401568" y="1207008"/>
            <a:ext cx="210312" cy="0"/>
          </a:xfrm>
          <a:prstGeom prst="line">
            <a:avLst/>
          </a:prstGeom>
          <a:noFill/>
          <a:ln w="20320">
            <a:solidFill>
              <a:srgbClr val="2E7D32"/>
            </a:solidFill>
            <a:prstDash val="solid"/>
            <a:headEnd type="none"/>
            <a:tailEnd type="triangle"/>
          </a:ln>
        </p:spPr>
      </p:sp>
      <p:sp>
        <p:nvSpPr>
          <p:cNvPr id="60" name="Text 58"/>
          <p:cNvSpPr/>
          <p:nvPr/>
        </p:nvSpPr>
        <p:spPr>
          <a:xfrm>
            <a:off x="5097780" y="361188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5806440" y="1005840"/>
            <a:ext cx="2788920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5806440" y="1005840"/>
            <a:ext cx="91440" cy="786384"/>
          </a:xfrm>
          <a:prstGeom prst="rect">
            <a:avLst/>
          </a:prstGeom>
          <a:solidFill>
            <a:srgbClr val="1F4E9B"/>
          </a:solidFill>
          <a:ln/>
        </p:spPr>
      </p:sp>
      <p:sp>
        <p:nvSpPr>
          <p:cNvPr id="63" name="Shape 61"/>
          <p:cNvSpPr/>
          <p:nvPr/>
        </p:nvSpPr>
        <p:spPr>
          <a:xfrm>
            <a:off x="5989320" y="1124712"/>
            <a:ext cx="402336" cy="402336"/>
          </a:xfrm>
          <a:prstGeom prst="ellipse">
            <a:avLst/>
          </a:prstGeom>
          <a:solidFill>
            <a:srgbClr val="1F4E9B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64" name="Text 62"/>
          <p:cNvSpPr/>
          <p:nvPr/>
        </p:nvSpPr>
        <p:spPr>
          <a:xfrm>
            <a:off x="5989320" y="1124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65" name="Text 63"/>
          <p:cNvSpPr/>
          <p:nvPr/>
        </p:nvSpPr>
        <p:spPr>
          <a:xfrm>
            <a:off x="6464808" y="1033272"/>
            <a:ext cx="2039112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6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Entrevista com Gestor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Conhecimento técnico · experiência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Competências · fit com a equipe</a:t>
            </a:r>
            <a:endParaRPr lang="en-US" sz="1150" dirty="0"/>
          </a:p>
        </p:txBody>
      </p:sp>
      <p:sp>
        <p:nvSpPr>
          <p:cNvPr id="66" name="Shape 64"/>
          <p:cNvSpPr/>
          <p:nvPr/>
        </p:nvSpPr>
        <p:spPr>
          <a:xfrm>
            <a:off x="5262372" y="3886200"/>
            <a:ext cx="333756" cy="0"/>
          </a:xfrm>
          <a:prstGeom prst="line">
            <a:avLst/>
          </a:prstGeom>
          <a:noFill/>
          <a:ln w="20320">
            <a:solidFill>
              <a:srgbClr val="2E7D32"/>
            </a:solidFill>
            <a:prstDash val="solid"/>
            <a:headEnd type="none"/>
            <a:tailEnd type="none"/>
          </a:ln>
        </p:spPr>
      </p:sp>
      <p:sp>
        <p:nvSpPr>
          <p:cNvPr id="67" name="Shape 65"/>
          <p:cNvSpPr/>
          <p:nvPr/>
        </p:nvSpPr>
        <p:spPr>
          <a:xfrm flipV="1">
            <a:off x="5596128" y="1399032"/>
            <a:ext cx="0" cy="2487168"/>
          </a:xfrm>
          <a:prstGeom prst="line">
            <a:avLst/>
          </a:prstGeom>
          <a:noFill/>
          <a:ln w="20320">
            <a:solidFill>
              <a:srgbClr val="2E7D32"/>
            </a:solidFill>
            <a:prstDash val="solid"/>
            <a:headEnd type="none"/>
            <a:tailEnd type="none"/>
          </a:ln>
        </p:spPr>
      </p:sp>
      <p:sp>
        <p:nvSpPr>
          <p:cNvPr id="68" name="Shape 66"/>
          <p:cNvSpPr/>
          <p:nvPr/>
        </p:nvSpPr>
        <p:spPr>
          <a:xfrm>
            <a:off x="5596128" y="1399032"/>
            <a:ext cx="210312" cy="0"/>
          </a:xfrm>
          <a:prstGeom prst="line">
            <a:avLst/>
          </a:prstGeom>
          <a:noFill/>
          <a:ln w="20320">
            <a:solidFill>
              <a:srgbClr val="2E7D32"/>
            </a:solidFill>
            <a:prstDash val="solid"/>
            <a:headEnd type="none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7200900" y="1792224"/>
            <a:ext cx="0" cy="164592"/>
          </a:xfrm>
          <a:prstGeom prst="line">
            <a:avLst/>
          </a:prstGeom>
          <a:noFill/>
          <a:ln w="22860">
            <a:solidFill>
              <a:srgbClr val="2E6CC4"/>
            </a:solidFill>
            <a:prstDash val="solid"/>
            <a:headEnd type="none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6423660" y="1956816"/>
            <a:ext cx="1554480" cy="749808"/>
          </a:xfrm>
          <a:prstGeom prst="diamond">
            <a:avLst/>
          </a:prstGeom>
          <a:solidFill>
            <a:srgbClr val="F5B301"/>
          </a:solidFill>
          <a:ln w="12700">
            <a:solidFill>
              <a:srgbClr val="D99400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71" name="Text 69"/>
          <p:cNvSpPr/>
          <p:nvPr/>
        </p:nvSpPr>
        <p:spPr>
          <a:xfrm>
            <a:off x="6423660" y="1956816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Candidato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6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Finalista?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6240780" y="23134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 flipH="1">
            <a:off x="5742432" y="2331720"/>
            <a:ext cx="681228" cy="0"/>
          </a:xfrm>
          <a:prstGeom prst="line">
            <a:avLst/>
          </a:prstGeom>
          <a:noFill/>
          <a:ln w="17780">
            <a:solidFill>
              <a:srgbClr val="C0504D"/>
            </a:solidFill>
            <a:prstDash val="solid"/>
            <a:headEnd type="none"/>
            <a:tailEnd type="none"/>
          </a:ln>
        </p:spPr>
      </p:sp>
      <p:sp>
        <p:nvSpPr>
          <p:cNvPr id="74" name="Shape 72"/>
          <p:cNvSpPr/>
          <p:nvPr/>
        </p:nvSpPr>
        <p:spPr>
          <a:xfrm>
            <a:off x="5742432" y="2331720"/>
            <a:ext cx="0" cy="3685032"/>
          </a:xfrm>
          <a:prstGeom prst="line">
            <a:avLst/>
          </a:prstGeom>
          <a:noFill/>
          <a:ln w="17780">
            <a:solidFill>
              <a:srgbClr val="C0504D"/>
            </a:solidFill>
            <a:prstDash val="solid"/>
            <a:headEnd type="none"/>
            <a:tailEnd type="none"/>
          </a:ln>
        </p:spPr>
      </p:sp>
      <p:sp>
        <p:nvSpPr>
          <p:cNvPr id="75" name="Shape 73"/>
          <p:cNvSpPr/>
          <p:nvPr/>
        </p:nvSpPr>
        <p:spPr>
          <a:xfrm>
            <a:off x="5742432" y="6016752"/>
            <a:ext cx="310896" cy="0"/>
          </a:xfrm>
          <a:prstGeom prst="line">
            <a:avLst/>
          </a:prstGeom>
          <a:noFill/>
          <a:ln w="17780">
            <a:solidFill>
              <a:srgbClr val="C0504D"/>
            </a:solidFill>
            <a:prstDash val="solid"/>
            <a:headEnd type="none"/>
            <a:tailEnd type="triangle"/>
          </a:ln>
        </p:spPr>
      </p:sp>
      <p:sp>
        <p:nvSpPr>
          <p:cNvPr id="76" name="Shape 74"/>
          <p:cNvSpPr/>
          <p:nvPr/>
        </p:nvSpPr>
        <p:spPr>
          <a:xfrm>
            <a:off x="6053328" y="5760720"/>
            <a:ext cx="2542032" cy="512064"/>
          </a:xfrm>
          <a:prstGeom prst="roundRect">
            <a:avLst>
              <a:gd name="adj" fmla="val 17857"/>
            </a:avLst>
          </a:prstGeom>
          <a:solidFill>
            <a:srgbClr val="F4DAD8"/>
          </a:solidFill>
          <a:ln w="12700">
            <a:solidFill>
              <a:srgbClr val="C0504D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77" name="Text 75"/>
          <p:cNvSpPr/>
          <p:nvPr/>
        </p:nvSpPr>
        <p:spPr>
          <a:xfrm>
            <a:off x="6053328" y="5760720"/>
            <a:ext cx="2542032" cy="51206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finalista  →  retorna à nova triagem ou nova publicação da vaga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7292340" y="271576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5806440" y="2944368"/>
            <a:ext cx="2788920" cy="731520"/>
          </a:xfrm>
          <a:prstGeom prst="roundRect">
            <a:avLst>
              <a:gd name="adj" fmla="val 11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80" name="Shape 78"/>
          <p:cNvSpPr/>
          <p:nvPr/>
        </p:nvSpPr>
        <p:spPr>
          <a:xfrm>
            <a:off x="5806440" y="2944368"/>
            <a:ext cx="91440" cy="731520"/>
          </a:xfrm>
          <a:prstGeom prst="rect">
            <a:avLst/>
          </a:prstGeom>
          <a:solidFill>
            <a:srgbClr val="D99400"/>
          </a:solidFill>
          <a:ln/>
        </p:spPr>
      </p:sp>
      <p:sp>
        <p:nvSpPr>
          <p:cNvPr id="81" name="Shape 79"/>
          <p:cNvSpPr/>
          <p:nvPr/>
        </p:nvSpPr>
        <p:spPr>
          <a:xfrm>
            <a:off x="5989320" y="3063240"/>
            <a:ext cx="402336" cy="402336"/>
          </a:xfrm>
          <a:prstGeom prst="ellipse">
            <a:avLst/>
          </a:prstGeom>
          <a:solidFill>
            <a:srgbClr val="D99400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82" name="Text 80"/>
          <p:cNvSpPr/>
          <p:nvPr/>
        </p:nvSpPr>
        <p:spPr>
          <a:xfrm>
            <a:off x="5989320" y="3063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83" name="Text 81"/>
          <p:cNvSpPr/>
          <p:nvPr/>
        </p:nvSpPr>
        <p:spPr>
          <a:xfrm>
            <a:off x="6464808" y="2971800"/>
            <a:ext cx="203911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6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Carta Proposta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Aprovação RH Custos  ·  Aprovação Gestor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Formalização da oferta ao candidato</a:t>
            </a:r>
            <a:endParaRPr lang="en-US" sz="1150" dirty="0"/>
          </a:p>
        </p:txBody>
      </p:sp>
      <p:sp>
        <p:nvSpPr>
          <p:cNvPr id="84" name="Shape 82"/>
          <p:cNvSpPr/>
          <p:nvPr/>
        </p:nvSpPr>
        <p:spPr>
          <a:xfrm>
            <a:off x="7200900" y="2706624"/>
            <a:ext cx="0" cy="237744"/>
          </a:xfrm>
          <a:prstGeom prst="line">
            <a:avLst/>
          </a:prstGeom>
          <a:noFill/>
          <a:ln w="22860">
            <a:solidFill>
              <a:srgbClr val="2E6CC4"/>
            </a:solidFill>
            <a:prstDash val="solid"/>
            <a:headEnd type="none"/>
            <a:tailEnd type="triangle"/>
          </a:ln>
        </p:spPr>
      </p:sp>
      <p:sp>
        <p:nvSpPr>
          <p:cNvPr id="85" name="Shape 83"/>
          <p:cNvSpPr/>
          <p:nvPr/>
        </p:nvSpPr>
        <p:spPr>
          <a:xfrm>
            <a:off x="5806440" y="3822192"/>
            <a:ext cx="2788920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86" name="Shape 84"/>
          <p:cNvSpPr/>
          <p:nvPr/>
        </p:nvSpPr>
        <p:spPr>
          <a:xfrm>
            <a:off x="5806440" y="3822192"/>
            <a:ext cx="91440" cy="786384"/>
          </a:xfrm>
          <a:prstGeom prst="rect">
            <a:avLst/>
          </a:prstGeom>
          <a:solidFill>
            <a:srgbClr val="1F4E9B"/>
          </a:solidFill>
          <a:ln/>
        </p:spPr>
      </p:sp>
      <p:sp>
        <p:nvSpPr>
          <p:cNvPr id="87" name="Shape 85"/>
          <p:cNvSpPr/>
          <p:nvPr/>
        </p:nvSpPr>
        <p:spPr>
          <a:xfrm>
            <a:off x="5989320" y="3941064"/>
            <a:ext cx="402336" cy="402336"/>
          </a:xfrm>
          <a:prstGeom prst="ellipse">
            <a:avLst/>
          </a:prstGeom>
          <a:solidFill>
            <a:srgbClr val="1F4E9B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88" name="Text 86"/>
          <p:cNvSpPr/>
          <p:nvPr/>
        </p:nvSpPr>
        <p:spPr>
          <a:xfrm>
            <a:off x="5989320" y="3941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89" name="Text 87"/>
          <p:cNvSpPr/>
          <p:nvPr/>
        </p:nvSpPr>
        <p:spPr>
          <a:xfrm>
            <a:off x="6464808" y="3849624"/>
            <a:ext cx="2039112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6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Formalização &amp; Assinatura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Envio por e-mail da proposta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Assinatura eletrônica via GOV.BR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Aceite do candidato</a:t>
            </a:r>
            <a:endParaRPr lang="en-US" sz="1150" dirty="0"/>
          </a:p>
        </p:txBody>
      </p:sp>
      <p:sp>
        <p:nvSpPr>
          <p:cNvPr id="90" name="Shape 88"/>
          <p:cNvSpPr/>
          <p:nvPr/>
        </p:nvSpPr>
        <p:spPr>
          <a:xfrm>
            <a:off x="7200900" y="3675888"/>
            <a:ext cx="0" cy="146304"/>
          </a:xfrm>
          <a:prstGeom prst="line">
            <a:avLst/>
          </a:prstGeom>
          <a:noFill/>
          <a:ln w="22860">
            <a:solidFill>
              <a:srgbClr val="2E6CC4"/>
            </a:solidFill>
            <a:prstDash val="solid"/>
            <a:headEnd type="none"/>
            <a:tailEnd type="triangle"/>
          </a:ln>
        </p:spPr>
      </p:sp>
      <p:sp>
        <p:nvSpPr>
          <p:cNvPr id="91" name="Shape 89"/>
          <p:cNvSpPr/>
          <p:nvPr/>
        </p:nvSpPr>
        <p:spPr>
          <a:xfrm>
            <a:off x="5806440" y="4773168"/>
            <a:ext cx="2788920" cy="822960"/>
          </a:xfrm>
          <a:prstGeom prst="roundRect">
            <a:avLst>
              <a:gd name="adj" fmla="val 10000"/>
            </a:avLst>
          </a:prstGeom>
          <a:solidFill>
            <a:srgbClr val="EAF5EC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92" name="Shape 90"/>
          <p:cNvSpPr/>
          <p:nvPr/>
        </p:nvSpPr>
        <p:spPr>
          <a:xfrm>
            <a:off x="5806440" y="4773168"/>
            <a:ext cx="91440" cy="82296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93" name="Shape 91"/>
          <p:cNvSpPr/>
          <p:nvPr/>
        </p:nvSpPr>
        <p:spPr>
          <a:xfrm>
            <a:off x="5989320" y="4892040"/>
            <a:ext cx="402336" cy="402336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94" name="Text 92"/>
          <p:cNvSpPr/>
          <p:nvPr/>
        </p:nvSpPr>
        <p:spPr>
          <a:xfrm>
            <a:off x="5989320" y="4892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95" name="Text 93"/>
          <p:cNvSpPr/>
          <p:nvPr/>
        </p:nvSpPr>
        <p:spPr>
          <a:xfrm>
            <a:off x="6464808" y="4800600"/>
            <a:ext cx="2039112" cy="7680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Seleção Concluída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do novo colaborador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à equipe e à empresa</a:t>
            </a:r>
            <a:endParaRPr lang="en-US" sz="1150" dirty="0"/>
          </a:p>
        </p:txBody>
      </p:sp>
      <p:sp>
        <p:nvSpPr>
          <p:cNvPr id="96" name="Shape 94"/>
          <p:cNvSpPr/>
          <p:nvPr/>
        </p:nvSpPr>
        <p:spPr>
          <a:xfrm>
            <a:off x="7200900" y="4608576"/>
            <a:ext cx="0" cy="164592"/>
          </a:xfrm>
          <a:prstGeom prst="line">
            <a:avLst/>
          </a:prstGeom>
          <a:noFill/>
          <a:ln w="22860">
            <a:solidFill>
              <a:srgbClr val="2E7D32"/>
            </a:solidFill>
            <a:prstDash val="solid"/>
            <a:headEnd type="none"/>
            <a:tailEnd type="triangle"/>
          </a:ln>
        </p:spPr>
      </p:sp>
      <p:sp>
        <p:nvSpPr>
          <p:cNvPr id="97" name="Shape 95"/>
          <p:cNvSpPr/>
          <p:nvPr/>
        </p:nvSpPr>
        <p:spPr>
          <a:xfrm>
            <a:off x="8887968" y="1005840"/>
            <a:ext cx="3035808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98" name="Shape 96"/>
          <p:cNvSpPr/>
          <p:nvPr/>
        </p:nvSpPr>
        <p:spPr>
          <a:xfrm>
            <a:off x="8887968" y="1005840"/>
            <a:ext cx="3035808" cy="365760"/>
          </a:xfrm>
          <a:prstGeom prst="roundRect">
            <a:avLst>
              <a:gd name="adj" fmla="val 20000"/>
            </a:avLst>
          </a:prstGeom>
          <a:solidFill>
            <a:srgbClr val="1F4E9B"/>
          </a:solidFill>
          <a:ln/>
        </p:spPr>
      </p:sp>
      <p:sp>
        <p:nvSpPr>
          <p:cNvPr id="99" name="Shape 97"/>
          <p:cNvSpPr/>
          <p:nvPr/>
        </p:nvSpPr>
        <p:spPr>
          <a:xfrm>
            <a:off x="8887968" y="1207008"/>
            <a:ext cx="3035808" cy="182880"/>
          </a:xfrm>
          <a:prstGeom prst="rect">
            <a:avLst/>
          </a:prstGeom>
          <a:solidFill>
            <a:srgbClr val="1F4E9B"/>
          </a:solidFill>
          <a:ln/>
        </p:spPr>
      </p:sp>
      <p:sp>
        <p:nvSpPr>
          <p:cNvPr id="100" name="Shape 98"/>
          <p:cNvSpPr/>
          <p:nvPr/>
        </p:nvSpPr>
        <p:spPr>
          <a:xfrm>
            <a:off x="8887968" y="1005840"/>
            <a:ext cx="73152" cy="365760"/>
          </a:xfrm>
          <a:prstGeom prst="rect">
            <a:avLst/>
          </a:prstGeom>
          <a:solidFill>
            <a:srgbClr val="F5B301"/>
          </a:solidFill>
          <a:ln/>
        </p:spPr>
      </p:sp>
      <p:sp>
        <p:nvSpPr>
          <p:cNvPr id="101" name="Text 99"/>
          <p:cNvSpPr/>
          <p:nvPr/>
        </p:nvSpPr>
        <p:spPr>
          <a:xfrm>
            <a:off x="8933688" y="1005840"/>
            <a:ext cx="29443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UTILIZADOS</a:t>
            </a:r>
            <a:endParaRPr lang="en-US" sz="1050" dirty="0"/>
          </a:p>
        </p:txBody>
      </p:sp>
      <p:sp>
        <p:nvSpPr>
          <p:cNvPr id="102" name="Text 100"/>
          <p:cNvSpPr/>
          <p:nvPr/>
        </p:nvSpPr>
        <p:spPr>
          <a:xfrm>
            <a:off x="9015984" y="1444752"/>
            <a:ext cx="2816352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Portal de Serviços</a:t>
            </a:r>
            <a:endParaRPr lang="en-US" sz="84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Teams</a:t>
            </a:r>
            <a:endParaRPr lang="en-US" sz="84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Outlook</a:t>
            </a:r>
            <a:endParaRPr lang="en-US" sz="84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Pandapé</a:t>
            </a:r>
            <a:endParaRPr lang="en-US" sz="84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Microsoft Forms</a:t>
            </a:r>
            <a:endParaRPr lang="en-US" sz="84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GOV.BR</a:t>
            </a:r>
            <a:endParaRPr lang="en-US" sz="84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Aura Comunica</a:t>
            </a:r>
            <a:endParaRPr lang="en-US" sz="840" dirty="0"/>
          </a:p>
        </p:txBody>
      </p:sp>
      <p:sp>
        <p:nvSpPr>
          <p:cNvPr id="103" name="Shape 101"/>
          <p:cNvSpPr/>
          <p:nvPr/>
        </p:nvSpPr>
        <p:spPr>
          <a:xfrm>
            <a:off x="8887968" y="2962656"/>
            <a:ext cx="3035808" cy="1700784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104" name="Shape 102"/>
          <p:cNvSpPr/>
          <p:nvPr/>
        </p:nvSpPr>
        <p:spPr>
          <a:xfrm>
            <a:off x="8887968" y="2962656"/>
            <a:ext cx="3035808" cy="365760"/>
          </a:xfrm>
          <a:prstGeom prst="roundRect">
            <a:avLst>
              <a:gd name="adj" fmla="val 20000"/>
            </a:avLst>
          </a:prstGeom>
          <a:solidFill>
            <a:srgbClr val="1F4E9B"/>
          </a:solidFill>
          <a:ln/>
        </p:spPr>
      </p:sp>
      <p:sp>
        <p:nvSpPr>
          <p:cNvPr id="105" name="Shape 103"/>
          <p:cNvSpPr/>
          <p:nvPr/>
        </p:nvSpPr>
        <p:spPr>
          <a:xfrm>
            <a:off x="8887968" y="3163824"/>
            <a:ext cx="3035808" cy="182880"/>
          </a:xfrm>
          <a:prstGeom prst="rect">
            <a:avLst/>
          </a:prstGeom>
          <a:solidFill>
            <a:srgbClr val="1F4E9B"/>
          </a:solidFill>
          <a:ln/>
        </p:spPr>
      </p:sp>
      <p:sp>
        <p:nvSpPr>
          <p:cNvPr id="106" name="Shape 104"/>
          <p:cNvSpPr/>
          <p:nvPr/>
        </p:nvSpPr>
        <p:spPr>
          <a:xfrm>
            <a:off x="8887968" y="2962656"/>
            <a:ext cx="73152" cy="365760"/>
          </a:xfrm>
          <a:prstGeom prst="rect">
            <a:avLst/>
          </a:prstGeom>
          <a:solidFill>
            <a:srgbClr val="F5B301"/>
          </a:solidFill>
          <a:ln/>
        </p:spPr>
      </p:sp>
      <p:sp>
        <p:nvSpPr>
          <p:cNvPr id="107" name="Text 105"/>
          <p:cNvSpPr/>
          <p:nvPr/>
        </p:nvSpPr>
        <p:spPr>
          <a:xfrm>
            <a:off x="8933688" y="2962656"/>
            <a:ext cx="29443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DE DECISÃO</a:t>
            </a:r>
            <a:endParaRPr lang="en-US" sz="1050" dirty="0"/>
          </a:p>
        </p:txBody>
      </p:sp>
      <p:sp>
        <p:nvSpPr>
          <p:cNvPr id="108" name="Text 106"/>
          <p:cNvSpPr/>
          <p:nvPr/>
        </p:nvSpPr>
        <p:spPr>
          <a:xfrm>
            <a:off x="9015984" y="3401568"/>
            <a:ext cx="2816352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Aprovação da Requisição</a:t>
            </a:r>
            <a:endParaRPr lang="en-US" sz="84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Aprovação RH Custos</a:t>
            </a:r>
            <a:endParaRPr lang="en-US" sz="84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Aprovação Entrevista RH</a:t>
            </a:r>
            <a:endParaRPr lang="en-US" sz="84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Aprovação Triagem Patrimonial</a:t>
            </a:r>
            <a:endParaRPr lang="en-US" sz="84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Aprovação Gestor</a:t>
            </a:r>
            <a:endParaRPr lang="en-US" sz="84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Aceite da Proposta</a:t>
            </a:r>
            <a:endParaRPr lang="en-US" sz="840" dirty="0"/>
          </a:p>
        </p:txBody>
      </p:sp>
      <p:sp>
        <p:nvSpPr>
          <p:cNvPr id="109" name="Shape 107"/>
          <p:cNvSpPr/>
          <p:nvPr/>
        </p:nvSpPr>
        <p:spPr>
          <a:xfrm>
            <a:off x="8887968" y="4791456"/>
            <a:ext cx="3035808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110" name="Shape 108"/>
          <p:cNvSpPr/>
          <p:nvPr/>
        </p:nvSpPr>
        <p:spPr>
          <a:xfrm>
            <a:off x="8887968" y="4791456"/>
            <a:ext cx="3035808" cy="365760"/>
          </a:xfrm>
          <a:prstGeom prst="roundRect">
            <a:avLst>
              <a:gd name="adj" fmla="val 20000"/>
            </a:avLst>
          </a:prstGeom>
          <a:solidFill>
            <a:srgbClr val="C0504D"/>
          </a:solidFill>
          <a:ln/>
        </p:spPr>
      </p:sp>
      <p:sp>
        <p:nvSpPr>
          <p:cNvPr id="111" name="Shape 109"/>
          <p:cNvSpPr/>
          <p:nvPr/>
        </p:nvSpPr>
        <p:spPr>
          <a:xfrm>
            <a:off x="8887968" y="4992624"/>
            <a:ext cx="3035808" cy="182880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112" name="Shape 110"/>
          <p:cNvSpPr/>
          <p:nvPr/>
        </p:nvSpPr>
        <p:spPr>
          <a:xfrm>
            <a:off x="8887968" y="4791456"/>
            <a:ext cx="73152" cy="365760"/>
          </a:xfrm>
          <a:prstGeom prst="rect">
            <a:avLst/>
          </a:prstGeom>
          <a:solidFill>
            <a:srgbClr val="F5B301"/>
          </a:solidFill>
          <a:ln/>
        </p:spPr>
      </p:sp>
      <p:sp>
        <p:nvSpPr>
          <p:cNvPr id="113" name="Text 111"/>
          <p:cNvSpPr/>
          <p:nvPr/>
        </p:nvSpPr>
        <p:spPr>
          <a:xfrm>
            <a:off x="8933688" y="4791456"/>
            <a:ext cx="29443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POSSÍVEIS ENCERRAMENTOS</a:t>
            </a:r>
            <a:endParaRPr lang="en-US" sz="1050" dirty="0"/>
          </a:p>
        </p:txBody>
      </p:sp>
      <p:sp>
        <p:nvSpPr>
          <p:cNvPr id="114" name="Text 112"/>
          <p:cNvSpPr/>
          <p:nvPr/>
        </p:nvSpPr>
        <p:spPr>
          <a:xfrm>
            <a:off x="9015984" y="5230368"/>
            <a:ext cx="2816352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Reprovação na Entrevista RH</a:t>
            </a:r>
            <a:endParaRPr lang="en-US" sz="84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Restrição na Triagem Patrimonial</a:t>
            </a:r>
            <a:endParaRPr lang="en-US" sz="84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Reprovação pelo Gestor</a:t>
            </a:r>
            <a:endParaRPr lang="en-US" sz="84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Recusa da Proposta</a:t>
            </a:r>
            <a:endParaRPr lang="en-US" sz="84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840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Reabertura da vaga</a:t>
            </a:r>
            <a:endParaRPr lang="en-US" sz="840" dirty="0"/>
          </a:p>
        </p:txBody>
      </p:sp>
      <p:sp>
        <p:nvSpPr>
          <p:cNvPr id="115" name="Text 113"/>
          <p:cNvSpPr/>
          <p:nvPr/>
        </p:nvSpPr>
        <p:spPr>
          <a:xfrm>
            <a:off x="411480" y="6455664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Legenda:</a:t>
            </a:r>
            <a:endParaRPr lang="en-US" sz="850" dirty="0"/>
          </a:p>
        </p:txBody>
      </p:sp>
      <p:sp>
        <p:nvSpPr>
          <p:cNvPr id="116" name="Shape 114"/>
          <p:cNvSpPr/>
          <p:nvPr/>
        </p:nvSpPr>
        <p:spPr>
          <a:xfrm>
            <a:off x="1344168" y="6510528"/>
            <a:ext cx="237744" cy="201168"/>
          </a:xfrm>
          <a:prstGeom prst="roundRect">
            <a:avLst>
              <a:gd name="adj" fmla="val 22727"/>
            </a:avLst>
          </a:prstGeom>
          <a:solidFill>
            <a:srgbClr val="1F4E9B"/>
          </a:solidFill>
          <a:ln/>
        </p:spPr>
      </p:sp>
      <p:sp>
        <p:nvSpPr>
          <p:cNvPr id="117" name="Text 115"/>
          <p:cNvSpPr/>
          <p:nvPr/>
        </p:nvSpPr>
        <p:spPr>
          <a:xfrm>
            <a:off x="1627632" y="6455664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</a:t>
            </a:r>
            <a:endParaRPr lang="en-US" sz="800" dirty="0"/>
          </a:p>
        </p:txBody>
      </p:sp>
      <p:sp>
        <p:nvSpPr>
          <p:cNvPr id="118" name="Shape 116"/>
          <p:cNvSpPr/>
          <p:nvPr/>
        </p:nvSpPr>
        <p:spPr>
          <a:xfrm>
            <a:off x="3127248" y="6510528"/>
            <a:ext cx="237744" cy="201168"/>
          </a:xfrm>
          <a:prstGeom prst="diamond">
            <a:avLst/>
          </a:prstGeom>
          <a:solidFill>
            <a:srgbClr val="F5B301"/>
          </a:solidFill>
          <a:ln/>
        </p:spPr>
      </p:sp>
      <p:sp>
        <p:nvSpPr>
          <p:cNvPr id="119" name="Text 117"/>
          <p:cNvSpPr/>
          <p:nvPr/>
        </p:nvSpPr>
        <p:spPr>
          <a:xfrm>
            <a:off x="3410712" y="6455664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4910328" y="6510528"/>
            <a:ext cx="237744" cy="201168"/>
          </a:xfrm>
          <a:prstGeom prst="roundRect">
            <a:avLst>
              <a:gd name="adj" fmla="val 22727"/>
            </a:avLst>
          </a:prstGeom>
          <a:solidFill>
            <a:srgbClr val="F4DAD8"/>
          </a:solidFill>
          <a:ln/>
        </p:spPr>
      </p:sp>
      <p:sp>
        <p:nvSpPr>
          <p:cNvPr id="121" name="Text 119"/>
          <p:cNvSpPr/>
          <p:nvPr/>
        </p:nvSpPr>
        <p:spPr>
          <a:xfrm>
            <a:off x="5193792" y="6455664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Encerramento</a:t>
            </a:r>
            <a:endParaRPr lang="en-US" sz="800" dirty="0"/>
          </a:p>
        </p:txBody>
      </p:sp>
      <p:sp>
        <p:nvSpPr>
          <p:cNvPr id="122" name="Shape 120"/>
          <p:cNvSpPr/>
          <p:nvPr/>
        </p:nvSpPr>
        <p:spPr>
          <a:xfrm>
            <a:off x="6784848" y="6510528"/>
            <a:ext cx="237744" cy="201168"/>
          </a:xfrm>
          <a:prstGeom prst="roundRect">
            <a:avLst>
              <a:gd name="adj" fmla="val 22727"/>
            </a:avLst>
          </a:prstGeom>
          <a:solidFill>
            <a:srgbClr val="EAF5EC"/>
          </a:solidFill>
          <a:ln/>
        </p:spPr>
      </p:sp>
      <p:sp>
        <p:nvSpPr>
          <p:cNvPr id="123" name="Text 121"/>
          <p:cNvSpPr/>
          <p:nvPr/>
        </p:nvSpPr>
        <p:spPr>
          <a:xfrm>
            <a:off x="7068312" y="6455664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86384"/>
          </a:xfrm>
          <a:prstGeom prst="rect">
            <a:avLst/>
          </a:prstGeom>
          <a:solidFill>
            <a:srgbClr val="1630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86384"/>
            <a:ext cx="12191695" cy="54864"/>
          </a:xfrm>
          <a:prstGeom prst="rect">
            <a:avLst/>
          </a:prstGeom>
          <a:solidFill>
            <a:srgbClr val="F5B301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86868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 do Processo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0" y="0"/>
            <a:ext cx="36576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B3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do tempo — 8 etapas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68680" y="3493008"/>
            <a:ext cx="10469880" cy="54864"/>
          </a:xfrm>
          <a:prstGeom prst="rect">
            <a:avLst/>
          </a:prstGeom>
          <a:solidFill>
            <a:srgbClr val="D7DCE4"/>
          </a:solidFill>
          <a:ln/>
        </p:spPr>
      </p:sp>
      <p:sp>
        <p:nvSpPr>
          <p:cNvPr id="7" name="Shape 5"/>
          <p:cNvSpPr/>
          <p:nvPr/>
        </p:nvSpPr>
        <p:spPr>
          <a:xfrm flipV="1">
            <a:off x="868680" y="3017520"/>
            <a:ext cx="0" cy="182880"/>
          </a:xfrm>
          <a:prstGeom prst="line">
            <a:avLst/>
          </a:prstGeom>
          <a:noFill/>
          <a:ln w="17780">
            <a:solidFill>
              <a:srgbClr val="1F4E9B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219456" y="1810512"/>
            <a:ext cx="129844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7DCE4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19456" y="1810512"/>
            <a:ext cx="1298448" cy="82296"/>
          </a:xfrm>
          <a:prstGeom prst="rect">
            <a:avLst/>
          </a:prstGeom>
          <a:solidFill>
            <a:srgbClr val="1F4E9B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920240"/>
            <a:ext cx="1188720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6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Requisição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Abertura da vaga pelo gestor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2648" y="3264408"/>
            <a:ext cx="512064" cy="512064"/>
          </a:xfrm>
          <a:prstGeom prst="ellipse">
            <a:avLst/>
          </a:prstGeom>
          <a:solidFill>
            <a:srgbClr val="1F4E9B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12648" y="32644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2364377" y="3840480"/>
            <a:ext cx="0" cy="182880"/>
          </a:xfrm>
          <a:prstGeom prst="line">
            <a:avLst/>
          </a:prstGeom>
          <a:noFill/>
          <a:ln w="17780">
            <a:solidFill>
              <a:srgbClr val="D99400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1715153" y="4023360"/>
            <a:ext cx="129844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7DCE4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715153" y="4023360"/>
            <a:ext cx="1298448" cy="82296"/>
          </a:xfrm>
          <a:prstGeom prst="rect">
            <a:avLst/>
          </a:prstGeom>
          <a:solidFill>
            <a:srgbClr val="D99400"/>
          </a:solidFill>
          <a:ln/>
        </p:spPr>
      </p:sp>
      <p:sp>
        <p:nvSpPr>
          <p:cNvPr id="16" name="Text 14"/>
          <p:cNvSpPr/>
          <p:nvPr/>
        </p:nvSpPr>
        <p:spPr>
          <a:xfrm>
            <a:off x="1770017" y="4133088"/>
            <a:ext cx="1188720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6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Divulgação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Publicação na Pandapé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108345" y="3264408"/>
            <a:ext cx="512064" cy="512064"/>
          </a:xfrm>
          <a:prstGeom prst="ellipse">
            <a:avLst/>
          </a:prstGeom>
          <a:solidFill>
            <a:srgbClr val="D99400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108345" y="32644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 flipV="1">
            <a:off x="3860074" y="3017520"/>
            <a:ext cx="0" cy="182880"/>
          </a:xfrm>
          <a:prstGeom prst="line">
            <a:avLst/>
          </a:prstGeom>
          <a:noFill/>
          <a:ln w="17780">
            <a:solidFill>
              <a:srgbClr val="1F4E9B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3210850" y="1810512"/>
            <a:ext cx="129844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7DCE4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10850" y="1810512"/>
            <a:ext cx="1298448" cy="82296"/>
          </a:xfrm>
          <a:prstGeom prst="rect">
            <a:avLst/>
          </a:prstGeom>
          <a:solidFill>
            <a:srgbClr val="1F4E9B"/>
          </a:solidFill>
          <a:ln/>
        </p:spPr>
      </p:sp>
      <p:sp>
        <p:nvSpPr>
          <p:cNvPr id="22" name="Text 20"/>
          <p:cNvSpPr/>
          <p:nvPr/>
        </p:nvSpPr>
        <p:spPr>
          <a:xfrm>
            <a:off x="3265714" y="1920240"/>
            <a:ext cx="1188720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6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Triagem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de currículos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04042" y="3264408"/>
            <a:ext cx="512064" cy="512064"/>
          </a:xfrm>
          <a:prstGeom prst="ellipse">
            <a:avLst/>
          </a:prstGeom>
          <a:solidFill>
            <a:srgbClr val="1F4E9B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04042" y="32644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5355771" y="3840480"/>
            <a:ext cx="0" cy="182880"/>
          </a:xfrm>
          <a:prstGeom prst="line">
            <a:avLst/>
          </a:prstGeom>
          <a:noFill/>
          <a:ln w="17780">
            <a:solidFill>
              <a:srgbClr val="D99400"/>
            </a:solidFill>
            <a:prstDash val="solid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4706547" y="4023360"/>
            <a:ext cx="129844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7DCE4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06547" y="4023360"/>
            <a:ext cx="1298448" cy="82296"/>
          </a:xfrm>
          <a:prstGeom prst="rect">
            <a:avLst/>
          </a:prstGeom>
          <a:solidFill>
            <a:srgbClr val="D99400"/>
          </a:solidFill>
          <a:ln/>
        </p:spPr>
      </p:sp>
      <p:sp>
        <p:nvSpPr>
          <p:cNvPr id="28" name="Text 26"/>
          <p:cNvSpPr/>
          <p:nvPr/>
        </p:nvSpPr>
        <p:spPr>
          <a:xfrm>
            <a:off x="4761411" y="4133088"/>
            <a:ext cx="1188720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6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Entrevistas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 e gestor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099739" y="3264408"/>
            <a:ext cx="512064" cy="512064"/>
          </a:xfrm>
          <a:prstGeom prst="ellipse">
            <a:avLst/>
          </a:prstGeom>
          <a:solidFill>
            <a:srgbClr val="D99400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5099739" y="32644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 flipV="1">
            <a:off x="6851469" y="3017520"/>
            <a:ext cx="0" cy="182880"/>
          </a:xfrm>
          <a:prstGeom prst="line">
            <a:avLst/>
          </a:prstGeom>
          <a:noFill/>
          <a:ln w="17780">
            <a:solidFill>
              <a:srgbClr val="1F4E9B"/>
            </a:solidFill>
            <a:prstDash val="solid"/>
            <a:headEnd type="none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6202245" y="1810512"/>
            <a:ext cx="129844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7DCE4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202245" y="1810512"/>
            <a:ext cx="1298448" cy="82296"/>
          </a:xfrm>
          <a:prstGeom prst="rect">
            <a:avLst/>
          </a:prstGeom>
          <a:solidFill>
            <a:srgbClr val="1F4E9B"/>
          </a:solidFill>
          <a:ln/>
        </p:spPr>
      </p:sp>
      <p:sp>
        <p:nvSpPr>
          <p:cNvPr id="34" name="Text 32"/>
          <p:cNvSpPr/>
          <p:nvPr/>
        </p:nvSpPr>
        <p:spPr>
          <a:xfrm>
            <a:off x="6257109" y="1920240"/>
            <a:ext cx="1188720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6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Aprovação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 e validações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595437" y="3264408"/>
            <a:ext cx="512064" cy="512064"/>
          </a:xfrm>
          <a:prstGeom prst="ellipse">
            <a:avLst/>
          </a:prstGeom>
          <a:solidFill>
            <a:srgbClr val="1F4E9B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95437" y="32644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8347166" y="3840480"/>
            <a:ext cx="0" cy="182880"/>
          </a:xfrm>
          <a:prstGeom prst="line">
            <a:avLst/>
          </a:prstGeom>
          <a:noFill/>
          <a:ln w="17780">
            <a:solidFill>
              <a:srgbClr val="D99400"/>
            </a:solidFill>
            <a:prstDash val="solid"/>
            <a:headEnd type="none"/>
            <a:tailEnd type="none"/>
          </a:ln>
        </p:spPr>
      </p:sp>
      <p:sp>
        <p:nvSpPr>
          <p:cNvPr id="38" name="Shape 36"/>
          <p:cNvSpPr/>
          <p:nvPr/>
        </p:nvSpPr>
        <p:spPr>
          <a:xfrm>
            <a:off x="7697942" y="4023360"/>
            <a:ext cx="129844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7DCE4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7697942" y="4023360"/>
            <a:ext cx="1298448" cy="82296"/>
          </a:xfrm>
          <a:prstGeom prst="rect">
            <a:avLst/>
          </a:prstGeom>
          <a:solidFill>
            <a:srgbClr val="D99400"/>
          </a:solidFill>
          <a:ln/>
        </p:spPr>
      </p:sp>
      <p:sp>
        <p:nvSpPr>
          <p:cNvPr id="40" name="Text 38"/>
          <p:cNvSpPr/>
          <p:nvPr/>
        </p:nvSpPr>
        <p:spPr>
          <a:xfrm>
            <a:off x="7752806" y="4133088"/>
            <a:ext cx="1188720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6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Carta e negociação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8091134" y="3264408"/>
            <a:ext cx="512064" cy="512064"/>
          </a:xfrm>
          <a:prstGeom prst="ellipse">
            <a:avLst/>
          </a:prstGeom>
          <a:solidFill>
            <a:srgbClr val="D99400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091134" y="32644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 flipV="1">
            <a:off x="9842863" y="3017520"/>
            <a:ext cx="0" cy="182880"/>
          </a:xfrm>
          <a:prstGeom prst="line">
            <a:avLst/>
          </a:prstGeom>
          <a:noFill/>
          <a:ln w="17780">
            <a:solidFill>
              <a:srgbClr val="1F4E9B"/>
            </a:solidFill>
            <a:prstDash val="solid"/>
            <a:headEnd type="none"/>
            <a:tailEnd type="none"/>
          </a:ln>
        </p:spPr>
      </p:sp>
      <p:sp>
        <p:nvSpPr>
          <p:cNvPr id="44" name="Shape 42"/>
          <p:cNvSpPr/>
          <p:nvPr/>
        </p:nvSpPr>
        <p:spPr>
          <a:xfrm>
            <a:off x="9193639" y="1810512"/>
            <a:ext cx="129844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7DCE4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9193639" y="1810512"/>
            <a:ext cx="1298448" cy="82296"/>
          </a:xfrm>
          <a:prstGeom prst="rect">
            <a:avLst/>
          </a:prstGeom>
          <a:solidFill>
            <a:srgbClr val="1F4E9B"/>
          </a:solidFill>
          <a:ln/>
        </p:spPr>
      </p:sp>
      <p:sp>
        <p:nvSpPr>
          <p:cNvPr id="46" name="Text 44"/>
          <p:cNvSpPr/>
          <p:nvPr/>
        </p:nvSpPr>
        <p:spPr>
          <a:xfrm>
            <a:off x="9248503" y="1920240"/>
            <a:ext cx="1188720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6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Admissão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Assinatura via GOV.BR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9586831" y="3264408"/>
            <a:ext cx="512064" cy="512064"/>
          </a:xfrm>
          <a:prstGeom prst="ellipse">
            <a:avLst/>
          </a:prstGeom>
          <a:solidFill>
            <a:srgbClr val="1F4E9B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9586831" y="32644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11338560" y="3840480"/>
            <a:ext cx="0" cy="182880"/>
          </a:xfrm>
          <a:prstGeom prst="line">
            <a:avLst/>
          </a:prstGeom>
          <a:noFill/>
          <a:ln w="17780">
            <a:solidFill>
              <a:srgbClr val="D99400"/>
            </a:solidFill>
            <a:prstDash val="solid"/>
            <a:headEnd type="none"/>
            <a:tailEnd type="none"/>
          </a:ln>
        </p:spPr>
      </p:sp>
      <p:sp>
        <p:nvSpPr>
          <p:cNvPr id="50" name="Shape 48"/>
          <p:cNvSpPr/>
          <p:nvPr/>
        </p:nvSpPr>
        <p:spPr>
          <a:xfrm>
            <a:off x="10689336" y="4023360"/>
            <a:ext cx="1298448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7DCE4"/>
            </a:solidFill>
            <a:prstDash val="solid"/>
          </a:ln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10689336" y="4023360"/>
            <a:ext cx="1298448" cy="82296"/>
          </a:xfrm>
          <a:prstGeom prst="rect">
            <a:avLst/>
          </a:prstGeom>
          <a:solidFill>
            <a:srgbClr val="D99400"/>
          </a:solidFill>
          <a:ln/>
        </p:spPr>
      </p:sp>
      <p:sp>
        <p:nvSpPr>
          <p:cNvPr id="52" name="Text 50"/>
          <p:cNvSpPr/>
          <p:nvPr/>
        </p:nvSpPr>
        <p:spPr>
          <a:xfrm>
            <a:off x="10744200" y="4133088"/>
            <a:ext cx="1188720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6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do colaborador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11082528" y="3264408"/>
            <a:ext cx="512064" cy="512064"/>
          </a:xfrm>
          <a:prstGeom prst="ellipse">
            <a:avLst/>
          </a:prstGeom>
          <a:solidFill>
            <a:srgbClr val="D99400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11082528" y="32644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500" dirty="0"/>
          </a:p>
        </p:txBody>
      </p:sp>
      <p:sp>
        <p:nvSpPr>
          <p:cNvPr id="55" name="Text 53"/>
          <p:cNvSpPr/>
          <p:nvPr/>
        </p:nvSpPr>
        <p:spPr>
          <a:xfrm>
            <a:off x="365760" y="534924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pedido à integração — um fluxo estruturado, auditável e orientado a decisões.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353507" y="5806440"/>
            <a:ext cx="2606040" cy="749808"/>
          </a:xfrm>
          <a:prstGeom prst="roundRect">
            <a:avLst>
              <a:gd name="adj" fmla="val 12195"/>
            </a:avLst>
          </a:prstGeom>
          <a:solidFill>
            <a:srgbClr val="F4F6F9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353507" y="5806440"/>
            <a:ext cx="91440" cy="749808"/>
          </a:xfrm>
          <a:prstGeom prst="rect">
            <a:avLst/>
          </a:prstGeom>
          <a:solidFill>
            <a:srgbClr val="1F4E9B"/>
          </a:solidFill>
          <a:ln/>
        </p:spPr>
      </p:sp>
      <p:sp>
        <p:nvSpPr>
          <p:cNvPr id="58" name="Text 56"/>
          <p:cNvSpPr/>
          <p:nvPr/>
        </p:nvSpPr>
        <p:spPr>
          <a:xfrm>
            <a:off x="518099" y="5806440"/>
            <a:ext cx="777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4E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600" dirty="0"/>
          </a:p>
        </p:txBody>
      </p:sp>
      <p:sp>
        <p:nvSpPr>
          <p:cNvPr id="59" name="Text 57"/>
          <p:cNvSpPr/>
          <p:nvPr/>
        </p:nvSpPr>
        <p:spPr>
          <a:xfrm>
            <a:off x="1286195" y="5806440"/>
            <a:ext cx="1600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 principais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3313054" y="5806440"/>
            <a:ext cx="2606040" cy="749808"/>
          </a:xfrm>
          <a:prstGeom prst="roundRect">
            <a:avLst>
              <a:gd name="adj" fmla="val 12195"/>
            </a:avLst>
          </a:prstGeom>
          <a:solidFill>
            <a:srgbClr val="F4F6F9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3313054" y="5806440"/>
            <a:ext cx="91440" cy="749808"/>
          </a:xfrm>
          <a:prstGeom prst="rect">
            <a:avLst/>
          </a:prstGeom>
          <a:solidFill>
            <a:srgbClr val="D99400"/>
          </a:solidFill>
          <a:ln/>
        </p:spPr>
      </p:sp>
      <p:sp>
        <p:nvSpPr>
          <p:cNvPr id="62" name="Text 60"/>
          <p:cNvSpPr/>
          <p:nvPr/>
        </p:nvSpPr>
        <p:spPr>
          <a:xfrm>
            <a:off x="3477646" y="5806440"/>
            <a:ext cx="777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9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600" dirty="0"/>
          </a:p>
        </p:txBody>
      </p:sp>
      <p:sp>
        <p:nvSpPr>
          <p:cNvPr id="63" name="Text 61"/>
          <p:cNvSpPr/>
          <p:nvPr/>
        </p:nvSpPr>
        <p:spPr>
          <a:xfrm>
            <a:off x="4245742" y="5806440"/>
            <a:ext cx="1600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de decisão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6272601" y="5806440"/>
            <a:ext cx="2606040" cy="749808"/>
          </a:xfrm>
          <a:prstGeom prst="roundRect">
            <a:avLst>
              <a:gd name="adj" fmla="val 12195"/>
            </a:avLst>
          </a:prstGeom>
          <a:solidFill>
            <a:srgbClr val="F4F6F9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65" name="Shape 63"/>
          <p:cNvSpPr/>
          <p:nvPr/>
        </p:nvSpPr>
        <p:spPr>
          <a:xfrm>
            <a:off x="6272601" y="5806440"/>
            <a:ext cx="91440" cy="749808"/>
          </a:xfrm>
          <a:prstGeom prst="rect">
            <a:avLst/>
          </a:prstGeom>
          <a:solidFill>
            <a:srgbClr val="1F4E9B"/>
          </a:solidFill>
          <a:ln/>
        </p:spPr>
      </p:sp>
      <p:sp>
        <p:nvSpPr>
          <p:cNvPr id="66" name="Text 64"/>
          <p:cNvSpPr/>
          <p:nvPr/>
        </p:nvSpPr>
        <p:spPr>
          <a:xfrm>
            <a:off x="6437193" y="5806440"/>
            <a:ext cx="777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4E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600" dirty="0"/>
          </a:p>
        </p:txBody>
      </p:sp>
      <p:sp>
        <p:nvSpPr>
          <p:cNvPr id="67" name="Text 65"/>
          <p:cNvSpPr/>
          <p:nvPr/>
        </p:nvSpPr>
        <p:spPr>
          <a:xfrm>
            <a:off x="7205289" y="5806440"/>
            <a:ext cx="1600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integrados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9232148" y="5806440"/>
            <a:ext cx="2606040" cy="749808"/>
          </a:xfrm>
          <a:prstGeom prst="roundRect">
            <a:avLst>
              <a:gd name="adj" fmla="val 12195"/>
            </a:avLst>
          </a:prstGeom>
          <a:solidFill>
            <a:srgbClr val="F4F6F9"/>
          </a:solidFill>
          <a:ln/>
          <a:effectLst>
            <a:outerShdw sx="100000" sy="100000" kx="0" ky="0" algn="bl" rotWithShape="0" blurRad="63500" dist="31750" dir="5400000">
              <a:srgbClr val="1B2A44">
                <a:alpha val="30000"/>
              </a:srgbClr>
            </a:outerShdw>
          </a:effectLst>
        </p:spPr>
      </p:sp>
      <p:sp>
        <p:nvSpPr>
          <p:cNvPr id="69" name="Shape 67"/>
          <p:cNvSpPr/>
          <p:nvPr/>
        </p:nvSpPr>
        <p:spPr>
          <a:xfrm>
            <a:off x="9232148" y="5806440"/>
            <a:ext cx="91440" cy="74980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70" name="Text 68"/>
          <p:cNvSpPr/>
          <p:nvPr/>
        </p:nvSpPr>
        <p:spPr>
          <a:xfrm>
            <a:off x="9396740" y="5806440"/>
            <a:ext cx="777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600" dirty="0"/>
          </a:p>
        </p:txBody>
      </p:sp>
      <p:sp>
        <p:nvSpPr>
          <p:cNvPr id="71" name="Text 69"/>
          <p:cNvSpPr/>
          <p:nvPr/>
        </p:nvSpPr>
        <p:spPr>
          <a:xfrm>
            <a:off x="10164836" y="5806440"/>
            <a:ext cx="1600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4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possíveis encerramentos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Fluxo do Processo de Recrutamento e Seleção</dc:title>
  <dc:subject>PptxGenJS Presentation</dc:subject>
  <dc:creator>Déborah Giovana de Andrade Gonçalves</dc:creator>
  <cp:lastModifiedBy>Déborah Giovana de Andrade Gonçalves</cp:lastModifiedBy>
  <cp:revision>1</cp:revision>
  <dcterms:created xsi:type="dcterms:W3CDTF">2026-07-01T20:22:02Z</dcterms:created>
  <dcterms:modified xsi:type="dcterms:W3CDTF">2026-07-01T20:22:02Z</dcterms:modified>
</cp:coreProperties>
</file>