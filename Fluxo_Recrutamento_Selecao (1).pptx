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5D4A"/>
    <a:srgbClr val="C0402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2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50" y="-7764"/>
            <a:ext cx="5029200" cy="6858000"/>
          </a:xfrm>
          <a:prstGeom prst="rect">
            <a:avLst/>
          </a:prstGeom>
          <a:solidFill>
            <a:srgbClr val="0E1F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Fluxograma: Conector 47">
            <a:extLst>
              <a:ext uri="{FF2B5EF4-FFF2-40B4-BE49-F238E27FC236}">
                <a16:creationId xmlns:a16="http://schemas.microsoft.com/office/drawing/2014/main" id="{A6FD1621-553A-0A30-1479-CDE11BE42FA0}"/>
              </a:ext>
            </a:extLst>
          </p:cNvPr>
          <p:cNvSpPr/>
          <p:nvPr/>
        </p:nvSpPr>
        <p:spPr>
          <a:xfrm>
            <a:off x="669755" y="1613283"/>
            <a:ext cx="3682789" cy="3643702"/>
          </a:xfrm>
          <a:prstGeom prst="flowChartConnector">
            <a:avLst/>
          </a:prstGeom>
          <a:blipFill dpi="0" rotWithShape="1">
            <a:blip r:embed="rId3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6140" t="-29241" r="-162040" b="-30409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0" y="-1463040"/>
            <a:ext cx="2743200" cy="2743200"/>
          </a:xfrm>
          <a:prstGeom prst="ellipse">
            <a:avLst/>
          </a:prstGeom>
          <a:solidFill>
            <a:srgbClr val="0D6665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C0402F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48640" y="457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0" y="201168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 Processo de</a:t>
            </a:r>
            <a:endParaRPr lang="en-US" sz="3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 e Seleção</a:t>
            </a:r>
            <a:endParaRPr lang="en-US" sz="3300" dirty="0"/>
          </a:p>
        </p:txBody>
      </p:sp>
      <p:sp>
        <p:nvSpPr>
          <p:cNvPr id="10" name="Shape 6"/>
          <p:cNvSpPr/>
          <p:nvPr/>
        </p:nvSpPr>
        <p:spPr>
          <a:xfrm>
            <a:off x="5532120" y="3858768"/>
            <a:ext cx="1554480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5486400" y="4041648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Etapas, aprovações, sistemas utilizados e pontos de decisão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640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  ·  Processo de R&amp;S</a:t>
            </a:r>
            <a:endParaRPr lang="en-US" sz="1000" dirty="0"/>
          </a:p>
        </p:txBody>
      </p:sp>
      <p:pic>
        <p:nvPicPr>
          <p:cNvPr id="43" name="Image 2" descr="/home/deborah-andrade846/PPT---RH/rh/aura_logo_trim.png">
            <a:extLst>
              <a:ext uri="{FF2B5EF4-FFF2-40B4-BE49-F238E27FC236}">
                <a16:creationId xmlns:a16="http://schemas.microsoft.com/office/drawing/2014/main" id="{5A945731-228C-8757-3B32-404D17BB5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5806440"/>
            <a:ext cx="1234440" cy="722376"/>
          </a:xfrm>
          <a:prstGeom prst="rect">
            <a:avLst/>
          </a:prstGeom>
        </p:spPr>
      </p:pic>
      <p:sp>
        <p:nvSpPr>
          <p:cNvPr id="52" name="Shape 4">
            <a:extLst>
              <a:ext uri="{FF2B5EF4-FFF2-40B4-BE49-F238E27FC236}">
                <a16:creationId xmlns:a16="http://schemas.microsoft.com/office/drawing/2014/main" id="{86D0CB5C-0B37-08B8-8591-1F751D37A6A9}"/>
              </a:ext>
            </a:extLst>
          </p:cNvPr>
          <p:cNvSpPr/>
          <p:nvPr/>
        </p:nvSpPr>
        <p:spPr>
          <a:xfrm flipH="1">
            <a:off x="9649477" y="547206"/>
            <a:ext cx="900000" cy="90000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">
            <a:extLst>
              <a:ext uri="{FF2B5EF4-FFF2-40B4-BE49-F238E27FC236}">
                <a16:creationId xmlns:a16="http://schemas.microsoft.com/office/drawing/2014/main" id="{918D1026-B62C-D35A-3A5C-287088EB4E4A}"/>
              </a:ext>
            </a:extLst>
          </p:cNvPr>
          <p:cNvSpPr/>
          <p:nvPr/>
        </p:nvSpPr>
        <p:spPr>
          <a:xfrm>
            <a:off x="10556618" y="547206"/>
            <a:ext cx="900000" cy="90000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6">
            <a:extLst>
              <a:ext uri="{FF2B5EF4-FFF2-40B4-BE49-F238E27FC236}">
                <a16:creationId xmlns:a16="http://schemas.microsoft.com/office/drawing/2014/main" id="{CEE4803F-A35C-4EBB-BE71-2423EE250198}"/>
              </a:ext>
            </a:extLst>
          </p:cNvPr>
          <p:cNvSpPr/>
          <p:nvPr/>
        </p:nvSpPr>
        <p:spPr>
          <a:xfrm>
            <a:off x="10547470" y="548806"/>
            <a:ext cx="0" cy="180000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7">
            <a:extLst>
              <a:ext uri="{FF2B5EF4-FFF2-40B4-BE49-F238E27FC236}">
                <a16:creationId xmlns:a16="http://schemas.microsoft.com/office/drawing/2014/main" id="{90721EEE-1FC0-CC46-F047-8429208DB89E}"/>
              </a:ext>
            </a:extLst>
          </p:cNvPr>
          <p:cNvSpPr/>
          <p:nvPr/>
        </p:nvSpPr>
        <p:spPr>
          <a:xfrm>
            <a:off x="9653410" y="1440180"/>
            <a:ext cx="1800000" cy="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A729475D-54F6-D45B-C78D-2B98A1EE1312}"/>
              </a:ext>
            </a:extLst>
          </p:cNvPr>
          <p:cNvSpPr/>
          <p:nvPr/>
        </p:nvSpPr>
        <p:spPr>
          <a:xfrm>
            <a:off x="9662038" y="1457432"/>
            <a:ext cx="900000" cy="90000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9">
            <a:extLst>
              <a:ext uri="{FF2B5EF4-FFF2-40B4-BE49-F238E27FC236}">
                <a16:creationId xmlns:a16="http://schemas.microsoft.com/office/drawing/2014/main" id="{C25FFCA6-F663-B3BF-DBBD-3114CD735FD2}"/>
              </a:ext>
            </a:extLst>
          </p:cNvPr>
          <p:cNvSpPr/>
          <p:nvPr/>
        </p:nvSpPr>
        <p:spPr>
          <a:xfrm flipH="1">
            <a:off x="10550440" y="1448806"/>
            <a:ext cx="900000" cy="90000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 dirty="0"/>
          </a:p>
        </p:txBody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95EF24F6-68D3-5B8E-072F-409FB5743C35}"/>
              </a:ext>
            </a:extLst>
          </p:cNvPr>
          <p:cNvSpPr/>
          <p:nvPr/>
        </p:nvSpPr>
        <p:spPr>
          <a:xfrm>
            <a:off x="10419096" y="143862"/>
            <a:ext cx="252000" cy="252000"/>
          </a:xfrm>
          <a:prstGeom prst="flowChartConnector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6" name="Shape 12">
            <a:extLst>
              <a:ext uri="{FF2B5EF4-FFF2-40B4-BE49-F238E27FC236}">
                <a16:creationId xmlns:a16="http://schemas.microsoft.com/office/drawing/2014/main" id="{E6BFC008-5C04-99A1-1A7A-D9C0BCF5CB58}"/>
              </a:ext>
            </a:extLst>
          </p:cNvPr>
          <p:cNvSpPr/>
          <p:nvPr/>
        </p:nvSpPr>
        <p:spPr>
          <a:xfrm>
            <a:off x="9474148" y="1070806"/>
            <a:ext cx="252000" cy="252000"/>
          </a:xfrm>
          <a:prstGeom prst="ellipse">
            <a:avLst/>
          </a:prstGeom>
          <a:solidFill>
            <a:srgbClr val="00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Shape 13">
            <a:extLst>
              <a:ext uri="{FF2B5EF4-FFF2-40B4-BE49-F238E27FC236}">
                <a16:creationId xmlns:a16="http://schemas.microsoft.com/office/drawing/2014/main" id="{6CE68440-A212-E11C-24A6-37C5E6EEE734}"/>
              </a:ext>
            </a:extLst>
          </p:cNvPr>
          <p:cNvSpPr/>
          <p:nvPr/>
        </p:nvSpPr>
        <p:spPr>
          <a:xfrm>
            <a:off x="9384148" y="1314180"/>
            <a:ext cx="432000" cy="252000"/>
          </a:xfrm>
          <a:prstGeom prst="roundRect">
            <a:avLst>
              <a:gd name="adj" fmla="val 41176"/>
            </a:avLst>
          </a:prstGeom>
          <a:solidFill>
            <a:srgbClr val="00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D7963E7B-48F5-A482-BF45-AF6BAFC58253}"/>
              </a:ext>
            </a:extLst>
          </p:cNvPr>
          <p:cNvSpPr/>
          <p:nvPr/>
        </p:nvSpPr>
        <p:spPr>
          <a:xfrm>
            <a:off x="11511743" y="1069848"/>
            <a:ext cx="252000" cy="252000"/>
          </a:xfrm>
          <a:prstGeom prst="ellipse">
            <a:avLst/>
          </a:prstGeom>
          <a:solidFill>
            <a:srgbClr val="00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Shape 15">
            <a:extLst>
              <a:ext uri="{FF2B5EF4-FFF2-40B4-BE49-F238E27FC236}">
                <a16:creationId xmlns:a16="http://schemas.microsoft.com/office/drawing/2014/main" id="{8770F26E-5084-8D87-3BD6-F0CD2C4B88ED}"/>
              </a:ext>
            </a:extLst>
          </p:cNvPr>
          <p:cNvSpPr/>
          <p:nvPr/>
        </p:nvSpPr>
        <p:spPr>
          <a:xfrm>
            <a:off x="11432903" y="1314180"/>
            <a:ext cx="432000" cy="252000"/>
          </a:xfrm>
          <a:prstGeom prst="roundRect">
            <a:avLst>
              <a:gd name="adj" fmla="val 41176"/>
            </a:avLst>
          </a:prstGeom>
          <a:solidFill>
            <a:srgbClr val="00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Shape 16">
            <a:extLst>
              <a:ext uri="{FF2B5EF4-FFF2-40B4-BE49-F238E27FC236}">
                <a16:creationId xmlns:a16="http://schemas.microsoft.com/office/drawing/2014/main" id="{802757B3-FCE9-ED87-A148-91300DED981C}"/>
              </a:ext>
            </a:extLst>
          </p:cNvPr>
          <p:cNvSpPr/>
          <p:nvPr/>
        </p:nvSpPr>
        <p:spPr>
          <a:xfrm>
            <a:off x="10415790" y="2105431"/>
            <a:ext cx="252000" cy="252000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Shape 17">
            <a:extLst>
              <a:ext uri="{FF2B5EF4-FFF2-40B4-BE49-F238E27FC236}">
                <a16:creationId xmlns:a16="http://schemas.microsoft.com/office/drawing/2014/main" id="{92C5FCFE-6F41-1C42-F539-F94123BA2158}"/>
              </a:ext>
            </a:extLst>
          </p:cNvPr>
          <p:cNvSpPr/>
          <p:nvPr/>
        </p:nvSpPr>
        <p:spPr>
          <a:xfrm>
            <a:off x="10341541" y="2324648"/>
            <a:ext cx="432000" cy="252000"/>
          </a:xfrm>
          <a:prstGeom prst="roundRect">
            <a:avLst>
              <a:gd name="adj" fmla="val 41176"/>
            </a:avLst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Shape 11">
            <a:extLst>
              <a:ext uri="{FF2B5EF4-FFF2-40B4-BE49-F238E27FC236}">
                <a16:creationId xmlns:a16="http://schemas.microsoft.com/office/drawing/2014/main" id="{43CB0805-29E9-4270-057B-2DFF2BFA8142}"/>
              </a:ext>
            </a:extLst>
          </p:cNvPr>
          <p:cNvSpPr/>
          <p:nvPr/>
        </p:nvSpPr>
        <p:spPr>
          <a:xfrm>
            <a:off x="10331470" y="356433"/>
            <a:ext cx="432000" cy="252000"/>
          </a:xfrm>
          <a:prstGeom prst="roundRect">
            <a:avLst>
              <a:gd name="adj" fmla="val 41176"/>
            </a:avLst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do Processo de Recrutamento e Seleção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Fluxograma executivo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005840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11480" y="1005840"/>
            <a:ext cx="91440" cy="822960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94360" y="112471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9436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69848" y="1033272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de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Portal de Serviços (HUB RH)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 abertura da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· Centro de custo · Escopo · Contratação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11480" y="1993392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11480" y="1993392"/>
            <a:ext cx="91440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94360" y="2112264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9436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69848" y="2020824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da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na Pandapé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Quintas-feiras · permanência de 7 dias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Vagas · Aura Comunica (sexta)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11480" y="2944368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11480" y="2944368"/>
            <a:ext cx="91440" cy="731520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94360" y="3063240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9436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69848" y="2971800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Currículos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técnica dos currículos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com os requisitos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candidatos aderentes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840480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411480" y="3840480"/>
            <a:ext cx="91440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5943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69848" y="3867912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RH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comportamental · histórico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· alinhamento cultural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Pretensão salarial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805940" y="1828800"/>
            <a:ext cx="0" cy="164592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1805940" y="2779776"/>
            <a:ext cx="0" cy="164592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1805940" y="3675888"/>
            <a:ext cx="0" cy="164592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1805940" y="4626864"/>
            <a:ext cx="0" cy="64008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1097280" y="4686300"/>
            <a:ext cx="1417320" cy="777240"/>
          </a:xfrm>
          <a:prstGeom prst="diamond">
            <a:avLst/>
          </a:prstGeom>
          <a:solidFill>
            <a:srgbClr val="E45D4A"/>
          </a:solidFill>
          <a:ln w="12700">
            <a:solidFill>
              <a:srgbClr val="C0402F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1097280" y="46863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93192" y="47823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 flipH="1">
            <a:off x="640080" y="5074920"/>
            <a:ext cx="452628" cy="0"/>
          </a:xfrm>
          <a:prstGeom prst="line">
            <a:avLst/>
          </a:prstGeom>
          <a:noFill/>
          <a:ln w="19050">
            <a:solidFill>
              <a:srgbClr val="B23A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2"/>
          <p:cNvSpPr/>
          <p:nvPr/>
        </p:nvSpPr>
        <p:spPr>
          <a:xfrm>
            <a:off x="91440" y="534924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F3DBD7"/>
          </a:solidFill>
          <a:ln w="12700">
            <a:solidFill>
              <a:srgbClr val="B23A2E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91440" y="5349240"/>
            <a:ext cx="14173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 · processo encerrado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40080" y="5093208"/>
            <a:ext cx="155448" cy="256032"/>
          </a:xfrm>
          <a:prstGeom prst="line">
            <a:avLst/>
          </a:prstGeom>
          <a:noFill/>
          <a:ln w="17780">
            <a:solidFill>
              <a:srgbClr val="B23A2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2189988" y="50566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611880" y="1005840"/>
            <a:ext cx="1874520" cy="402336"/>
          </a:xfrm>
          <a:prstGeom prst="roundRect">
            <a:avLst>
              <a:gd name="adj" fmla="val 22727"/>
            </a:avLst>
          </a:prstGeom>
          <a:solidFill>
            <a:srgbClr val="1E8A80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3611880" y="100584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Patrimonial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3611880" y="1426464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paralelo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3611880" y="1755648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3611880" y="1755648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Forms</a:t>
            </a:r>
            <a:endParaRPr lang="en-US" sz="870" dirty="0"/>
          </a:p>
        </p:txBody>
      </p:sp>
      <p:sp>
        <p:nvSpPr>
          <p:cNvPr id="44" name="Shape 41"/>
          <p:cNvSpPr/>
          <p:nvPr/>
        </p:nvSpPr>
        <p:spPr>
          <a:xfrm>
            <a:off x="3611880" y="2340864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Text 42"/>
          <p:cNvSpPr/>
          <p:nvPr/>
        </p:nvSpPr>
        <p:spPr>
          <a:xfrm>
            <a:off x="3611880" y="2340864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pelo candidato</a:t>
            </a:r>
            <a:endParaRPr lang="en-US" sz="870" dirty="0"/>
          </a:p>
        </p:txBody>
      </p:sp>
      <p:sp>
        <p:nvSpPr>
          <p:cNvPr id="46" name="Shape 43"/>
          <p:cNvSpPr/>
          <p:nvPr/>
        </p:nvSpPr>
        <p:spPr>
          <a:xfrm>
            <a:off x="3611880" y="292608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7" name="Text 44"/>
          <p:cNvSpPr/>
          <p:nvPr/>
        </p:nvSpPr>
        <p:spPr>
          <a:xfrm>
            <a:off x="3611880" y="2926080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patrimonial</a:t>
            </a:r>
            <a:endParaRPr lang="en-US" sz="870" dirty="0"/>
          </a:p>
        </p:txBody>
      </p:sp>
      <p:sp>
        <p:nvSpPr>
          <p:cNvPr id="48" name="Shape 45"/>
          <p:cNvSpPr/>
          <p:nvPr/>
        </p:nvSpPr>
        <p:spPr>
          <a:xfrm>
            <a:off x="4549140" y="1645920"/>
            <a:ext cx="0" cy="109728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6"/>
          <p:cNvSpPr/>
          <p:nvPr/>
        </p:nvSpPr>
        <p:spPr>
          <a:xfrm>
            <a:off x="4549140" y="2176272"/>
            <a:ext cx="0" cy="164592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7"/>
          <p:cNvSpPr/>
          <p:nvPr/>
        </p:nvSpPr>
        <p:spPr>
          <a:xfrm>
            <a:off x="4549140" y="2761488"/>
            <a:ext cx="0" cy="164592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8"/>
          <p:cNvSpPr/>
          <p:nvPr/>
        </p:nvSpPr>
        <p:spPr>
          <a:xfrm>
            <a:off x="4549140" y="3346704"/>
            <a:ext cx="0" cy="155448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49"/>
          <p:cNvSpPr/>
          <p:nvPr/>
        </p:nvSpPr>
        <p:spPr>
          <a:xfrm>
            <a:off x="3840480" y="3511296"/>
            <a:ext cx="1417320" cy="749808"/>
          </a:xfrm>
          <a:prstGeom prst="diamond">
            <a:avLst/>
          </a:prstGeom>
          <a:solidFill>
            <a:srgbClr val="D8ECE9"/>
          </a:solidFill>
          <a:ln w="12700">
            <a:solidFill>
              <a:srgbClr val="1E8A80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3" name="Text 50"/>
          <p:cNvSpPr/>
          <p:nvPr/>
        </p:nvSpPr>
        <p:spPr>
          <a:xfrm>
            <a:off x="3840480" y="351129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091940" y="42702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549140" y="4261104"/>
            <a:ext cx="0" cy="192024"/>
          </a:xfrm>
          <a:prstGeom prst="line">
            <a:avLst/>
          </a:prstGeom>
          <a:noFill/>
          <a:ln w="17780">
            <a:solidFill>
              <a:srgbClr val="B23A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3"/>
          <p:cNvSpPr/>
          <p:nvPr/>
        </p:nvSpPr>
        <p:spPr>
          <a:xfrm>
            <a:off x="3611880" y="4453128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F3DBD7"/>
          </a:solidFill>
          <a:ln w="12700">
            <a:solidFill>
              <a:srgbClr val="B23A2E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7" name="Text 54"/>
          <p:cNvSpPr/>
          <p:nvPr/>
        </p:nvSpPr>
        <p:spPr>
          <a:xfrm>
            <a:off x="3611880" y="4453128"/>
            <a:ext cx="18745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· processo encerrado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2519172" y="5074920"/>
            <a:ext cx="882396" cy="0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6"/>
          <p:cNvSpPr/>
          <p:nvPr/>
        </p:nvSpPr>
        <p:spPr>
          <a:xfrm flipV="1">
            <a:off x="3401568" y="1207008"/>
            <a:ext cx="0" cy="3867912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0" name="Shape 57"/>
          <p:cNvSpPr/>
          <p:nvPr/>
        </p:nvSpPr>
        <p:spPr>
          <a:xfrm>
            <a:off x="3401568" y="1207008"/>
            <a:ext cx="210312" cy="0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8"/>
          <p:cNvSpPr/>
          <p:nvPr/>
        </p:nvSpPr>
        <p:spPr>
          <a:xfrm>
            <a:off x="5097780" y="36118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5806440" y="1005840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3" name="Shape 60"/>
          <p:cNvSpPr/>
          <p:nvPr/>
        </p:nvSpPr>
        <p:spPr>
          <a:xfrm>
            <a:off x="5806440" y="1005840"/>
            <a:ext cx="91440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Shape 61"/>
          <p:cNvSpPr/>
          <p:nvPr/>
        </p:nvSpPr>
        <p:spPr>
          <a:xfrm>
            <a:off x="5989320" y="112471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5" name="Text 62"/>
          <p:cNvSpPr/>
          <p:nvPr/>
        </p:nvSpPr>
        <p:spPr>
          <a:xfrm>
            <a:off x="598932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6464808" y="1033272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Gestor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técnico · experiência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· fit com a equipe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5262372" y="3886200"/>
            <a:ext cx="333756" cy="0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5"/>
          <p:cNvSpPr/>
          <p:nvPr/>
        </p:nvSpPr>
        <p:spPr>
          <a:xfrm flipV="1">
            <a:off x="5596128" y="1399032"/>
            <a:ext cx="0" cy="2487168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6"/>
          <p:cNvSpPr/>
          <p:nvPr/>
        </p:nvSpPr>
        <p:spPr>
          <a:xfrm>
            <a:off x="5596128" y="1399032"/>
            <a:ext cx="210312" cy="0"/>
          </a:xfrm>
          <a:prstGeom prst="line">
            <a:avLst/>
          </a:prstGeom>
          <a:noFill/>
          <a:ln w="20320">
            <a:solidFill>
              <a:srgbClr val="1E8A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7"/>
          <p:cNvSpPr/>
          <p:nvPr/>
        </p:nvSpPr>
        <p:spPr>
          <a:xfrm>
            <a:off x="7200900" y="1792224"/>
            <a:ext cx="0" cy="164592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8"/>
          <p:cNvSpPr/>
          <p:nvPr/>
        </p:nvSpPr>
        <p:spPr>
          <a:xfrm>
            <a:off x="6423660" y="1956816"/>
            <a:ext cx="1554480" cy="749808"/>
          </a:xfrm>
          <a:prstGeom prst="diamond">
            <a:avLst/>
          </a:prstGeom>
          <a:solidFill>
            <a:srgbClr val="E45D4A"/>
          </a:solidFill>
          <a:ln w="12700">
            <a:solidFill>
              <a:srgbClr val="C0402F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2" name="Text 69"/>
          <p:cNvSpPr/>
          <p:nvPr/>
        </p:nvSpPr>
        <p:spPr>
          <a:xfrm>
            <a:off x="6423660" y="1956816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Finalista?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6240780" y="23134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 flipH="1">
            <a:off x="5742432" y="2331720"/>
            <a:ext cx="681228" cy="0"/>
          </a:xfrm>
          <a:prstGeom prst="line">
            <a:avLst/>
          </a:prstGeom>
          <a:noFill/>
          <a:ln w="17780">
            <a:solidFill>
              <a:srgbClr val="B23A2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2"/>
          <p:cNvSpPr/>
          <p:nvPr/>
        </p:nvSpPr>
        <p:spPr>
          <a:xfrm>
            <a:off x="5742432" y="2331720"/>
            <a:ext cx="0" cy="3685032"/>
          </a:xfrm>
          <a:prstGeom prst="line">
            <a:avLst/>
          </a:prstGeom>
          <a:noFill/>
          <a:ln w="17780">
            <a:solidFill>
              <a:srgbClr val="B23A2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73"/>
          <p:cNvSpPr/>
          <p:nvPr/>
        </p:nvSpPr>
        <p:spPr>
          <a:xfrm>
            <a:off x="5742432" y="6016752"/>
            <a:ext cx="310896" cy="0"/>
          </a:xfrm>
          <a:prstGeom prst="line">
            <a:avLst/>
          </a:prstGeom>
          <a:noFill/>
          <a:ln w="17780">
            <a:solidFill>
              <a:srgbClr val="B23A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74"/>
          <p:cNvSpPr/>
          <p:nvPr/>
        </p:nvSpPr>
        <p:spPr>
          <a:xfrm>
            <a:off x="6053328" y="5760720"/>
            <a:ext cx="2542032" cy="512064"/>
          </a:xfrm>
          <a:prstGeom prst="roundRect">
            <a:avLst>
              <a:gd name="adj" fmla="val 17857"/>
            </a:avLst>
          </a:prstGeom>
          <a:solidFill>
            <a:srgbClr val="F3DBD7"/>
          </a:solidFill>
          <a:ln w="12700">
            <a:solidFill>
              <a:srgbClr val="B23A2E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8" name="Text 75"/>
          <p:cNvSpPr/>
          <p:nvPr/>
        </p:nvSpPr>
        <p:spPr>
          <a:xfrm>
            <a:off x="6053328" y="5760720"/>
            <a:ext cx="2542032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finalista  →  retorna à nova triagem ou nova publicação da vaga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7292340" y="27157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5806440" y="2944368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1" name="Shape 78"/>
          <p:cNvSpPr/>
          <p:nvPr/>
        </p:nvSpPr>
        <p:spPr>
          <a:xfrm>
            <a:off x="5806440" y="2944368"/>
            <a:ext cx="91440" cy="731520"/>
          </a:xfrm>
          <a:prstGeom prst="rect">
            <a:avLst/>
          </a:prstGeom>
          <a:solidFill>
            <a:srgbClr val="C040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Shape 79"/>
          <p:cNvSpPr/>
          <p:nvPr/>
        </p:nvSpPr>
        <p:spPr>
          <a:xfrm>
            <a:off x="5989320" y="3063240"/>
            <a:ext cx="402336" cy="402336"/>
          </a:xfrm>
          <a:prstGeom prst="ellipse">
            <a:avLst/>
          </a:prstGeom>
          <a:solidFill>
            <a:srgbClr val="C0402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3" name="Text 80"/>
          <p:cNvSpPr/>
          <p:nvPr/>
        </p:nvSpPr>
        <p:spPr>
          <a:xfrm>
            <a:off x="598932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84" name="Text 81"/>
          <p:cNvSpPr/>
          <p:nvPr/>
        </p:nvSpPr>
        <p:spPr>
          <a:xfrm>
            <a:off x="6464808" y="2971800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Proposta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RH Custos  ·  Aprovação Gestor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da oferta ao candidato</a:t>
            </a:r>
            <a:endParaRPr lang="en-US" sz="1150" dirty="0"/>
          </a:p>
        </p:txBody>
      </p:sp>
      <p:sp>
        <p:nvSpPr>
          <p:cNvPr id="85" name="Shape 82"/>
          <p:cNvSpPr/>
          <p:nvPr/>
        </p:nvSpPr>
        <p:spPr>
          <a:xfrm>
            <a:off x="7200900" y="2706624"/>
            <a:ext cx="0" cy="237744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6" name="Shape 83"/>
          <p:cNvSpPr/>
          <p:nvPr/>
        </p:nvSpPr>
        <p:spPr>
          <a:xfrm>
            <a:off x="5806440" y="3822192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7" name="Shape 84"/>
          <p:cNvSpPr/>
          <p:nvPr/>
        </p:nvSpPr>
        <p:spPr>
          <a:xfrm>
            <a:off x="5806440" y="3822192"/>
            <a:ext cx="91440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8" name="Shape 85"/>
          <p:cNvSpPr/>
          <p:nvPr/>
        </p:nvSpPr>
        <p:spPr>
          <a:xfrm>
            <a:off x="5989320" y="3941064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9" name="Text 86"/>
          <p:cNvSpPr/>
          <p:nvPr/>
        </p:nvSpPr>
        <p:spPr>
          <a:xfrm>
            <a:off x="598932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90" name="Text 87"/>
          <p:cNvSpPr/>
          <p:nvPr/>
        </p:nvSpPr>
        <p:spPr>
          <a:xfrm>
            <a:off x="6464808" y="3849624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&amp; Assinatura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por e-mail da proposta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eletrônica via GOV.BR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do candidato</a:t>
            </a:r>
            <a:endParaRPr lang="en-US" sz="1150" dirty="0"/>
          </a:p>
        </p:txBody>
      </p:sp>
      <p:sp>
        <p:nvSpPr>
          <p:cNvPr id="91" name="Shape 88"/>
          <p:cNvSpPr/>
          <p:nvPr/>
        </p:nvSpPr>
        <p:spPr>
          <a:xfrm>
            <a:off x="7200900" y="3675888"/>
            <a:ext cx="0" cy="146304"/>
          </a:xfrm>
          <a:prstGeom prst="line">
            <a:avLst/>
          </a:prstGeom>
          <a:noFill/>
          <a:ln w="22860">
            <a:solidFill>
              <a:srgbClr val="3452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2" name="Shape 89"/>
          <p:cNvSpPr/>
          <p:nvPr/>
        </p:nvSpPr>
        <p:spPr>
          <a:xfrm>
            <a:off x="5806440" y="4773168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DCEEEA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3" name="Shape 90"/>
          <p:cNvSpPr/>
          <p:nvPr/>
        </p:nvSpPr>
        <p:spPr>
          <a:xfrm>
            <a:off x="5806440" y="4773168"/>
            <a:ext cx="91440" cy="822960"/>
          </a:xfrm>
          <a:prstGeom prst="rect">
            <a:avLst/>
          </a:prstGeom>
          <a:solidFill>
            <a:srgbClr val="1E8A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4" name="Shape 91"/>
          <p:cNvSpPr/>
          <p:nvPr/>
        </p:nvSpPr>
        <p:spPr>
          <a:xfrm>
            <a:off x="5989320" y="4892040"/>
            <a:ext cx="402336" cy="402336"/>
          </a:xfrm>
          <a:prstGeom prst="ellipse">
            <a:avLst/>
          </a:prstGeom>
          <a:solidFill>
            <a:srgbClr val="1E8A80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5" name="Text 92"/>
          <p:cNvSpPr/>
          <p:nvPr/>
        </p:nvSpPr>
        <p:spPr>
          <a:xfrm>
            <a:off x="5989320" y="4892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96" name="Text 93"/>
          <p:cNvSpPr/>
          <p:nvPr/>
        </p:nvSpPr>
        <p:spPr>
          <a:xfrm>
            <a:off x="6464808" y="4800600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Concluída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 novo colaborador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à equipe e à empresa</a:t>
            </a:r>
            <a:endParaRPr lang="en-US" sz="1150" dirty="0"/>
          </a:p>
        </p:txBody>
      </p:sp>
      <p:sp>
        <p:nvSpPr>
          <p:cNvPr id="97" name="Shape 94"/>
          <p:cNvSpPr/>
          <p:nvPr/>
        </p:nvSpPr>
        <p:spPr>
          <a:xfrm>
            <a:off x="7200900" y="4608576"/>
            <a:ext cx="0" cy="164592"/>
          </a:xfrm>
          <a:prstGeom prst="line">
            <a:avLst/>
          </a:prstGeom>
          <a:noFill/>
          <a:ln w="22860">
            <a:solidFill>
              <a:srgbClr val="1E8A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8" name="Shape 95"/>
          <p:cNvSpPr/>
          <p:nvPr/>
        </p:nvSpPr>
        <p:spPr>
          <a:xfrm>
            <a:off x="8887968" y="1005840"/>
            <a:ext cx="303580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9" name="Shape 96"/>
          <p:cNvSpPr/>
          <p:nvPr/>
        </p:nvSpPr>
        <p:spPr>
          <a:xfrm>
            <a:off x="8887968" y="1005840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0" name="Shape 97"/>
          <p:cNvSpPr/>
          <p:nvPr/>
        </p:nvSpPr>
        <p:spPr>
          <a:xfrm>
            <a:off x="8887968" y="1207008"/>
            <a:ext cx="3035808" cy="182880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Shape 98"/>
          <p:cNvSpPr/>
          <p:nvPr/>
        </p:nvSpPr>
        <p:spPr>
          <a:xfrm>
            <a:off x="8887968" y="1005840"/>
            <a:ext cx="73152" cy="365760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2" name="Text 99"/>
          <p:cNvSpPr/>
          <p:nvPr/>
        </p:nvSpPr>
        <p:spPr>
          <a:xfrm>
            <a:off x="8933688" y="100584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UTILIZADOS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9015984" y="1444752"/>
            <a:ext cx="28163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Portal de Serviços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Outlook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Pandapé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Forms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GOV.BR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Aura Comunica</a:t>
            </a:r>
            <a:endParaRPr lang="en-US" sz="840" dirty="0"/>
          </a:p>
        </p:txBody>
      </p:sp>
      <p:sp>
        <p:nvSpPr>
          <p:cNvPr id="104" name="Shape 101"/>
          <p:cNvSpPr/>
          <p:nvPr/>
        </p:nvSpPr>
        <p:spPr>
          <a:xfrm>
            <a:off x="8887968" y="2962656"/>
            <a:ext cx="303580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5" name="Shape 102"/>
          <p:cNvSpPr/>
          <p:nvPr/>
        </p:nvSpPr>
        <p:spPr>
          <a:xfrm>
            <a:off x="8887968" y="29626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6" name="Shape 103"/>
          <p:cNvSpPr/>
          <p:nvPr/>
        </p:nvSpPr>
        <p:spPr>
          <a:xfrm>
            <a:off x="8887968" y="3163824"/>
            <a:ext cx="3035808" cy="182880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7" name="Shape 104"/>
          <p:cNvSpPr/>
          <p:nvPr/>
        </p:nvSpPr>
        <p:spPr>
          <a:xfrm>
            <a:off x="8887968" y="2962656"/>
            <a:ext cx="73152" cy="365760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8" name="Text 105"/>
          <p:cNvSpPr/>
          <p:nvPr/>
        </p:nvSpPr>
        <p:spPr>
          <a:xfrm>
            <a:off x="8933688" y="29626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050" dirty="0"/>
          </a:p>
        </p:txBody>
      </p:sp>
      <p:sp>
        <p:nvSpPr>
          <p:cNvPr id="109" name="Text 106"/>
          <p:cNvSpPr/>
          <p:nvPr/>
        </p:nvSpPr>
        <p:spPr>
          <a:xfrm>
            <a:off x="9015984" y="3401568"/>
            <a:ext cx="2816352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da Requisição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RH Custos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Entrevista RH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Triagem Patrimonial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Gestor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Aceite da Proposta</a:t>
            </a:r>
            <a:endParaRPr lang="en-US" sz="840" dirty="0"/>
          </a:p>
        </p:txBody>
      </p:sp>
      <p:sp>
        <p:nvSpPr>
          <p:cNvPr id="110" name="Shape 107"/>
          <p:cNvSpPr/>
          <p:nvPr/>
        </p:nvSpPr>
        <p:spPr>
          <a:xfrm>
            <a:off x="8887968" y="4791456"/>
            <a:ext cx="30358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1" name="Shape 108"/>
          <p:cNvSpPr/>
          <p:nvPr/>
        </p:nvSpPr>
        <p:spPr>
          <a:xfrm>
            <a:off x="8887968" y="47914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B23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2" name="Shape 109"/>
          <p:cNvSpPr/>
          <p:nvPr/>
        </p:nvSpPr>
        <p:spPr>
          <a:xfrm>
            <a:off x="8887968" y="4992624"/>
            <a:ext cx="3035808" cy="182880"/>
          </a:xfrm>
          <a:prstGeom prst="rect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3" name="Shape 110"/>
          <p:cNvSpPr/>
          <p:nvPr/>
        </p:nvSpPr>
        <p:spPr>
          <a:xfrm>
            <a:off x="8887968" y="4791456"/>
            <a:ext cx="73152" cy="365760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4" name="Text 111"/>
          <p:cNvSpPr/>
          <p:nvPr/>
        </p:nvSpPr>
        <p:spPr>
          <a:xfrm>
            <a:off x="8933688" y="47914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050" dirty="0"/>
          </a:p>
        </p:txBody>
      </p:sp>
      <p:sp>
        <p:nvSpPr>
          <p:cNvPr id="115" name="Text 112"/>
          <p:cNvSpPr/>
          <p:nvPr/>
        </p:nvSpPr>
        <p:spPr>
          <a:xfrm>
            <a:off x="9015984" y="5230368"/>
            <a:ext cx="281635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na Entrevista RH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Restrição na Triagem Patrimonial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pelo Gestor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Recusa da Proposta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Reabertura da vaga</a:t>
            </a:r>
            <a:endParaRPr lang="en-US" sz="840" dirty="0"/>
          </a:p>
        </p:txBody>
      </p:sp>
      <p:sp>
        <p:nvSpPr>
          <p:cNvPr id="116" name="Text 113"/>
          <p:cNvSpPr/>
          <p:nvPr/>
        </p:nvSpPr>
        <p:spPr>
          <a:xfrm>
            <a:off x="2441448" y="6455749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</a:t>
            </a:r>
            <a:endParaRPr lang="en-US" sz="850" dirty="0"/>
          </a:p>
        </p:txBody>
      </p:sp>
      <p:sp>
        <p:nvSpPr>
          <p:cNvPr id="117" name="Shape 114"/>
          <p:cNvSpPr/>
          <p:nvPr/>
        </p:nvSpPr>
        <p:spPr>
          <a:xfrm>
            <a:off x="3374136" y="6510613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8" name="Text 115"/>
          <p:cNvSpPr/>
          <p:nvPr/>
        </p:nvSpPr>
        <p:spPr>
          <a:xfrm>
            <a:off x="3657600" y="6455749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800" dirty="0"/>
          </a:p>
        </p:txBody>
      </p:sp>
      <p:sp>
        <p:nvSpPr>
          <p:cNvPr id="119" name="Shape 116"/>
          <p:cNvSpPr/>
          <p:nvPr/>
        </p:nvSpPr>
        <p:spPr>
          <a:xfrm>
            <a:off x="5157216" y="6510613"/>
            <a:ext cx="237744" cy="201168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0" name="Text 117"/>
          <p:cNvSpPr/>
          <p:nvPr/>
        </p:nvSpPr>
        <p:spPr>
          <a:xfrm>
            <a:off x="5440680" y="6455749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800" dirty="0"/>
          </a:p>
        </p:txBody>
      </p:sp>
      <p:sp>
        <p:nvSpPr>
          <p:cNvPr id="121" name="Shape 118"/>
          <p:cNvSpPr/>
          <p:nvPr/>
        </p:nvSpPr>
        <p:spPr>
          <a:xfrm>
            <a:off x="6940296" y="6510613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F3DBD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2" name="Text 119"/>
          <p:cNvSpPr/>
          <p:nvPr/>
        </p:nvSpPr>
        <p:spPr>
          <a:xfrm>
            <a:off x="7223760" y="6455749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8814816" y="6510613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DCEE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4" name="Text 121"/>
          <p:cNvSpPr/>
          <p:nvPr/>
        </p:nvSpPr>
        <p:spPr>
          <a:xfrm>
            <a:off x="9098280" y="6455749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800" dirty="0"/>
          </a:p>
        </p:txBody>
      </p:sp>
      <p:pic>
        <p:nvPicPr>
          <p:cNvPr id="126" name="Image 2" descr="/home/deborah-andrade846/PPT---RH/rh/aura_logo_trim.png">
            <a:extLst>
              <a:ext uri="{FF2B5EF4-FFF2-40B4-BE49-F238E27FC236}">
                <a16:creationId xmlns:a16="http://schemas.microsoft.com/office/drawing/2014/main" id="{C8D55CC5-FC53-2BC7-537F-E2661A66A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26931"/>
            <a:ext cx="1234440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do Processo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— 8 etapas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68680" y="3493008"/>
            <a:ext cx="10469880" cy="54864"/>
          </a:xfrm>
          <a:prstGeom prst="rect">
            <a:avLst/>
          </a:prstGeom>
          <a:solidFill>
            <a:srgbClr val="D7DCE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 flipV="1">
            <a:off x="868680" y="3017520"/>
            <a:ext cx="0" cy="182880"/>
          </a:xfrm>
          <a:prstGeom prst="line">
            <a:avLst/>
          </a:prstGeom>
          <a:noFill/>
          <a:ln w="17780">
            <a:solidFill>
              <a:srgbClr val="2234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219456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219456" y="1810512"/>
            <a:ext cx="1298448" cy="82296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274320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da vaga pelo gestor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" y="3264408"/>
            <a:ext cx="512064" cy="512064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12648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364377" y="3840480"/>
            <a:ext cx="0" cy="182880"/>
          </a:xfrm>
          <a:prstGeom prst="line">
            <a:avLst/>
          </a:prstGeom>
          <a:noFill/>
          <a:ln w="17780">
            <a:solidFill>
              <a:srgbClr val="C0402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1715153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1715153" y="4023360"/>
            <a:ext cx="1298448" cy="82296"/>
          </a:xfrm>
          <a:prstGeom prst="rect">
            <a:avLst/>
          </a:prstGeom>
          <a:solidFill>
            <a:srgbClr val="C040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1770017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na Pandapé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108345" y="3264408"/>
            <a:ext cx="512064" cy="512064"/>
          </a:xfrm>
          <a:prstGeom prst="ellipse">
            <a:avLst/>
          </a:prstGeom>
          <a:solidFill>
            <a:srgbClr val="C0402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2108345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 flipV="1">
            <a:off x="3860074" y="3017520"/>
            <a:ext cx="0" cy="182880"/>
          </a:xfrm>
          <a:prstGeom prst="line">
            <a:avLst/>
          </a:prstGeom>
          <a:noFill/>
          <a:ln w="17780">
            <a:solidFill>
              <a:srgbClr val="2234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3210850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3210850" y="1810512"/>
            <a:ext cx="1298448" cy="82296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3265714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currículos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04042" y="3264408"/>
            <a:ext cx="512064" cy="512064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3604042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355771" y="3840480"/>
            <a:ext cx="0" cy="182880"/>
          </a:xfrm>
          <a:prstGeom prst="line">
            <a:avLst/>
          </a:prstGeom>
          <a:noFill/>
          <a:ln w="17780">
            <a:solidFill>
              <a:srgbClr val="C0402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4706547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4706547" y="4023360"/>
            <a:ext cx="1298448" cy="82296"/>
          </a:xfrm>
          <a:prstGeom prst="rect">
            <a:avLst/>
          </a:prstGeom>
          <a:solidFill>
            <a:srgbClr val="C040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4761411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e gestor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099739" y="3264408"/>
            <a:ext cx="512064" cy="512064"/>
          </a:xfrm>
          <a:prstGeom prst="ellipse">
            <a:avLst/>
          </a:prstGeom>
          <a:solidFill>
            <a:srgbClr val="C0402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5099739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 flipV="1">
            <a:off x="6851469" y="3017520"/>
            <a:ext cx="0" cy="182880"/>
          </a:xfrm>
          <a:prstGeom prst="line">
            <a:avLst/>
          </a:prstGeom>
          <a:noFill/>
          <a:ln w="17780">
            <a:solidFill>
              <a:srgbClr val="2234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6202245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6202245" y="1810512"/>
            <a:ext cx="1298448" cy="82296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6257109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 validações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595437" y="3264408"/>
            <a:ext cx="512064" cy="512064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6595437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8347166" y="3840480"/>
            <a:ext cx="0" cy="182880"/>
          </a:xfrm>
          <a:prstGeom prst="line">
            <a:avLst/>
          </a:prstGeom>
          <a:noFill/>
          <a:ln w="17780">
            <a:solidFill>
              <a:srgbClr val="C0402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7697942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Shape 37"/>
          <p:cNvSpPr/>
          <p:nvPr/>
        </p:nvSpPr>
        <p:spPr>
          <a:xfrm>
            <a:off x="7697942" y="4023360"/>
            <a:ext cx="1298448" cy="82296"/>
          </a:xfrm>
          <a:prstGeom prst="rect">
            <a:avLst/>
          </a:prstGeom>
          <a:solidFill>
            <a:srgbClr val="C040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/>
          <p:nvPr/>
        </p:nvSpPr>
        <p:spPr>
          <a:xfrm>
            <a:off x="7752806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e negociação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091134" y="3264408"/>
            <a:ext cx="512064" cy="512064"/>
          </a:xfrm>
          <a:prstGeom prst="ellipse">
            <a:avLst/>
          </a:prstGeom>
          <a:solidFill>
            <a:srgbClr val="C0402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8091134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 flipV="1">
            <a:off x="9842863" y="3017520"/>
            <a:ext cx="0" cy="182880"/>
          </a:xfrm>
          <a:prstGeom prst="line">
            <a:avLst/>
          </a:prstGeom>
          <a:noFill/>
          <a:ln w="17780">
            <a:solidFill>
              <a:srgbClr val="2234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2"/>
          <p:cNvSpPr/>
          <p:nvPr/>
        </p:nvSpPr>
        <p:spPr>
          <a:xfrm>
            <a:off x="9193639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Shape 43"/>
          <p:cNvSpPr/>
          <p:nvPr/>
        </p:nvSpPr>
        <p:spPr>
          <a:xfrm>
            <a:off x="9193639" y="1810512"/>
            <a:ext cx="1298448" cy="82296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4"/>
          <p:cNvSpPr/>
          <p:nvPr/>
        </p:nvSpPr>
        <p:spPr>
          <a:xfrm>
            <a:off x="9248503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via GOV.BR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9586831" y="3264408"/>
            <a:ext cx="512064" cy="512064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9" name="Text 46"/>
          <p:cNvSpPr/>
          <p:nvPr/>
        </p:nvSpPr>
        <p:spPr>
          <a:xfrm>
            <a:off x="9586831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11338560" y="3840480"/>
            <a:ext cx="0" cy="182880"/>
          </a:xfrm>
          <a:prstGeom prst="line">
            <a:avLst/>
          </a:prstGeom>
          <a:noFill/>
          <a:ln w="17780">
            <a:solidFill>
              <a:srgbClr val="C0402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8"/>
          <p:cNvSpPr/>
          <p:nvPr/>
        </p:nvSpPr>
        <p:spPr>
          <a:xfrm>
            <a:off x="10689336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Shape 49"/>
          <p:cNvSpPr/>
          <p:nvPr/>
        </p:nvSpPr>
        <p:spPr>
          <a:xfrm>
            <a:off x="10689336" y="4023360"/>
            <a:ext cx="1298448" cy="82296"/>
          </a:xfrm>
          <a:prstGeom prst="rect">
            <a:avLst/>
          </a:prstGeom>
          <a:solidFill>
            <a:srgbClr val="C040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0"/>
          <p:cNvSpPr/>
          <p:nvPr/>
        </p:nvSpPr>
        <p:spPr>
          <a:xfrm>
            <a:off x="10744200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do colaborador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1082528" y="3264408"/>
            <a:ext cx="512064" cy="512064"/>
          </a:xfrm>
          <a:prstGeom prst="ellipse">
            <a:avLst/>
          </a:prstGeom>
          <a:solidFill>
            <a:srgbClr val="C0402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5" name="Text 52"/>
          <p:cNvSpPr/>
          <p:nvPr/>
        </p:nvSpPr>
        <p:spPr>
          <a:xfrm>
            <a:off x="11082528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pedido à integração — um fluxo estruturado, auditável e orientado a decisões.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353507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8" name="Shape 55"/>
          <p:cNvSpPr/>
          <p:nvPr/>
        </p:nvSpPr>
        <p:spPr>
          <a:xfrm>
            <a:off x="353507" y="5806440"/>
            <a:ext cx="91440" cy="749808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6"/>
          <p:cNvSpPr/>
          <p:nvPr/>
        </p:nvSpPr>
        <p:spPr>
          <a:xfrm>
            <a:off x="518099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60" name="Text 57"/>
          <p:cNvSpPr/>
          <p:nvPr/>
        </p:nvSpPr>
        <p:spPr>
          <a:xfrm>
            <a:off x="1286195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principais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3313054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Shape 59"/>
          <p:cNvSpPr/>
          <p:nvPr/>
        </p:nvSpPr>
        <p:spPr>
          <a:xfrm>
            <a:off x="3313054" y="5806440"/>
            <a:ext cx="91440" cy="74980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0"/>
          <p:cNvSpPr/>
          <p:nvPr/>
        </p:nvSpPr>
        <p:spPr>
          <a:xfrm>
            <a:off x="3477646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64" name="Text 61"/>
          <p:cNvSpPr/>
          <p:nvPr/>
        </p:nvSpPr>
        <p:spPr>
          <a:xfrm>
            <a:off x="4245742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6272601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6" name="Shape 63"/>
          <p:cNvSpPr/>
          <p:nvPr/>
        </p:nvSpPr>
        <p:spPr>
          <a:xfrm>
            <a:off x="6272601" y="5806440"/>
            <a:ext cx="91440" cy="749808"/>
          </a:xfrm>
          <a:prstGeom prst="rect">
            <a:avLst/>
          </a:prstGeom>
          <a:solidFill>
            <a:srgbClr val="1E8A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64"/>
          <p:cNvSpPr/>
          <p:nvPr/>
        </p:nvSpPr>
        <p:spPr>
          <a:xfrm>
            <a:off x="6437193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68" name="Text 65"/>
          <p:cNvSpPr/>
          <p:nvPr/>
        </p:nvSpPr>
        <p:spPr>
          <a:xfrm>
            <a:off x="7205289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integrados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9232148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0" name="Shape 67"/>
          <p:cNvSpPr/>
          <p:nvPr/>
        </p:nvSpPr>
        <p:spPr>
          <a:xfrm>
            <a:off x="9232148" y="5806440"/>
            <a:ext cx="91440" cy="749808"/>
          </a:xfrm>
          <a:prstGeom prst="rect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8"/>
          <p:cNvSpPr/>
          <p:nvPr/>
        </p:nvSpPr>
        <p:spPr>
          <a:xfrm>
            <a:off x="9396740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72" name="Text 69"/>
          <p:cNvSpPr/>
          <p:nvPr/>
        </p:nvSpPr>
        <p:spPr>
          <a:xfrm>
            <a:off x="10164836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100" dirty="0"/>
          </a:p>
        </p:txBody>
      </p:sp>
      <p:pic>
        <p:nvPicPr>
          <p:cNvPr id="74" name="Image 2" descr="/home/deborah-andrade846/PPT---RH/rh/aura_logo_trim.png">
            <a:extLst>
              <a:ext uri="{FF2B5EF4-FFF2-40B4-BE49-F238E27FC236}">
                <a16:creationId xmlns:a16="http://schemas.microsoft.com/office/drawing/2014/main" id="{AAA856CF-228D-772C-C9E5-7677EA8C8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3439" y="868680"/>
            <a:ext cx="1234440" cy="72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382</Words>
  <Application>Microsoft Office PowerPoint</Application>
  <PresentationFormat>Widescreen</PresentationFormat>
  <Paragraphs>126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do Processo de Recrutamento e Seleção</dc:title>
  <dc:subject>PptxGenJS Presentation</dc:subject>
  <dc:creator>Déborah Giovana de Andrade Gonçalves</dc:creator>
  <cp:lastModifiedBy>Deborah Giovana de Andrade Gonçalves</cp:lastModifiedBy>
  <cp:revision>4</cp:revision>
  <dcterms:created xsi:type="dcterms:W3CDTF">2026-07-02T12:09:14Z</dcterms:created>
  <dcterms:modified xsi:type="dcterms:W3CDTF">2026-07-02T12:30:54Z</dcterms:modified>
</cp:coreProperties>
</file>